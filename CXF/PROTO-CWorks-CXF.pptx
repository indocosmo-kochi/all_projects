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ommentAuthors.xml" ContentType="application/vnd.openxmlformats-officedocument.presentationml.commentAuthors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265" r:id="rId2"/>
    <p:sldId id="274" r:id="rId3"/>
    <p:sldId id="302" r:id="rId4"/>
    <p:sldId id="289" r:id="rId5"/>
    <p:sldId id="303" r:id="rId6"/>
    <p:sldId id="30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pos="3840" userDrawn="1">
          <p15:clr>
            <a:srgbClr val="A4A3A4"/>
          </p15:clr>
        </p15:guide>
        <p15:guide id="2" pos="6816" userDrawn="1">
          <p15:clr>
            <a:srgbClr val="A4A3A4"/>
          </p15:clr>
        </p15:guide>
        <p15:guide id="3" pos="816" userDrawn="1">
          <p15:clr>
            <a:srgbClr val="A4A3A4"/>
          </p15:clr>
        </p15:guide>
        <p15:guide id="4" orient="horz" pos="2160">
          <p15:clr>
            <a:srgbClr val="A4A3A4"/>
          </p15:clr>
        </p15:guide>
      </p15:sldGuideLst>
    </p:ext>
    <p:ext uri="{2D200454-40CA-4A62-9FC3-DE9A4176ACB9}">
      <p15:notesGuideLst xmlns=""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8" clrIdx="1"/>
  <p:cmAuthor id="3" name="Mathew K S." initials="MKS" lastIdx="6" clrIdx="2">
    <p:extLst>
      <p:ext uri="{19B8F6BF-5375-455C-9EA6-DF929625EA0E}">
        <p15:presenceInfo xmlns="" xmlns:p15="http://schemas.microsoft.com/office/powerpoint/2012/main" userId="S-1-5-21-4221838657-1599251450-101458134-37447" providerId="AD"/>
      </p:ext>
    </p:extLst>
  </p:cmAuthor>
  <p:cmAuthor id="4" name="MASTER" initials="M" lastIdx="2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93D81CF-94F2-401A-BA57-92F5A7B2D0C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20000" autoAdjust="0"/>
    <p:restoredTop sz="91336" autoAdjust="0"/>
  </p:normalViewPr>
  <p:slideViewPr>
    <p:cSldViewPr>
      <p:cViewPr varScale="1">
        <p:scale>
          <a:sx n="83" d="100"/>
          <a:sy n="83" d="100"/>
        </p:scale>
        <p:origin x="-576" y="-90"/>
      </p:cViewPr>
      <p:guideLst>
        <p:guide orient="horz" pos="2160"/>
        <p:guide pos="3840"/>
        <p:guide pos="6816"/>
        <p:guide pos="816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95" d="100"/>
          <a:sy n="95" d="100"/>
        </p:scale>
        <p:origin x="3576" y="84"/>
      </p:cViewPr>
      <p:guideLst/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EA5F0D-C1DC-412F-A146-DDB3A74B588F}" type="datetimeFigureOut">
              <a:rPr lang="en-US"/>
              <a:pPr/>
              <a:t>5/15/2018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AE14B8-3CC9-472D-9BC5-A84D80684DE2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="" xmlns:p14="http://schemas.microsoft.com/office/powerpoint/2010/main" val="257782754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CDE508-72C8-4AB5-AA9C-1584D31690E0}" type="datetimeFigureOut">
              <a:rPr lang="en-US"/>
              <a:pPr/>
              <a:t>5/15/2018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dirty="0"/>
              <a:t>Click to edit Master text styles</a:t>
            </a:r>
          </a:p>
          <a:p>
            <a:pPr lvl="1"/>
            <a:r>
              <a:rPr dirty="0"/>
              <a:t>Second level</a:t>
            </a:r>
          </a:p>
          <a:p>
            <a:pPr lvl="2"/>
            <a:r>
              <a:rPr dirty="0"/>
              <a:t>Third level</a:t>
            </a:r>
          </a:p>
          <a:p>
            <a:pPr lvl="3"/>
            <a:r>
              <a:rPr dirty="0"/>
              <a:t>Fourth level</a:t>
            </a:r>
          </a:p>
          <a:p>
            <a:pPr lvl="4"/>
            <a:r>
              <a:rPr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B667E1-E601-4AAF-B95C-B25720D70A60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="" xmlns:p14="http://schemas.microsoft.com/office/powerpoint/2010/main" val="7111367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en-US" sz="1200" b="0" i="1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B667E1-E601-4AAF-B95C-B25720D70A60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9093101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May require more than one slide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B667E1-E601-4AAF-B95C-B25720D70A60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42658260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May require more than one slide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B667E1-E601-4AAF-B95C-B25720D70A60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42658260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ltGray">
          <a:xfrm>
            <a:off x="-2" y="4754880"/>
            <a:ext cx="12192002" cy="2103120"/>
          </a:xfrm>
          <a:prstGeom prst="rect">
            <a:avLst/>
          </a:prstGeom>
          <a:gradFill flip="none" rotWithShape="1">
            <a:gsLst>
              <a:gs pos="100000">
                <a:schemeClr val="tx2">
                  <a:lumMod val="75000"/>
                </a:schemeClr>
              </a:gs>
              <a:gs pos="0">
                <a:schemeClr val="tx2"/>
              </a:gs>
            </a:gsLst>
            <a:path path="circle">
              <a:fillToRect l="50000" t="50000" r="50000" b="50000"/>
            </a:path>
            <a:tileRect/>
          </a:gra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Euphemia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 bwMode="white">
          <a:xfrm>
            <a:off x="-127" y="4724400"/>
            <a:ext cx="12188826" cy="76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3999" y="4800600"/>
            <a:ext cx="9144002" cy="1143000"/>
          </a:xfrm>
        </p:spPr>
        <p:txBody>
          <a:bodyPr anchor="b">
            <a:normAutofit/>
          </a:bodyPr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2413" y="5943600"/>
            <a:ext cx="9144002" cy="762000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2000" cap="none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pic>
        <p:nvPicPr>
          <p:cNvPr id="1026" name="Picture 2" descr="D:\Users\Mohandas\AppData\Local\Microsoft\Windows\Temporary Internet Files\Content.Outlook\O8ZW7CZ1\company_logo (2).pn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5029200" y="1066800"/>
            <a:ext cx="2095500" cy="260032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="" xmlns:p14="http://schemas.microsoft.com/office/powerpoint/2010/main" val="3382882087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1120" y="685800"/>
            <a:ext cx="9509760" cy="1014984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6pPr>
              <a:defRPr/>
            </a:lvl6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Indocosmo Systems Pvt. Ltd. All Rights Reserved</a:t>
            </a:r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D9AD5-F248-4919-864A-CFD76CC027D6}" type="slidenum">
              <a:rPr/>
              <a:pPr/>
              <a:t>‹#›</a:t>
            </a:fld>
            <a:endParaRPr dirty="0"/>
          </a:p>
        </p:txBody>
      </p:sp>
      <p:pic>
        <p:nvPicPr>
          <p:cNvPr id="7" name="Picture 2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9067800" y="0"/>
            <a:ext cx="2105025" cy="561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8" name="Straight Connector 7"/>
          <p:cNvCxnSpPr/>
          <p:nvPr userDrawn="1"/>
        </p:nvCxnSpPr>
        <p:spPr>
          <a:xfrm>
            <a:off x="1371600" y="609600"/>
            <a:ext cx="9496425" cy="10885"/>
          </a:xfrm>
          <a:prstGeom prst="line">
            <a:avLst/>
          </a:prstGeom>
          <a:ln w="1270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4159342245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>
            <a:off x="0" y="0"/>
            <a:ext cx="12188826" cy="457200"/>
          </a:xfrm>
          <a:prstGeom prst="rect">
            <a:avLst/>
          </a:prstGeom>
          <a:gradFill flip="none" rotWithShape="1">
            <a:gsLst>
              <a:gs pos="100000">
                <a:schemeClr val="tx2">
                  <a:lumMod val="75000"/>
                </a:schemeClr>
              </a:gs>
              <a:gs pos="0">
                <a:schemeClr val="tx2"/>
              </a:gs>
            </a:gsLst>
            <a:path path="circle">
              <a:fillToRect l="50000" t="50000" r="50000" b="50000"/>
            </a:path>
            <a:tileRect/>
          </a:gra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b="0" i="0" u="none" strike="noStrike" kern="0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Euphemia"/>
            </a:endParaRPr>
          </a:p>
        </p:txBody>
      </p:sp>
      <p:sp>
        <p:nvSpPr>
          <p:cNvPr id="8" name="Rectangle 7"/>
          <p:cNvSpPr/>
          <p:nvPr/>
        </p:nvSpPr>
        <p:spPr bwMode="white">
          <a:xfrm>
            <a:off x="-1" y="411480"/>
            <a:ext cx="12188826" cy="4572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1143000"/>
            <a:ext cx="9144000" cy="2667000"/>
          </a:xfrm>
        </p:spPr>
        <p:txBody>
          <a:bodyPr anchor="b">
            <a:normAutofit/>
          </a:bodyPr>
          <a:lstStyle>
            <a:lvl1pPr algn="ctr">
              <a:defRPr sz="5200" b="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4000" y="3810000"/>
            <a:ext cx="9144000" cy="1143000"/>
          </a:xfrm>
        </p:spPr>
        <p:txBody>
          <a:bodyPr anchor="t">
            <a:normAutofit/>
          </a:bodyPr>
          <a:lstStyle>
            <a:lvl1pPr marL="0" indent="0" algn="ctr">
              <a:spcBef>
                <a:spcPts val="0"/>
              </a:spcBef>
              <a:buNone/>
              <a:defRPr sz="2400" cap="none" baseline="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Indocosmo Systems Pvt. Ltd. All Rights Reserved</a:t>
            </a: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D9AD5-F248-4919-864A-CFD76CC027D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="" xmlns:p14="http://schemas.microsoft.com/office/powerpoint/2010/main" val="271584378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=""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Alternate Section Header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1143000"/>
            <a:ext cx="9144000" cy="2667000"/>
          </a:xfrm>
        </p:spPr>
        <p:txBody>
          <a:bodyPr anchor="b">
            <a:normAutofit/>
          </a:bodyPr>
          <a:lstStyle>
            <a:lvl1pPr algn="ctr">
              <a:defRPr sz="5200" b="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3" y="3810000"/>
            <a:ext cx="9144000" cy="1143000"/>
          </a:xfrm>
        </p:spPr>
        <p:txBody>
          <a:bodyPr anchor="t">
            <a:normAutofit/>
          </a:bodyPr>
          <a:lstStyle>
            <a:lvl1pPr marL="0" indent="0" algn="ctr">
              <a:spcBef>
                <a:spcPts val="0"/>
              </a:spcBef>
              <a:buNone/>
              <a:defRPr sz="2400" cap="none" baseline="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Indocosmo Systems Pvt. Ltd. All Rights Reserved</a:t>
            </a: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A8D9AD5-F248-4919-864A-CFD76CC027D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="" xmlns:p14="http://schemas.microsoft.com/office/powerpoint/2010/main" val="28043280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=""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41120" y="1901952"/>
            <a:ext cx="4572000" cy="412394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78880" y="1901952"/>
            <a:ext cx="4572000" cy="412394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Indocosmo Systems Pvt. Ltd. All Rights Reserved</a:t>
            </a: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CE5F2-81AA-4605-B028-6FBA391056AF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="" xmlns:p14="http://schemas.microsoft.com/office/powerpoint/2010/main" val="3117078411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1120" y="466344"/>
            <a:ext cx="9509760" cy="123444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41120" y="1837464"/>
            <a:ext cx="4572000" cy="766588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200" b="0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41120" y="2740732"/>
            <a:ext cx="4572000" cy="3288847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78880" y="1837464"/>
            <a:ext cx="4572000" cy="766588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200" b="0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78880" y="2740732"/>
            <a:ext cx="4572000" cy="3288847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Indocosmo Systems Pvt. Ltd. All Rights Reserved</a:t>
            </a:r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D9AD5-F248-4919-864A-CFD76CC027D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="" xmlns:p14="http://schemas.microsoft.com/office/powerpoint/2010/main" val="4057080828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Indocosmo Systems Pvt. Ltd. All Rights Reserved</a:t>
            </a:r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D9AD5-F248-4919-864A-CFD76CC027D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="" xmlns:p14="http://schemas.microsoft.com/office/powerpoint/2010/main" val="842011030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Indocosmo Systems Pvt. Ltd. All Rights Reserved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A8D9AD5-F248-4919-864A-CFD76CC027D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="" xmlns:p14="http://schemas.microsoft.com/office/powerpoint/2010/main" val="2559003960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0412" y="2362200"/>
            <a:ext cx="3200400" cy="1990725"/>
          </a:xfrm>
        </p:spPr>
        <p:txBody>
          <a:bodyPr anchor="b">
            <a:normAutofit/>
          </a:bodyPr>
          <a:lstStyle>
            <a:lvl1pPr>
              <a:defRPr sz="3400" b="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0412" y="4367308"/>
            <a:ext cx="3200400" cy="1622012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94212" y="685800"/>
            <a:ext cx="7239001" cy="54864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Indocosmo Systems Pvt. Ltd. All Rights Reserved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BB286-16C3-4783-AA2A-B9EBBA081DDE}" type="datetime1">
              <a:rPr lang="en-US" smtClean="0"/>
              <a:pPr/>
              <a:t>5/15/2018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D9AD5-F248-4919-864A-CFD76CC027D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="" xmlns:p14="http://schemas.microsoft.com/office/powerpoint/2010/main" val="1435946658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Alternate 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 bwMode="ltGray">
          <a:xfrm>
            <a:off x="0" y="0"/>
            <a:ext cx="4873752" cy="6858000"/>
          </a:xfrm>
          <a:prstGeom prst="rect">
            <a:avLst/>
          </a:prstGeom>
          <a:gradFill flip="none" rotWithShape="1">
            <a:gsLst>
              <a:gs pos="100000">
                <a:schemeClr val="tx2">
                  <a:lumMod val="75000"/>
                </a:schemeClr>
              </a:gs>
              <a:gs pos="0">
                <a:schemeClr val="tx2"/>
              </a:gs>
            </a:gsLst>
            <a:path path="circle">
              <a:fillToRect l="50000" t="50000" r="50000" b="50000"/>
            </a:path>
            <a:tileRect/>
          </a:gra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Euphemia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0412" y="2362200"/>
            <a:ext cx="3200400" cy="1990725"/>
          </a:xfrm>
        </p:spPr>
        <p:txBody>
          <a:bodyPr anchor="b">
            <a:normAutofit/>
          </a:bodyPr>
          <a:lstStyle>
            <a:lvl1pPr>
              <a:defRPr sz="3400" b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0412" y="4367308"/>
            <a:ext cx="3200400" cy="1622012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62892" y="685800"/>
            <a:ext cx="6370320" cy="54864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Indocosmo Systems Pvt. Ltd. All Rights Reserved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A3DC464-E8E0-435A-8721-5808739BC53E}" type="datetime1">
              <a:rPr lang="en-US" smtClean="0"/>
              <a:pPr/>
              <a:t>5/15/2018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A8D9AD5-F248-4919-864A-CFD76CC027D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="" xmlns:p14="http://schemas.microsoft.com/office/powerpoint/2010/main" val="376930780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 bwMode="ltGray">
          <a:xfrm>
            <a:off x="7315200" y="0"/>
            <a:ext cx="4873752" cy="6858000"/>
          </a:xfrm>
          <a:prstGeom prst="rect">
            <a:avLst/>
          </a:prstGeom>
          <a:gradFill flip="none" rotWithShape="1">
            <a:gsLst>
              <a:gs pos="100000">
                <a:schemeClr val="tx2">
                  <a:lumMod val="75000"/>
                </a:schemeClr>
              </a:gs>
              <a:gs pos="0">
                <a:schemeClr val="tx2"/>
              </a:gs>
            </a:gsLst>
            <a:path path="circle">
              <a:fillToRect l="50000" t="50000" r="50000" b="50000"/>
            </a:path>
            <a:tileRect/>
          </a:gra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Euphemia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23214" y="2362200"/>
            <a:ext cx="3200400" cy="1993392"/>
          </a:xfrm>
        </p:spPr>
        <p:txBody>
          <a:bodyPr anchor="b">
            <a:normAutofit/>
          </a:bodyPr>
          <a:lstStyle>
            <a:lvl1pPr>
              <a:defRPr sz="3400" b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0" y="0"/>
            <a:ext cx="7315200" cy="6858000"/>
          </a:xfrm>
          <a:solidFill>
            <a:schemeClr val="bg2">
              <a:lumMod val="90000"/>
            </a:schemeClr>
          </a:solidFill>
        </p:spPr>
        <p:txBody>
          <a:bodyPr/>
          <a:lstStyle>
            <a:lvl1pPr marL="0" indent="0" algn="ctr">
              <a:buNone/>
              <a:defRPr sz="3200">
                <a:solidFill>
                  <a:schemeClr val="tx2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23214" y="4355592"/>
            <a:ext cx="3200400" cy="1644614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Indocosmo Systems Pvt. Ltd. All Rights Reserved</a:t>
            </a: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D9AD5-F248-4919-864A-CFD76CC027D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="" xmlns:p14="http://schemas.microsoft.com/office/powerpoint/2010/main" val="1371734621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Indocosmo Systems Pvt. Ltd. All Rights Reserved</a:t>
            </a: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D9AD5-F248-4919-864A-CFD76CC027D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="" xmlns:p14="http://schemas.microsoft.com/office/powerpoint/2010/main" val="3338572201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274638"/>
            <a:ext cx="2628900" cy="589756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274638"/>
            <a:ext cx="7734300" cy="589756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Indocosmo Systems Pvt. Ltd. All Rights Reserved</a:t>
            </a: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D9AD5-F248-4919-864A-CFD76CC027D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="" xmlns:p14="http://schemas.microsoft.com/office/powerpoint/2010/main" val="2751558224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>
            <a:off x="1587" y="6553200"/>
            <a:ext cx="12188826" cy="304800"/>
          </a:xfrm>
          <a:prstGeom prst="rect">
            <a:avLst/>
          </a:prstGeom>
          <a:gradFill flip="none" rotWithShape="1">
            <a:gsLst>
              <a:gs pos="100000">
                <a:schemeClr val="tx2">
                  <a:lumMod val="75000"/>
                </a:schemeClr>
              </a:gs>
              <a:gs pos="0">
                <a:schemeClr val="tx2"/>
              </a:gs>
            </a:gsLst>
            <a:path path="circle">
              <a:fillToRect l="50000" t="50000" r="50000" b="50000"/>
            </a:path>
            <a:tileRect/>
          </a:gra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b="0" i="0" u="none" strike="noStrike" kern="0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Euphemia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41120" y="467360"/>
            <a:ext cx="9509760" cy="123342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41120" y="1901952"/>
            <a:ext cx="9509760" cy="41276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41120" y="6601968"/>
            <a:ext cx="7159752" cy="2377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cap="all" baseline="0">
                <a:solidFill>
                  <a:schemeClr val="bg2"/>
                </a:solidFill>
              </a:defRPr>
            </a:lvl1pPr>
          </a:lstStyle>
          <a:p>
            <a:r>
              <a:rPr lang="en-US" smtClean="0"/>
              <a:t>Indocosmo Systems Pvt. Ltd. All Rights Reserved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75776" y="6601968"/>
            <a:ext cx="960120" cy="2377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2"/>
                </a:solidFill>
              </a:defRPr>
            </a:lvl1pPr>
          </a:lstStyle>
          <a:p>
            <a:fld id="{A58171AB-CE22-4F77-A6B5-BB13C3E53249}" type="datetime1">
              <a:rPr lang="en-US" smtClean="0"/>
              <a:pPr/>
              <a:t>5/15/2018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10800" y="6601968"/>
            <a:ext cx="640080" cy="2377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2"/>
                </a:solidFill>
              </a:defRPr>
            </a:lvl1pPr>
          </a:lstStyle>
          <a:p>
            <a:fld id="{CA8D9AD5-F248-4919-864A-CFD76CC027D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25637609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2" r:id="rId4"/>
    <p:sldLayoutId id="2147483661" r:id="rId5"/>
    <p:sldLayoutId id="2147483653" r:id="rId6"/>
    <p:sldLayoutId id="2147483654" r:id="rId7"/>
    <p:sldLayoutId id="2147483655" r:id="rId8"/>
    <p:sldLayoutId id="2147483656" r:id="rId9"/>
    <p:sldLayoutId id="2147483663" r:id="rId10"/>
    <p:sldLayoutId id="2147483657" r:id="rId11"/>
    <p:sldLayoutId id="2147483658" r:id="rId12"/>
    <p:sldLayoutId id="2147483659" r:id="rId13"/>
  </p:sldLayoutIdLst>
  <mc:AlternateContent xmlns:mc="http://schemas.openxmlformats.org/markup-compatibility/2006">
    <mc:Choice xmlns=""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 dt="0"/>
  <p:txStyles>
    <p:titleStyle>
      <a:lvl1pPr marL="0" indent="0" algn="l" defTabSz="914400" rtl="0" eaLnBrk="1" latinLnBrk="0" hangingPunct="1">
        <a:lnSpc>
          <a:spcPct val="90000"/>
        </a:lnSpc>
        <a:spcBef>
          <a:spcPct val="0"/>
        </a:spcBef>
        <a:buFont typeface="Arial" pitchFamily="34" charset="0"/>
        <a:buNone/>
        <a:defRPr sz="3400" kern="1200">
          <a:solidFill>
            <a:schemeClr val="tx2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tx2"/>
        </a:buClr>
        <a:buSzPct val="80000"/>
        <a:buFont typeface="Wingdings" pitchFamily="2" charset="2"/>
        <a:buChar char="§"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59436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tx2"/>
        </a:buClr>
        <a:buSzPct val="80000"/>
        <a:buFont typeface="Wingdings" pitchFamily="2" charset="2"/>
        <a:buChar char="§"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tx2"/>
        </a:buClr>
        <a:buSzPct val="80000"/>
        <a:buFont typeface="Wingdings" pitchFamily="2" charset="2"/>
        <a:buChar char="§"/>
        <a:defRPr sz="1600" kern="1200">
          <a:solidFill>
            <a:schemeClr val="tx2"/>
          </a:solidFill>
          <a:latin typeface="+mn-lt"/>
          <a:ea typeface="+mn-ea"/>
          <a:cs typeface="+mn-cs"/>
        </a:defRPr>
      </a:lvl3pPr>
      <a:lvl4pPr marL="123444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tx2"/>
        </a:buClr>
        <a:buSzPct val="80000"/>
        <a:buFont typeface="Wingdings" pitchFamily="2" charset="2"/>
        <a:buChar char="§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tx2"/>
        </a:buClr>
        <a:buSzPct val="80000"/>
        <a:buFont typeface="Wingdings" pitchFamily="2" charset="2"/>
        <a:buChar char="§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1874520" indent="-228600" algn="l" defTabSz="914400" rtl="0" eaLnBrk="1" latinLnBrk="0" hangingPunct="1">
        <a:lnSpc>
          <a:spcPct val="90000"/>
        </a:lnSpc>
        <a:spcBef>
          <a:spcPts val="800"/>
        </a:spcBef>
        <a:buSzPct val="80000"/>
        <a:buFont typeface="Wingdings" pitchFamily="2" charset="2"/>
        <a:buChar char="§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94560" indent="-228600" algn="l" defTabSz="914400" rtl="0" eaLnBrk="1" latinLnBrk="0" hangingPunct="1">
        <a:lnSpc>
          <a:spcPct val="90000"/>
        </a:lnSpc>
        <a:spcBef>
          <a:spcPts val="800"/>
        </a:spcBef>
        <a:buSzPct val="80000"/>
        <a:buFont typeface="Wingdings" pitchFamily="2" charset="2"/>
        <a:buChar char="§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514600" indent="-228600" algn="l" defTabSz="914400" rtl="0" eaLnBrk="1" latinLnBrk="0" hangingPunct="1">
        <a:lnSpc>
          <a:spcPct val="90000"/>
        </a:lnSpc>
        <a:spcBef>
          <a:spcPts val="800"/>
        </a:spcBef>
        <a:buSzPct val="80000"/>
        <a:buFont typeface="Wingdings" pitchFamily="2" charset="2"/>
        <a:buChar char="§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2834640" indent="-228600" algn="l" defTabSz="914400" rtl="0" eaLnBrk="1" latinLnBrk="0" hangingPunct="1">
        <a:lnSpc>
          <a:spcPct val="90000"/>
        </a:lnSpc>
        <a:spcBef>
          <a:spcPts val="800"/>
        </a:spcBef>
        <a:buSzPct val="80000"/>
        <a:buFont typeface="Wingdings" pitchFamily="2" charset="2"/>
        <a:buChar char="§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="" xmlns:p15="http://schemas.microsoft.com/office/powerpoint/2012/main">
        <p15:guide id="1" orient="horz" pos="2360">
          <p15:clr>
            <a:srgbClr val="F26B43"/>
          </p15:clr>
        </p15:guide>
        <p15:guide id="2" pos="40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Prototype Presentation</a:t>
            </a:r>
            <a:endParaRPr lang="en-US" dirty="0"/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Presented By: Suresh S</a:t>
            </a: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2798809327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CWorks CXF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dirty="0" smtClean="0"/>
              <a:t>A  data exchange format between AutoCAD system and CWorks CAD system.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D9AD5-F248-4919-864A-CFD76CC027D6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Indocosmo Systems Pvt. Ltd. All Rights Reserved</a:t>
            </a:r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332817386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Application Overview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endParaRPr lang="en-US" dirty="0" smtClean="0"/>
          </a:p>
          <a:p>
            <a:r>
              <a:rPr lang="en-US" dirty="0" smtClean="0"/>
              <a:t>A console application for CAD file processing.</a:t>
            </a:r>
          </a:p>
          <a:p>
            <a:r>
              <a:rPr lang="en-US" dirty="0" smtClean="0"/>
              <a:t>Application will convert AutoCAD files from various versions to </a:t>
            </a:r>
            <a:r>
              <a:rPr lang="en-US" dirty="0" smtClean="0"/>
              <a:t>TXF </a:t>
            </a:r>
            <a:r>
              <a:rPr lang="en-US" dirty="0" smtClean="0"/>
              <a:t>&amp; CXF files.</a:t>
            </a:r>
          </a:p>
          <a:p>
            <a:r>
              <a:rPr lang="en-US" dirty="0" smtClean="0"/>
              <a:t>Application will support reverse conversion from CXF files to AutoCAD files.</a:t>
            </a:r>
          </a:p>
          <a:p>
            <a:r>
              <a:rPr lang="en-US" dirty="0" smtClean="0"/>
              <a:t>CXF output file generated from our proposed system will be used as the input of CWorks CAD System</a:t>
            </a:r>
            <a:r>
              <a:rPr lang="en-US" dirty="0" smtClean="0"/>
              <a:t>.</a:t>
            </a:r>
          </a:p>
          <a:p>
            <a:r>
              <a:rPr lang="en-US" dirty="0" smtClean="0"/>
              <a:t>TXF file generated from the system will be used as reference for other properties and objects which are not in CXF format, which is required for reverse conversion process.</a:t>
            </a:r>
            <a:endParaRPr lang="en-US" dirty="0" smtClean="0"/>
          </a:p>
          <a:p>
            <a:r>
              <a:rPr lang="en-US" dirty="0" smtClean="0"/>
              <a:t>CWorks CAD system will process this neutral CXF format to create </a:t>
            </a:r>
            <a:r>
              <a:rPr lang="en-US" dirty="0" smtClean="0">
                <a:solidFill>
                  <a:schemeClr val="tx1"/>
                </a:solidFill>
              </a:rPr>
              <a:t>scaffolding</a:t>
            </a:r>
            <a:r>
              <a:rPr lang="en-US" dirty="0" smtClean="0"/>
              <a:t> drawings.</a:t>
            </a:r>
          </a:p>
          <a:p>
            <a:r>
              <a:rPr lang="en-US" dirty="0" smtClean="0"/>
              <a:t>Reverse conversion from CXF files to AutoCAD files should be version specific.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Indocosmo Systems Pvt. Ltd. All Rights Reserved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D9AD5-F248-4919-864A-CFD76CC027D6}" type="slidenum">
              <a:rPr lang="en-US" smtClean="0"/>
              <a:pPr/>
              <a:t>3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Process Flow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D9AD5-F248-4919-864A-CFD76CC027D6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Indocosmo Systems Pvt. Ltd. All Rights Reserved</a:t>
            </a:r>
            <a:endParaRPr lang="en-US" dirty="0"/>
          </a:p>
        </p:txBody>
      </p:sp>
      <p:pic>
        <p:nvPicPr>
          <p:cNvPr id="53" name="Picture 52"/>
          <p:cNvPicPr/>
          <p:nvPr/>
        </p:nvPicPr>
        <p:blipFill>
          <a:blip r:embed="rId3">
            <a:extLst>
              <a:ext uri="{28A0092B-C50C-407E-A947-70E740481C1C}">
                <a14:useLocalDpi xmlns:ve="http://schemas.openxmlformats.org/markup-compatibility/2006" xmlns:m="http://schemas.openxmlformats.org/officeDocument/2006/math" xmlns:wp="http://schemas.openxmlformats.org/drawingml/2006/wordprocessingDrawing" xmlns:wne="http://schemas.microsoft.com/office/word/2006/wordml" xmlns="" xmlns:wpc="http://schemas.microsoft.com/office/word/2010/wordprocessingCanvas" xmlns:mc="http://schemas.openxmlformats.org/markup-compatibility/2006" xmlns:o="urn:schemas-microsoft-com:office:office" xmlns:v="urn:schemas-microsoft-com:vml" xmlns:wp14="http://schemas.microsoft.com/office/word/2010/wordprocessingDrawing" xmlns:w10="urn:schemas-microsoft-com:office:word" xmlns:w="http://schemas.openxmlformats.org/wordprocessingml/2006/main" xmlns:w14="http://schemas.microsoft.com/office/word/2010/wordml" xmlns:w15="http://schemas.microsoft.com/office/word/2012/wordml" xmlns:wpg="http://schemas.microsoft.com/office/word/2010/wordprocessingGroup" xmlns:wpi="http://schemas.microsoft.com/office/word/2010/wordprocessingInk" xmlns:wps="http://schemas.microsoft.com/office/word/2010/wordprocessingShape" xmlns:a14="http://schemas.microsoft.com/office/drawing/2010/main" xmlns:pic="http://schemas.openxmlformats.org/drawingml/2006/picture" xmlns:lc="http://schemas.openxmlformats.org/drawingml/2006/lockedCanvas" val="0"/>
              </a:ext>
            </a:extLst>
          </a:blip>
          <a:srcRect/>
          <a:stretch>
            <a:fillRect/>
          </a:stretch>
        </p:blipFill>
        <p:spPr bwMode="auto">
          <a:xfrm>
            <a:off x="1447800" y="1981200"/>
            <a:ext cx="9220200" cy="35052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4158449" y="4495800"/>
            <a:ext cx="8707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&amp;</a:t>
            </a:r>
          </a:p>
          <a:p>
            <a:pPr algn="ctr"/>
            <a:r>
              <a:rPr lang="en-US" sz="12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TXF Files</a:t>
            </a:r>
            <a:endParaRPr lang="en-US" sz="1200" b="1" dirty="0">
              <a:solidFill>
                <a:srgbClr val="C00000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576639622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Process Flow - Description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CAD Conversion Process will convert the drawing files to CXF format and vice versa.</a:t>
            </a:r>
          </a:p>
          <a:p>
            <a:r>
              <a:rPr lang="en-US" dirty="0" smtClean="0"/>
              <a:t>Input path and Output path will be specified as parameters.</a:t>
            </a:r>
          </a:p>
          <a:p>
            <a:r>
              <a:rPr lang="en-US" dirty="0" smtClean="0"/>
              <a:t>System will support following conversions:</a:t>
            </a:r>
          </a:p>
          <a:p>
            <a:pPr lvl="1"/>
            <a:r>
              <a:rPr lang="en-US" dirty="0" smtClean="0"/>
              <a:t>DWG to </a:t>
            </a:r>
            <a:r>
              <a:rPr lang="en-US" dirty="0" smtClean="0"/>
              <a:t>TXF </a:t>
            </a:r>
            <a:r>
              <a:rPr lang="en-US" dirty="0" smtClean="0"/>
              <a:t>&amp; CXF</a:t>
            </a:r>
          </a:p>
          <a:p>
            <a:pPr lvl="1"/>
            <a:r>
              <a:rPr lang="en-US" dirty="0" smtClean="0"/>
              <a:t>DXF to </a:t>
            </a:r>
            <a:r>
              <a:rPr lang="en-US" dirty="0" smtClean="0"/>
              <a:t>TXF </a:t>
            </a:r>
            <a:r>
              <a:rPr lang="en-US" dirty="0" smtClean="0"/>
              <a:t>&amp; CXF</a:t>
            </a:r>
          </a:p>
          <a:p>
            <a:pPr lvl="1"/>
            <a:r>
              <a:rPr lang="en-US" dirty="0" smtClean="0"/>
              <a:t>CXF to </a:t>
            </a:r>
            <a:r>
              <a:rPr lang="en-US" dirty="0" smtClean="0"/>
              <a:t>DWG with reference of TXF file.</a:t>
            </a:r>
            <a:endParaRPr lang="en-US" dirty="0" smtClean="0"/>
          </a:p>
          <a:p>
            <a:pPr lvl="1"/>
            <a:r>
              <a:rPr lang="en-US" dirty="0" smtClean="0"/>
              <a:t>CXF to </a:t>
            </a:r>
            <a:r>
              <a:rPr lang="en-US" dirty="0" smtClean="0"/>
              <a:t>DXF with reference of TXF file.</a:t>
            </a:r>
            <a:endParaRPr lang="en-US" dirty="0" smtClean="0"/>
          </a:p>
          <a:p>
            <a:r>
              <a:rPr lang="en-US" dirty="0" smtClean="0"/>
              <a:t>Optional parameters like Version, Paper size, Font etc required for CXF to drawing file conversions.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Indocosmo Systems Pvt. Ltd. All Rights Reserved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D9AD5-F248-4919-864A-CFD76CC027D6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576639622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1120" y="2490216"/>
            <a:ext cx="9509760" cy="1014984"/>
          </a:xfrm>
        </p:spPr>
        <p:txBody>
          <a:bodyPr/>
          <a:lstStyle/>
          <a:p>
            <a:pPr algn="ctr"/>
            <a:r>
              <a:rPr lang="en-US" dirty="0" smtClean="0"/>
              <a:t>Thank You All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Indocosmo Systems Pvt. Ltd. All Rights Reserved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D9AD5-F248-4919-864A-CFD76CC027D6}" type="slidenum">
              <a:rPr lang="en-US" smtClean="0"/>
              <a:pPr/>
              <a:t>6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prototype-presentation">
  <a:themeElements>
    <a:clrScheme name="Banded_Design_Blue">
      <a:dk1>
        <a:srgbClr val="404040"/>
      </a:dk1>
      <a:lt1>
        <a:sysClr val="window" lastClr="FFFFFF"/>
      </a:lt1>
      <a:dk2>
        <a:srgbClr val="263050"/>
      </a:dk2>
      <a:lt2>
        <a:srgbClr val="E5E8E8"/>
      </a:lt2>
      <a:accent1>
        <a:srgbClr val="77B142"/>
      </a:accent1>
      <a:accent2>
        <a:srgbClr val="E3C01E"/>
      </a:accent2>
      <a:accent3>
        <a:srgbClr val="0070C0"/>
      </a:accent3>
      <a:accent4>
        <a:srgbClr val="7556A4"/>
      </a:accent4>
      <a:accent5>
        <a:srgbClr val="F08F1E"/>
      </a:accent5>
      <a:accent6>
        <a:srgbClr val="CB3E3A"/>
      </a:accent6>
      <a:hlink>
        <a:srgbClr val="0070C0"/>
      </a:hlink>
      <a:folHlink>
        <a:srgbClr val="7556A4"/>
      </a:folHlink>
    </a:clrScheme>
    <a:fontScheme name="Module">
      <a:maj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lumMod val="0"/>
                <a:lumOff val="100000"/>
              </a:schemeClr>
            </a:gs>
            <a:gs pos="72000">
              <a:schemeClr val="phClr"/>
            </a:gs>
            <a:gs pos="100000">
              <a:schemeClr val="phClr">
                <a:lumMod val="90000"/>
              </a:schemeClr>
            </a:gs>
          </a:gsLst>
          <a:lin ang="5400000" scaled="1"/>
        </a:gradFill>
        <a:gradFill flip="none" rotWithShape="1">
          <a:gsLst>
            <a:gs pos="32000">
              <a:schemeClr val="phClr"/>
            </a:gs>
            <a:gs pos="100000">
              <a:schemeClr val="phClr">
                <a:lumMod val="75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TF03417271.potx" id="{FAD70E18-2F21-4BAE-983F-13051C6D1C17}" vid="{4B4DF9DC-15EC-4671-A52A-56A08B977F11}"/>
    </a:ext>
  </a:extLst>
</a:theme>
</file>

<file path=ppt/theme/theme2.xml><?xml version="1.0" encoding="utf-8"?>
<a:theme xmlns:a="http://schemas.openxmlformats.org/drawingml/2006/main" name="Office Theme">
  <a:themeElements>
    <a:clrScheme name="Banded_Design_Teal">
      <a:dk1>
        <a:srgbClr val="363D3D"/>
      </a:dk1>
      <a:lt1>
        <a:sysClr val="window" lastClr="FFFFFF"/>
      </a:lt1>
      <a:dk2>
        <a:srgbClr val="000000"/>
      </a:dk2>
      <a:lt2>
        <a:srgbClr val="E5E8E8"/>
      </a:lt2>
      <a:accent1>
        <a:srgbClr val="3AAFB2"/>
      </a:accent1>
      <a:accent2>
        <a:srgbClr val="6ABD45"/>
      </a:accent2>
      <a:accent3>
        <a:srgbClr val="EBCA21"/>
      </a:accent3>
      <a:accent4>
        <a:srgbClr val="EB8D21"/>
      </a:accent4>
      <a:accent5>
        <a:srgbClr val="EB5638"/>
      </a:accent5>
      <a:accent6>
        <a:srgbClr val="5172B1"/>
      </a:accent6>
      <a:hlink>
        <a:srgbClr val="3A9CDB"/>
      </a:hlink>
      <a:folHlink>
        <a:srgbClr val="5172B1"/>
      </a:folHlink>
    </a:clrScheme>
    <a:fontScheme name="Module">
      <a:maj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Banded_Design_Teal">
      <a:dk1>
        <a:srgbClr val="363D3D"/>
      </a:dk1>
      <a:lt1>
        <a:sysClr val="window" lastClr="FFFFFF"/>
      </a:lt1>
      <a:dk2>
        <a:srgbClr val="000000"/>
      </a:dk2>
      <a:lt2>
        <a:srgbClr val="E5E8E8"/>
      </a:lt2>
      <a:accent1>
        <a:srgbClr val="3AAFB2"/>
      </a:accent1>
      <a:accent2>
        <a:srgbClr val="6ABD45"/>
      </a:accent2>
      <a:accent3>
        <a:srgbClr val="EBCA21"/>
      </a:accent3>
      <a:accent4>
        <a:srgbClr val="EB8D21"/>
      </a:accent4>
      <a:accent5>
        <a:srgbClr val="EB5638"/>
      </a:accent5>
      <a:accent6>
        <a:srgbClr val="5172B1"/>
      </a:accent6>
      <a:hlink>
        <a:srgbClr val="3A9CDB"/>
      </a:hlink>
      <a:folHlink>
        <a:srgbClr val="5172B1"/>
      </a:folHlink>
    </a:clrScheme>
    <a:fontScheme name="Module">
      <a:maj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prototype-presentation</Template>
  <TotalTime>388</TotalTime>
  <Words>289</Words>
  <Application>Microsoft Office PowerPoint</Application>
  <PresentationFormat>Custom</PresentationFormat>
  <Paragraphs>41</Paragraphs>
  <Slides>6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prototype-presentation</vt:lpstr>
      <vt:lpstr>Prototype Presentation</vt:lpstr>
      <vt:lpstr>CWorks CXF</vt:lpstr>
      <vt:lpstr>Application Overview</vt:lpstr>
      <vt:lpstr>Process Flow</vt:lpstr>
      <vt:lpstr>Process Flow - Description</vt:lpstr>
      <vt:lpstr>Thank You All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Prototype Presentation</dc:title>
  <dc:creator>Suresh</dc:creator>
  <cp:lastModifiedBy>Suresh</cp:lastModifiedBy>
  <cp:revision>138</cp:revision>
  <dcterms:created xsi:type="dcterms:W3CDTF">2017-11-01T13:15:46Z</dcterms:created>
  <dcterms:modified xsi:type="dcterms:W3CDTF">2018-05-15T04:47:57Z</dcterms:modified>
</cp:coreProperties>
</file>