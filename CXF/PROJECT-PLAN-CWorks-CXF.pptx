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65" r:id="rId2"/>
    <p:sldId id="274" r:id="rId3"/>
    <p:sldId id="302" r:id="rId4"/>
    <p:sldId id="289" r:id="rId5"/>
    <p:sldId id="304" r:id="rId6"/>
    <p:sldId id="290" r:id="rId7"/>
    <p:sldId id="292" r:id="rId8"/>
    <p:sldId id="294" r:id="rId9"/>
    <p:sldId id="303" r:id="rId10"/>
    <p:sldId id="298" r:id="rId11"/>
    <p:sldId id="305" r:id="rId12"/>
    <p:sldId id="306" r:id="rId13"/>
    <p:sldId id="307" r:id="rId14"/>
    <p:sldId id="308" r:id="rId15"/>
    <p:sldId id="309" r:id="rId16"/>
    <p:sldId id="310" r:id="rId17"/>
    <p:sldId id="280" r:id="rId18"/>
    <p:sldId id="311" r:id="rId19"/>
    <p:sldId id="284" r:id="rId20"/>
    <p:sldId id="312" r:id="rId21"/>
    <p:sldId id="301" r:id="rId22"/>
    <p:sldId id="299" r:id="rId23"/>
    <p:sldId id="30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pos="6816" userDrawn="1">
          <p15:clr>
            <a:srgbClr val="A4A3A4"/>
          </p15:clr>
        </p15:guide>
        <p15:guide id="3" pos="816" userDrawn="1">
          <p15:clr>
            <a:srgbClr val="A4A3A4"/>
          </p15:clr>
        </p15:guide>
        <p15:guide id="4"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8"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93D81CF-94F2-401A-BA57-92F5A7B2D0C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82310" autoAdjust="0"/>
  </p:normalViewPr>
  <p:slideViewPr>
    <p:cSldViewPr>
      <p:cViewPr varScale="1">
        <p:scale>
          <a:sx n="40" d="100"/>
          <a:sy n="40" d="100"/>
        </p:scale>
        <p:origin x="48" y="498"/>
      </p:cViewPr>
      <p:guideLst>
        <p:guide pos="3840"/>
        <p:guide pos="6816"/>
        <p:guide pos="816"/>
        <p:guide orient="horz" pos="2160"/>
      </p:guideLst>
    </p:cSldViewPr>
  </p:slideViewPr>
  <p:notesTextViewPr>
    <p:cViewPr>
      <p:scale>
        <a:sx n="1" d="1"/>
        <a:sy n="1" d="1"/>
      </p:scale>
      <p:origin x="0" y="0"/>
    </p:cViewPr>
  </p:notesTextViewPr>
  <p:notesViewPr>
    <p:cSldViewPr>
      <p:cViewPr varScale="1">
        <p:scale>
          <a:sx n="95" d="100"/>
          <a:sy n="95" d="100"/>
        </p:scale>
        <p:origin x="3576"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02359-E29E-4A2D-ACAC-4DCAC351BAD4}"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lang="en-US"/>
        </a:p>
      </dgm:t>
    </dgm:pt>
    <dgm:pt modelId="{1AE76108-91FB-44D8-8A89-B8E208F7E5CA}">
      <dgm:prSet phldrT="[Text]" custT="1"/>
      <dgm:spPr/>
      <dgm:t>
        <a:bodyPr/>
        <a:lstStyle/>
        <a:p>
          <a:r>
            <a:rPr lang="en-US" sz="2200" dirty="0" smtClean="0"/>
            <a:t>Mohandas P M</a:t>
          </a:r>
        </a:p>
        <a:p>
          <a:r>
            <a:rPr lang="en-US" sz="2200" dirty="0" smtClean="0"/>
            <a:t>Project Manager</a:t>
          </a:r>
          <a:endParaRPr lang="en-US" sz="2200" dirty="0"/>
        </a:p>
      </dgm:t>
    </dgm:pt>
    <dgm:pt modelId="{FB6FE0FF-6322-4547-93AB-8311BC623C08}" type="parTrans" cxnId="{14EE8AC3-0110-4526-90CC-06B68394D9E2}">
      <dgm:prSet/>
      <dgm:spPr/>
      <dgm:t>
        <a:bodyPr/>
        <a:lstStyle/>
        <a:p>
          <a:endParaRPr lang="en-US" sz="2200"/>
        </a:p>
      </dgm:t>
    </dgm:pt>
    <dgm:pt modelId="{0D0D4CAD-4648-4F86-96D2-249E348C9951}" type="sibTrans" cxnId="{14EE8AC3-0110-4526-90CC-06B68394D9E2}">
      <dgm:prSet/>
      <dgm:spPr/>
      <dgm:t>
        <a:bodyPr/>
        <a:lstStyle/>
        <a:p>
          <a:endParaRPr lang="en-US" sz="2200"/>
        </a:p>
      </dgm:t>
    </dgm:pt>
    <dgm:pt modelId="{292949A4-AA05-4E18-B3F5-1798B9517995}">
      <dgm:prSet phldrT="[Text]" custT="1"/>
      <dgm:spPr/>
      <dgm:t>
        <a:bodyPr/>
        <a:lstStyle/>
        <a:p>
          <a:r>
            <a:rPr lang="en-US" sz="2200" dirty="0" smtClean="0"/>
            <a:t>Suresh S</a:t>
          </a:r>
        </a:p>
        <a:p>
          <a:r>
            <a:rPr lang="en-US" sz="2200" dirty="0" smtClean="0"/>
            <a:t>Project Leader</a:t>
          </a:r>
          <a:endParaRPr lang="en-US" sz="2200" dirty="0"/>
        </a:p>
      </dgm:t>
    </dgm:pt>
    <dgm:pt modelId="{480A263B-CD14-423A-A0E1-102EAB428708}" type="parTrans" cxnId="{96B205B4-5F7B-470F-9F70-6B6E2AA23B87}">
      <dgm:prSet/>
      <dgm:spPr/>
      <dgm:t>
        <a:bodyPr/>
        <a:lstStyle/>
        <a:p>
          <a:endParaRPr lang="en-US" sz="2200"/>
        </a:p>
      </dgm:t>
    </dgm:pt>
    <dgm:pt modelId="{95DB1844-9FB2-42CD-B947-48E4C21612F4}" type="sibTrans" cxnId="{96B205B4-5F7B-470F-9F70-6B6E2AA23B87}">
      <dgm:prSet/>
      <dgm:spPr/>
      <dgm:t>
        <a:bodyPr/>
        <a:lstStyle/>
        <a:p>
          <a:endParaRPr lang="en-US" sz="2200"/>
        </a:p>
      </dgm:t>
    </dgm:pt>
    <dgm:pt modelId="{0ACBA0E5-BBCD-43D7-A3BC-FC0CF9D01C8A}">
      <dgm:prSet phldrT="[Text]" custT="1"/>
      <dgm:spPr/>
      <dgm:t>
        <a:bodyPr/>
        <a:lstStyle/>
        <a:p>
          <a:r>
            <a:rPr lang="en-US" sz="2200" dirty="0" err="1" smtClean="0"/>
            <a:t>Suraj</a:t>
          </a:r>
          <a:r>
            <a:rPr lang="en-US" sz="2200" dirty="0" smtClean="0"/>
            <a:t> P</a:t>
          </a:r>
        </a:p>
        <a:p>
          <a:r>
            <a:rPr lang="en-US" sz="2200" dirty="0" smtClean="0"/>
            <a:t>Senior Developer</a:t>
          </a:r>
          <a:endParaRPr lang="en-US" sz="2200" dirty="0"/>
        </a:p>
      </dgm:t>
    </dgm:pt>
    <dgm:pt modelId="{C6B0EF2E-D0FA-4A1B-8E00-868CCDF8158E}" type="parTrans" cxnId="{6581C4F9-789D-48A7-9428-0E021B2DC4A2}">
      <dgm:prSet/>
      <dgm:spPr/>
      <dgm:t>
        <a:bodyPr/>
        <a:lstStyle/>
        <a:p>
          <a:endParaRPr lang="en-US" sz="2200"/>
        </a:p>
      </dgm:t>
    </dgm:pt>
    <dgm:pt modelId="{D230325B-7A0E-4212-8386-DF558C1F2B2A}" type="sibTrans" cxnId="{6581C4F9-789D-48A7-9428-0E021B2DC4A2}">
      <dgm:prSet/>
      <dgm:spPr/>
      <dgm:t>
        <a:bodyPr/>
        <a:lstStyle/>
        <a:p>
          <a:endParaRPr lang="en-US" sz="2200"/>
        </a:p>
      </dgm:t>
    </dgm:pt>
    <dgm:pt modelId="{5FDCA85D-1C67-44A6-9071-13A348508795}">
      <dgm:prSet phldrT="[Text]" custT="1"/>
      <dgm:spPr/>
      <dgm:t>
        <a:bodyPr/>
        <a:lstStyle/>
        <a:p>
          <a:r>
            <a:rPr lang="en-US" sz="2200" dirty="0" err="1" smtClean="0"/>
            <a:t>Masa</a:t>
          </a:r>
          <a:r>
            <a:rPr lang="en-US" sz="2200" dirty="0" smtClean="0"/>
            <a:t> Yuki Communicative Person</a:t>
          </a:r>
          <a:endParaRPr lang="en-US" sz="2200" dirty="0"/>
        </a:p>
      </dgm:t>
    </dgm:pt>
    <dgm:pt modelId="{03FDE31C-AA0C-4FFD-88F3-B8C60C7688B2}" type="parTrans" cxnId="{271D1B83-8B39-409B-9021-75223A00D6D6}">
      <dgm:prSet/>
      <dgm:spPr/>
      <dgm:t>
        <a:bodyPr/>
        <a:lstStyle/>
        <a:p>
          <a:endParaRPr lang="en-US" sz="2200"/>
        </a:p>
      </dgm:t>
    </dgm:pt>
    <dgm:pt modelId="{FE1A6629-9F0A-4947-827E-686E8B12F027}" type="sibTrans" cxnId="{271D1B83-8B39-409B-9021-75223A00D6D6}">
      <dgm:prSet/>
      <dgm:spPr/>
      <dgm:t>
        <a:bodyPr/>
        <a:lstStyle/>
        <a:p>
          <a:endParaRPr lang="en-US" sz="2200"/>
        </a:p>
      </dgm:t>
    </dgm:pt>
    <dgm:pt modelId="{F23C4017-A5C1-4C56-A347-6B4C620DC841}">
      <dgm:prSet phldrT="[Text]" custT="1"/>
      <dgm:spPr/>
      <dgm:t>
        <a:bodyPr/>
        <a:lstStyle/>
        <a:p>
          <a:r>
            <a:rPr lang="en-US" sz="2200" dirty="0" smtClean="0"/>
            <a:t>Suresh S</a:t>
          </a:r>
        </a:p>
        <a:p>
          <a:r>
            <a:rPr lang="en-US" sz="2200" dirty="0" smtClean="0"/>
            <a:t>Senior Developer</a:t>
          </a:r>
          <a:endParaRPr lang="en-US" sz="2200" dirty="0"/>
        </a:p>
      </dgm:t>
    </dgm:pt>
    <dgm:pt modelId="{1DFDF46D-51FC-4BCB-95BF-F9392E19FAC6}" type="parTrans" cxnId="{9D72BFA5-BBA0-4DAC-92CD-42F532049F4F}">
      <dgm:prSet/>
      <dgm:spPr/>
      <dgm:t>
        <a:bodyPr/>
        <a:lstStyle/>
        <a:p>
          <a:endParaRPr lang="en-US"/>
        </a:p>
      </dgm:t>
    </dgm:pt>
    <dgm:pt modelId="{60AE6F54-41D7-4537-B511-CC41A072B3FF}" type="sibTrans" cxnId="{9D72BFA5-BBA0-4DAC-92CD-42F532049F4F}">
      <dgm:prSet/>
      <dgm:spPr/>
      <dgm:t>
        <a:bodyPr/>
        <a:lstStyle/>
        <a:p>
          <a:endParaRPr lang="en-US"/>
        </a:p>
      </dgm:t>
    </dgm:pt>
    <dgm:pt modelId="{4ED53732-3811-40A5-AA40-036D0080E2E6}" type="pres">
      <dgm:prSet presAssocID="{78502359-E29E-4A2D-ACAC-4DCAC351BAD4}" presName="diagram" presStyleCnt="0">
        <dgm:presLayoutVars>
          <dgm:chPref val="1"/>
          <dgm:dir/>
          <dgm:animOne val="branch"/>
          <dgm:animLvl val="lvl"/>
          <dgm:resizeHandles val="exact"/>
        </dgm:presLayoutVars>
      </dgm:prSet>
      <dgm:spPr/>
      <dgm:t>
        <a:bodyPr/>
        <a:lstStyle/>
        <a:p>
          <a:endParaRPr lang="en-US"/>
        </a:p>
      </dgm:t>
    </dgm:pt>
    <dgm:pt modelId="{66599CB7-37A8-450B-94A9-3DCBA1169B13}" type="pres">
      <dgm:prSet presAssocID="{1AE76108-91FB-44D8-8A89-B8E208F7E5CA}" presName="root1" presStyleCnt="0"/>
      <dgm:spPr/>
    </dgm:pt>
    <dgm:pt modelId="{B70911DB-5EA8-4DCC-B136-894C8511BD3F}" type="pres">
      <dgm:prSet presAssocID="{1AE76108-91FB-44D8-8A89-B8E208F7E5CA}" presName="LevelOneTextNode" presStyleLbl="node0" presStyleIdx="0" presStyleCnt="1" custLinFactNeighborX="954" custLinFactNeighborY="7058">
        <dgm:presLayoutVars>
          <dgm:chPref val="3"/>
        </dgm:presLayoutVars>
      </dgm:prSet>
      <dgm:spPr/>
      <dgm:t>
        <a:bodyPr/>
        <a:lstStyle/>
        <a:p>
          <a:endParaRPr lang="en-US"/>
        </a:p>
      </dgm:t>
    </dgm:pt>
    <dgm:pt modelId="{5D4FA36F-7A04-469C-8592-3598445682F6}" type="pres">
      <dgm:prSet presAssocID="{1AE76108-91FB-44D8-8A89-B8E208F7E5CA}" presName="level2hierChild" presStyleCnt="0"/>
      <dgm:spPr/>
    </dgm:pt>
    <dgm:pt modelId="{7EA05D67-9F6A-4142-A1FE-AF793B7155C5}" type="pres">
      <dgm:prSet presAssocID="{480A263B-CD14-423A-A0E1-102EAB428708}" presName="conn2-1" presStyleLbl="parChTrans1D2" presStyleIdx="0" presStyleCnt="1"/>
      <dgm:spPr/>
      <dgm:t>
        <a:bodyPr/>
        <a:lstStyle/>
        <a:p>
          <a:endParaRPr lang="en-US"/>
        </a:p>
      </dgm:t>
    </dgm:pt>
    <dgm:pt modelId="{B8362F1F-B9E9-4A92-A62D-650D7E2500E5}" type="pres">
      <dgm:prSet presAssocID="{480A263B-CD14-423A-A0E1-102EAB428708}" presName="connTx" presStyleLbl="parChTrans1D2" presStyleIdx="0" presStyleCnt="1"/>
      <dgm:spPr/>
      <dgm:t>
        <a:bodyPr/>
        <a:lstStyle/>
        <a:p>
          <a:endParaRPr lang="en-US"/>
        </a:p>
      </dgm:t>
    </dgm:pt>
    <dgm:pt modelId="{F9B2E71E-C530-41D3-8FAC-41D902CE471C}" type="pres">
      <dgm:prSet presAssocID="{292949A4-AA05-4E18-B3F5-1798B9517995}" presName="root2" presStyleCnt="0"/>
      <dgm:spPr/>
    </dgm:pt>
    <dgm:pt modelId="{D7CBB230-4FCC-4B4E-91FD-8169B5CD7C7D}" type="pres">
      <dgm:prSet presAssocID="{292949A4-AA05-4E18-B3F5-1798B9517995}" presName="LevelTwoTextNode" presStyleLbl="node2" presStyleIdx="0" presStyleCnt="1" custLinFactNeighborX="1214" custLinFactNeighborY="4630">
        <dgm:presLayoutVars>
          <dgm:chPref val="3"/>
        </dgm:presLayoutVars>
      </dgm:prSet>
      <dgm:spPr/>
      <dgm:t>
        <a:bodyPr/>
        <a:lstStyle/>
        <a:p>
          <a:endParaRPr lang="en-US"/>
        </a:p>
      </dgm:t>
    </dgm:pt>
    <dgm:pt modelId="{580C0974-A890-4E6C-B962-BEDCCBC6EAAF}" type="pres">
      <dgm:prSet presAssocID="{292949A4-AA05-4E18-B3F5-1798B9517995}" presName="level3hierChild" presStyleCnt="0"/>
      <dgm:spPr/>
    </dgm:pt>
    <dgm:pt modelId="{BAF43D86-6EB1-4466-9858-C792F173179C}" type="pres">
      <dgm:prSet presAssocID="{C6B0EF2E-D0FA-4A1B-8E00-868CCDF8158E}" presName="conn2-1" presStyleLbl="parChTrans1D3" presStyleIdx="0" presStyleCnt="3"/>
      <dgm:spPr/>
      <dgm:t>
        <a:bodyPr/>
        <a:lstStyle/>
        <a:p>
          <a:endParaRPr lang="en-US"/>
        </a:p>
      </dgm:t>
    </dgm:pt>
    <dgm:pt modelId="{40070A89-0E52-4C38-A539-30A25C01BA23}" type="pres">
      <dgm:prSet presAssocID="{C6B0EF2E-D0FA-4A1B-8E00-868CCDF8158E}" presName="connTx" presStyleLbl="parChTrans1D3" presStyleIdx="0" presStyleCnt="3"/>
      <dgm:spPr/>
      <dgm:t>
        <a:bodyPr/>
        <a:lstStyle/>
        <a:p>
          <a:endParaRPr lang="en-US"/>
        </a:p>
      </dgm:t>
    </dgm:pt>
    <dgm:pt modelId="{B26EE333-3DD0-46DA-948D-177B1D8E5453}" type="pres">
      <dgm:prSet presAssocID="{0ACBA0E5-BBCD-43D7-A3BC-FC0CF9D01C8A}" presName="root2" presStyleCnt="0"/>
      <dgm:spPr/>
    </dgm:pt>
    <dgm:pt modelId="{150C196B-9E14-49A3-A884-39E42F30B15A}" type="pres">
      <dgm:prSet presAssocID="{0ACBA0E5-BBCD-43D7-A3BC-FC0CF9D01C8A}" presName="LevelTwoTextNode" presStyleLbl="node3" presStyleIdx="0" presStyleCnt="3" custLinFactNeighborY="-6005">
        <dgm:presLayoutVars>
          <dgm:chPref val="3"/>
        </dgm:presLayoutVars>
      </dgm:prSet>
      <dgm:spPr/>
      <dgm:t>
        <a:bodyPr/>
        <a:lstStyle/>
        <a:p>
          <a:endParaRPr lang="en-US"/>
        </a:p>
      </dgm:t>
    </dgm:pt>
    <dgm:pt modelId="{F63D0DF3-02C0-4FD2-AA5D-803A83AE41CD}" type="pres">
      <dgm:prSet presAssocID="{0ACBA0E5-BBCD-43D7-A3BC-FC0CF9D01C8A}" presName="level3hierChild" presStyleCnt="0"/>
      <dgm:spPr/>
    </dgm:pt>
    <dgm:pt modelId="{44BCE971-6DB2-41FF-82A7-61F3C3DF066D}" type="pres">
      <dgm:prSet presAssocID="{1DFDF46D-51FC-4BCB-95BF-F9392E19FAC6}" presName="conn2-1" presStyleLbl="parChTrans1D3" presStyleIdx="1" presStyleCnt="3"/>
      <dgm:spPr/>
      <dgm:t>
        <a:bodyPr/>
        <a:lstStyle/>
        <a:p>
          <a:endParaRPr lang="en-US"/>
        </a:p>
      </dgm:t>
    </dgm:pt>
    <dgm:pt modelId="{B5E40F4D-B9B9-43AE-82B0-E364C5A9AFEA}" type="pres">
      <dgm:prSet presAssocID="{1DFDF46D-51FC-4BCB-95BF-F9392E19FAC6}" presName="connTx" presStyleLbl="parChTrans1D3" presStyleIdx="1" presStyleCnt="3"/>
      <dgm:spPr/>
      <dgm:t>
        <a:bodyPr/>
        <a:lstStyle/>
        <a:p>
          <a:endParaRPr lang="en-US"/>
        </a:p>
      </dgm:t>
    </dgm:pt>
    <dgm:pt modelId="{1DEDC185-8BED-4FC3-A282-0DD39327836D}" type="pres">
      <dgm:prSet presAssocID="{F23C4017-A5C1-4C56-A347-6B4C620DC841}" presName="root2" presStyleCnt="0"/>
      <dgm:spPr/>
    </dgm:pt>
    <dgm:pt modelId="{A6FD9E41-0788-4402-82C4-FF8CD9AE264C}" type="pres">
      <dgm:prSet presAssocID="{F23C4017-A5C1-4C56-A347-6B4C620DC841}" presName="LevelTwoTextNode" presStyleLbl="node3" presStyleIdx="1" presStyleCnt="3">
        <dgm:presLayoutVars>
          <dgm:chPref val="3"/>
        </dgm:presLayoutVars>
      </dgm:prSet>
      <dgm:spPr/>
      <dgm:t>
        <a:bodyPr/>
        <a:lstStyle/>
        <a:p>
          <a:endParaRPr lang="en-US"/>
        </a:p>
      </dgm:t>
    </dgm:pt>
    <dgm:pt modelId="{F1CE9A8A-9502-4728-9A2D-9467B495D4F8}" type="pres">
      <dgm:prSet presAssocID="{F23C4017-A5C1-4C56-A347-6B4C620DC841}" presName="level3hierChild" presStyleCnt="0"/>
      <dgm:spPr/>
    </dgm:pt>
    <dgm:pt modelId="{3C65E81D-00EE-4960-BE4A-1CE6188DABEB}" type="pres">
      <dgm:prSet presAssocID="{03FDE31C-AA0C-4FFD-88F3-B8C60C7688B2}" presName="conn2-1" presStyleLbl="parChTrans1D3" presStyleIdx="2" presStyleCnt="3"/>
      <dgm:spPr/>
      <dgm:t>
        <a:bodyPr/>
        <a:lstStyle/>
        <a:p>
          <a:endParaRPr lang="en-US"/>
        </a:p>
      </dgm:t>
    </dgm:pt>
    <dgm:pt modelId="{27BEC4C1-825C-44C4-BACD-4E3925CF939D}" type="pres">
      <dgm:prSet presAssocID="{03FDE31C-AA0C-4FFD-88F3-B8C60C7688B2}" presName="connTx" presStyleLbl="parChTrans1D3" presStyleIdx="2" presStyleCnt="3"/>
      <dgm:spPr/>
      <dgm:t>
        <a:bodyPr/>
        <a:lstStyle/>
        <a:p>
          <a:endParaRPr lang="en-US"/>
        </a:p>
      </dgm:t>
    </dgm:pt>
    <dgm:pt modelId="{A34DF028-3D19-4788-B1E9-D7FCFB510002}" type="pres">
      <dgm:prSet presAssocID="{5FDCA85D-1C67-44A6-9071-13A348508795}" presName="root2" presStyleCnt="0"/>
      <dgm:spPr/>
    </dgm:pt>
    <dgm:pt modelId="{92404F5F-D079-4276-810A-E507CBF177E0}" type="pres">
      <dgm:prSet presAssocID="{5FDCA85D-1C67-44A6-9071-13A348508795}" presName="LevelTwoTextNode" presStyleLbl="node3" presStyleIdx="2" presStyleCnt="3">
        <dgm:presLayoutVars>
          <dgm:chPref val="3"/>
        </dgm:presLayoutVars>
      </dgm:prSet>
      <dgm:spPr/>
      <dgm:t>
        <a:bodyPr/>
        <a:lstStyle/>
        <a:p>
          <a:endParaRPr lang="en-US"/>
        </a:p>
      </dgm:t>
    </dgm:pt>
    <dgm:pt modelId="{17A80BC9-BBE8-4EAF-BF8D-F0D2C81A1FD5}" type="pres">
      <dgm:prSet presAssocID="{5FDCA85D-1C67-44A6-9071-13A348508795}" presName="level3hierChild" presStyleCnt="0"/>
      <dgm:spPr/>
    </dgm:pt>
  </dgm:ptLst>
  <dgm:cxnLst>
    <dgm:cxn modelId="{0A8890CC-B826-48F3-B4D2-444BE1CF2261}" type="presOf" srcId="{0ACBA0E5-BBCD-43D7-A3BC-FC0CF9D01C8A}" destId="{150C196B-9E14-49A3-A884-39E42F30B15A}" srcOrd="0" destOrd="0" presId="urn:microsoft.com/office/officeart/2005/8/layout/hierarchy2"/>
    <dgm:cxn modelId="{00E2AB42-B894-4184-8E8F-065FEEC45542}" type="presOf" srcId="{78502359-E29E-4A2D-ACAC-4DCAC351BAD4}" destId="{4ED53732-3811-40A5-AA40-036D0080E2E6}" srcOrd="0" destOrd="0" presId="urn:microsoft.com/office/officeart/2005/8/layout/hierarchy2"/>
    <dgm:cxn modelId="{9D72BFA5-BBA0-4DAC-92CD-42F532049F4F}" srcId="{292949A4-AA05-4E18-B3F5-1798B9517995}" destId="{F23C4017-A5C1-4C56-A347-6B4C620DC841}" srcOrd="1" destOrd="0" parTransId="{1DFDF46D-51FC-4BCB-95BF-F9392E19FAC6}" sibTransId="{60AE6F54-41D7-4537-B511-CC41A072B3FF}"/>
    <dgm:cxn modelId="{927CB353-AA01-4E7E-8A4A-B350EFF97023}" type="presOf" srcId="{03FDE31C-AA0C-4FFD-88F3-B8C60C7688B2}" destId="{27BEC4C1-825C-44C4-BACD-4E3925CF939D}" srcOrd="1" destOrd="0" presId="urn:microsoft.com/office/officeart/2005/8/layout/hierarchy2"/>
    <dgm:cxn modelId="{6581C4F9-789D-48A7-9428-0E021B2DC4A2}" srcId="{292949A4-AA05-4E18-B3F5-1798B9517995}" destId="{0ACBA0E5-BBCD-43D7-A3BC-FC0CF9D01C8A}" srcOrd="0" destOrd="0" parTransId="{C6B0EF2E-D0FA-4A1B-8E00-868CCDF8158E}" sibTransId="{D230325B-7A0E-4212-8386-DF558C1F2B2A}"/>
    <dgm:cxn modelId="{9A6AE368-033E-4F0E-BF4C-D75ADCD956F9}" type="presOf" srcId="{03FDE31C-AA0C-4FFD-88F3-B8C60C7688B2}" destId="{3C65E81D-00EE-4960-BE4A-1CE6188DABEB}" srcOrd="0" destOrd="0" presId="urn:microsoft.com/office/officeart/2005/8/layout/hierarchy2"/>
    <dgm:cxn modelId="{4C67D463-19F3-494C-A267-C437EC3CC67A}" type="presOf" srcId="{1DFDF46D-51FC-4BCB-95BF-F9392E19FAC6}" destId="{B5E40F4D-B9B9-43AE-82B0-E364C5A9AFEA}" srcOrd="1" destOrd="0" presId="urn:microsoft.com/office/officeart/2005/8/layout/hierarchy2"/>
    <dgm:cxn modelId="{069EDF2A-C626-4806-9FC0-03159DA274B7}" type="presOf" srcId="{5FDCA85D-1C67-44A6-9071-13A348508795}" destId="{92404F5F-D079-4276-810A-E507CBF177E0}" srcOrd="0" destOrd="0" presId="urn:microsoft.com/office/officeart/2005/8/layout/hierarchy2"/>
    <dgm:cxn modelId="{6718A4C4-ED28-4E08-95A5-36EDFF87AF57}" type="presOf" srcId="{1DFDF46D-51FC-4BCB-95BF-F9392E19FAC6}" destId="{44BCE971-6DB2-41FF-82A7-61F3C3DF066D}" srcOrd="0" destOrd="0" presId="urn:microsoft.com/office/officeart/2005/8/layout/hierarchy2"/>
    <dgm:cxn modelId="{091A79F9-4719-4FD3-9377-4A19547D3A08}" type="presOf" srcId="{1AE76108-91FB-44D8-8A89-B8E208F7E5CA}" destId="{B70911DB-5EA8-4DCC-B136-894C8511BD3F}" srcOrd="0" destOrd="0" presId="urn:microsoft.com/office/officeart/2005/8/layout/hierarchy2"/>
    <dgm:cxn modelId="{271D1B83-8B39-409B-9021-75223A00D6D6}" srcId="{292949A4-AA05-4E18-B3F5-1798B9517995}" destId="{5FDCA85D-1C67-44A6-9071-13A348508795}" srcOrd="2" destOrd="0" parTransId="{03FDE31C-AA0C-4FFD-88F3-B8C60C7688B2}" sibTransId="{FE1A6629-9F0A-4947-827E-686E8B12F027}"/>
    <dgm:cxn modelId="{34D84425-302F-4FA4-A249-B3332A6AC10D}" type="presOf" srcId="{F23C4017-A5C1-4C56-A347-6B4C620DC841}" destId="{A6FD9E41-0788-4402-82C4-FF8CD9AE264C}" srcOrd="0" destOrd="0" presId="urn:microsoft.com/office/officeart/2005/8/layout/hierarchy2"/>
    <dgm:cxn modelId="{00C650B5-6226-4C34-9A4C-28D16A8D9458}" type="presOf" srcId="{292949A4-AA05-4E18-B3F5-1798B9517995}" destId="{D7CBB230-4FCC-4B4E-91FD-8169B5CD7C7D}" srcOrd="0" destOrd="0" presId="urn:microsoft.com/office/officeart/2005/8/layout/hierarchy2"/>
    <dgm:cxn modelId="{1FB3EE61-34CD-426D-8CFD-7ABB5085BD16}" type="presOf" srcId="{C6B0EF2E-D0FA-4A1B-8E00-868CCDF8158E}" destId="{BAF43D86-6EB1-4466-9858-C792F173179C}" srcOrd="0" destOrd="0" presId="urn:microsoft.com/office/officeart/2005/8/layout/hierarchy2"/>
    <dgm:cxn modelId="{D82B1C0C-3F48-4AF7-AB01-BC1961E7C8FA}" type="presOf" srcId="{480A263B-CD14-423A-A0E1-102EAB428708}" destId="{7EA05D67-9F6A-4142-A1FE-AF793B7155C5}" srcOrd="0" destOrd="0" presId="urn:microsoft.com/office/officeart/2005/8/layout/hierarchy2"/>
    <dgm:cxn modelId="{96B205B4-5F7B-470F-9F70-6B6E2AA23B87}" srcId="{1AE76108-91FB-44D8-8A89-B8E208F7E5CA}" destId="{292949A4-AA05-4E18-B3F5-1798B9517995}" srcOrd="0" destOrd="0" parTransId="{480A263B-CD14-423A-A0E1-102EAB428708}" sibTransId="{95DB1844-9FB2-42CD-B947-48E4C21612F4}"/>
    <dgm:cxn modelId="{14EE8AC3-0110-4526-90CC-06B68394D9E2}" srcId="{78502359-E29E-4A2D-ACAC-4DCAC351BAD4}" destId="{1AE76108-91FB-44D8-8A89-B8E208F7E5CA}" srcOrd="0" destOrd="0" parTransId="{FB6FE0FF-6322-4547-93AB-8311BC623C08}" sibTransId="{0D0D4CAD-4648-4F86-96D2-249E348C9951}"/>
    <dgm:cxn modelId="{324F0381-2215-405D-95CD-07B00E0BEC09}" type="presOf" srcId="{C6B0EF2E-D0FA-4A1B-8E00-868CCDF8158E}" destId="{40070A89-0E52-4C38-A539-30A25C01BA23}" srcOrd="1" destOrd="0" presId="urn:microsoft.com/office/officeart/2005/8/layout/hierarchy2"/>
    <dgm:cxn modelId="{388F79CB-2CD2-40F6-BC45-B31C567BE91B}" type="presOf" srcId="{480A263B-CD14-423A-A0E1-102EAB428708}" destId="{B8362F1F-B9E9-4A92-A62D-650D7E2500E5}" srcOrd="1" destOrd="0" presId="urn:microsoft.com/office/officeart/2005/8/layout/hierarchy2"/>
    <dgm:cxn modelId="{19289E1F-EF2E-40E4-A1E8-F511240EE2FD}" type="presParOf" srcId="{4ED53732-3811-40A5-AA40-036D0080E2E6}" destId="{66599CB7-37A8-450B-94A9-3DCBA1169B13}" srcOrd="0" destOrd="0" presId="urn:microsoft.com/office/officeart/2005/8/layout/hierarchy2"/>
    <dgm:cxn modelId="{4731778F-C60C-41BC-AA72-084C2AB0ED5B}" type="presParOf" srcId="{66599CB7-37A8-450B-94A9-3DCBA1169B13}" destId="{B70911DB-5EA8-4DCC-B136-894C8511BD3F}" srcOrd="0" destOrd="0" presId="urn:microsoft.com/office/officeart/2005/8/layout/hierarchy2"/>
    <dgm:cxn modelId="{5E182C54-D000-4275-8380-8B8279212ABE}" type="presParOf" srcId="{66599CB7-37A8-450B-94A9-3DCBA1169B13}" destId="{5D4FA36F-7A04-469C-8592-3598445682F6}" srcOrd="1" destOrd="0" presId="urn:microsoft.com/office/officeart/2005/8/layout/hierarchy2"/>
    <dgm:cxn modelId="{C6877938-997B-4BA0-9BBA-E952D68B9F14}" type="presParOf" srcId="{5D4FA36F-7A04-469C-8592-3598445682F6}" destId="{7EA05D67-9F6A-4142-A1FE-AF793B7155C5}" srcOrd="0" destOrd="0" presId="urn:microsoft.com/office/officeart/2005/8/layout/hierarchy2"/>
    <dgm:cxn modelId="{A75F5D15-F164-4898-8597-9EB0C9789090}" type="presParOf" srcId="{7EA05D67-9F6A-4142-A1FE-AF793B7155C5}" destId="{B8362F1F-B9E9-4A92-A62D-650D7E2500E5}" srcOrd="0" destOrd="0" presId="urn:microsoft.com/office/officeart/2005/8/layout/hierarchy2"/>
    <dgm:cxn modelId="{016CB4AB-DF33-495E-89EF-F9C215B2E5F5}" type="presParOf" srcId="{5D4FA36F-7A04-469C-8592-3598445682F6}" destId="{F9B2E71E-C530-41D3-8FAC-41D902CE471C}" srcOrd="1" destOrd="0" presId="urn:microsoft.com/office/officeart/2005/8/layout/hierarchy2"/>
    <dgm:cxn modelId="{FEF2A95A-63E0-4E82-B725-A8D4D616039B}" type="presParOf" srcId="{F9B2E71E-C530-41D3-8FAC-41D902CE471C}" destId="{D7CBB230-4FCC-4B4E-91FD-8169B5CD7C7D}" srcOrd="0" destOrd="0" presId="urn:microsoft.com/office/officeart/2005/8/layout/hierarchy2"/>
    <dgm:cxn modelId="{651B6A80-D70D-45A6-AC06-72F1F2199AD3}" type="presParOf" srcId="{F9B2E71E-C530-41D3-8FAC-41D902CE471C}" destId="{580C0974-A890-4E6C-B962-BEDCCBC6EAAF}" srcOrd="1" destOrd="0" presId="urn:microsoft.com/office/officeart/2005/8/layout/hierarchy2"/>
    <dgm:cxn modelId="{4E03444D-4411-4789-B082-1D3E929A0983}" type="presParOf" srcId="{580C0974-A890-4E6C-B962-BEDCCBC6EAAF}" destId="{BAF43D86-6EB1-4466-9858-C792F173179C}" srcOrd="0" destOrd="0" presId="urn:microsoft.com/office/officeart/2005/8/layout/hierarchy2"/>
    <dgm:cxn modelId="{B2716B55-9E11-4B59-80A9-31B911DF7CF8}" type="presParOf" srcId="{BAF43D86-6EB1-4466-9858-C792F173179C}" destId="{40070A89-0E52-4C38-A539-30A25C01BA23}" srcOrd="0" destOrd="0" presId="urn:microsoft.com/office/officeart/2005/8/layout/hierarchy2"/>
    <dgm:cxn modelId="{60A04F01-89B2-4F25-80B3-FC92260EEA97}" type="presParOf" srcId="{580C0974-A890-4E6C-B962-BEDCCBC6EAAF}" destId="{B26EE333-3DD0-46DA-948D-177B1D8E5453}" srcOrd="1" destOrd="0" presId="urn:microsoft.com/office/officeart/2005/8/layout/hierarchy2"/>
    <dgm:cxn modelId="{F99221AB-8643-4367-9376-E7F2C34BC1AE}" type="presParOf" srcId="{B26EE333-3DD0-46DA-948D-177B1D8E5453}" destId="{150C196B-9E14-49A3-A884-39E42F30B15A}" srcOrd="0" destOrd="0" presId="urn:microsoft.com/office/officeart/2005/8/layout/hierarchy2"/>
    <dgm:cxn modelId="{56D72E4E-778E-459C-BC0B-5972B1DE0646}" type="presParOf" srcId="{B26EE333-3DD0-46DA-948D-177B1D8E5453}" destId="{F63D0DF3-02C0-4FD2-AA5D-803A83AE41CD}" srcOrd="1" destOrd="0" presId="urn:microsoft.com/office/officeart/2005/8/layout/hierarchy2"/>
    <dgm:cxn modelId="{FEE7A182-A500-4F39-8C04-A96D1652B722}" type="presParOf" srcId="{580C0974-A890-4E6C-B962-BEDCCBC6EAAF}" destId="{44BCE971-6DB2-41FF-82A7-61F3C3DF066D}" srcOrd="2" destOrd="0" presId="urn:microsoft.com/office/officeart/2005/8/layout/hierarchy2"/>
    <dgm:cxn modelId="{448579D9-6DC3-405B-8F94-867BDAB57F50}" type="presParOf" srcId="{44BCE971-6DB2-41FF-82A7-61F3C3DF066D}" destId="{B5E40F4D-B9B9-43AE-82B0-E364C5A9AFEA}" srcOrd="0" destOrd="0" presId="urn:microsoft.com/office/officeart/2005/8/layout/hierarchy2"/>
    <dgm:cxn modelId="{0ED80661-6FE9-419B-9A39-4AD4E27FECBD}" type="presParOf" srcId="{580C0974-A890-4E6C-B962-BEDCCBC6EAAF}" destId="{1DEDC185-8BED-4FC3-A282-0DD39327836D}" srcOrd="3" destOrd="0" presId="urn:microsoft.com/office/officeart/2005/8/layout/hierarchy2"/>
    <dgm:cxn modelId="{4C4FEBF3-80A2-4B4E-B27F-C314D52983D0}" type="presParOf" srcId="{1DEDC185-8BED-4FC3-A282-0DD39327836D}" destId="{A6FD9E41-0788-4402-82C4-FF8CD9AE264C}" srcOrd="0" destOrd="0" presId="urn:microsoft.com/office/officeart/2005/8/layout/hierarchy2"/>
    <dgm:cxn modelId="{91D16271-F8BA-47FD-A06C-D0E4FCD8C87D}" type="presParOf" srcId="{1DEDC185-8BED-4FC3-A282-0DD39327836D}" destId="{F1CE9A8A-9502-4728-9A2D-9467B495D4F8}" srcOrd="1" destOrd="0" presId="urn:microsoft.com/office/officeart/2005/8/layout/hierarchy2"/>
    <dgm:cxn modelId="{FC4C5889-907B-40F2-922D-24C517DABD7D}" type="presParOf" srcId="{580C0974-A890-4E6C-B962-BEDCCBC6EAAF}" destId="{3C65E81D-00EE-4960-BE4A-1CE6188DABEB}" srcOrd="4" destOrd="0" presId="urn:microsoft.com/office/officeart/2005/8/layout/hierarchy2"/>
    <dgm:cxn modelId="{6C378FD9-6DBA-4A13-A40E-99A5013CC000}" type="presParOf" srcId="{3C65E81D-00EE-4960-BE4A-1CE6188DABEB}" destId="{27BEC4C1-825C-44C4-BACD-4E3925CF939D}" srcOrd="0" destOrd="0" presId="urn:microsoft.com/office/officeart/2005/8/layout/hierarchy2"/>
    <dgm:cxn modelId="{C0FB29B6-2E57-4C9A-901C-183B03B123A1}" type="presParOf" srcId="{580C0974-A890-4E6C-B962-BEDCCBC6EAAF}" destId="{A34DF028-3D19-4788-B1E9-D7FCFB510002}" srcOrd="5" destOrd="0" presId="urn:microsoft.com/office/officeart/2005/8/layout/hierarchy2"/>
    <dgm:cxn modelId="{65E9C274-E108-4C3B-9B8A-CB6391B291D7}" type="presParOf" srcId="{A34DF028-3D19-4788-B1E9-D7FCFB510002}" destId="{92404F5F-D079-4276-810A-E507CBF177E0}" srcOrd="0" destOrd="0" presId="urn:microsoft.com/office/officeart/2005/8/layout/hierarchy2"/>
    <dgm:cxn modelId="{1274EDDD-19AF-425A-9776-7149B16BEC99}" type="presParOf" srcId="{A34DF028-3D19-4788-B1E9-D7FCFB510002}" destId="{17A80BC9-BBE8-4EAF-BF8D-F0D2C81A1FD5}"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502359-E29E-4A2D-ACAC-4DCAC351BAD4}" type="doc">
      <dgm:prSet loTypeId="urn:microsoft.com/office/officeart/2005/8/layout/hierarchy2" loCatId="hierarchy" qsTypeId="urn:microsoft.com/office/officeart/2005/8/quickstyle/simple1" qsCatId="simple" csTypeId="urn:microsoft.com/office/officeart/2005/8/colors/accent0_3" csCatId="mainScheme" phldr="1"/>
      <dgm:spPr/>
      <dgm:t>
        <a:bodyPr/>
        <a:lstStyle/>
        <a:p>
          <a:endParaRPr lang="en-US"/>
        </a:p>
      </dgm:t>
    </dgm:pt>
    <dgm:pt modelId="{1AE76108-91FB-44D8-8A89-B8E208F7E5CA}">
      <dgm:prSet phldrT="[Text]" custT="1"/>
      <dgm:spPr/>
      <dgm:t>
        <a:bodyPr/>
        <a:lstStyle/>
        <a:p>
          <a:r>
            <a:rPr lang="en-US" sz="2200" dirty="0" smtClean="0"/>
            <a:t>George Alias </a:t>
          </a:r>
        </a:p>
        <a:p>
          <a:r>
            <a:rPr lang="en-US" sz="2200" dirty="0" smtClean="0"/>
            <a:t>QC Manager</a:t>
          </a:r>
          <a:endParaRPr lang="en-US" sz="2200" dirty="0"/>
        </a:p>
      </dgm:t>
    </dgm:pt>
    <dgm:pt modelId="{FB6FE0FF-6322-4547-93AB-8311BC623C08}" type="parTrans" cxnId="{14EE8AC3-0110-4526-90CC-06B68394D9E2}">
      <dgm:prSet/>
      <dgm:spPr/>
      <dgm:t>
        <a:bodyPr/>
        <a:lstStyle/>
        <a:p>
          <a:endParaRPr lang="en-US" sz="2200"/>
        </a:p>
      </dgm:t>
    </dgm:pt>
    <dgm:pt modelId="{0D0D4CAD-4648-4F86-96D2-249E348C9951}" type="sibTrans" cxnId="{14EE8AC3-0110-4526-90CC-06B68394D9E2}">
      <dgm:prSet/>
      <dgm:spPr/>
      <dgm:t>
        <a:bodyPr/>
        <a:lstStyle/>
        <a:p>
          <a:endParaRPr lang="en-US" sz="2200"/>
        </a:p>
      </dgm:t>
    </dgm:pt>
    <dgm:pt modelId="{292949A4-AA05-4E18-B3F5-1798B9517995}">
      <dgm:prSet phldrT="[Text]" custT="1"/>
      <dgm:spPr/>
      <dgm:t>
        <a:bodyPr/>
        <a:lstStyle/>
        <a:p>
          <a:r>
            <a:rPr lang="en-US" sz="2200" dirty="0" err="1" smtClean="0"/>
            <a:t>Priska</a:t>
          </a:r>
          <a:endParaRPr lang="en-US" sz="2200" dirty="0" smtClean="0"/>
        </a:p>
        <a:p>
          <a:r>
            <a:rPr lang="en-US" sz="2200" dirty="0" smtClean="0"/>
            <a:t>Testing Person</a:t>
          </a:r>
          <a:endParaRPr lang="en-US" sz="2200" dirty="0"/>
        </a:p>
      </dgm:t>
    </dgm:pt>
    <dgm:pt modelId="{480A263B-CD14-423A-A0E1-102EAB428708}" type="parTrans" cxnId="{96B205B4-5F7B-470F-9F70-6B6E2AA23B87}">
      <dgm:prSet/>
      <dgm:spPr/>
      <dgm:t>
        <a:bodyPr/>
        <a:lstStyle/>
        <a:p>
          <a:endParaRPr lang="en-US" sz="2200"/>
        </a:p>
      </dgm:t>
    </dgm:pt>
    <dgm:pt modelId="{95DB1844-9FB2-42CD-B947-48E4C21612F4}" type="sibTrans" cxnId="{96B205B4-5F7B-470F-9F70-6B6E2AA23B87}">
      <dgm:prSet/>
      <dgm:spPr/>
      <dgm:t>
        <a:bodyPr/>
        <a:lstStyle/>
        <a:p>
          <a:endParaRPr lang="en-US" sz="2200"/>
        </a:p>
      </dgm:t>
    </dgm:pt>
    <dgm:pt modelId="{4ED53732-3811-40A5-AA40-036D0080E2E6}" type="pres">
      <dgm:prSet presAssocID="{78502359-E29E-4A2D-ACAC-4DCAC351BAD4}" presName="diagram" presStyleCnt="0">
        <dgm:presLayoutVars>
          <dgm:chPref val="1"/>
          <dgm:dir/>
          <dgm:animOne val="branch"/>
          <dgm:animLvl val="lvl"/>
          <dgm:resizeHandles val="exact"/>
        </dgm:presLayoutVars>
      </dgm:prSet>
      <dgm:spPr/>
      <dgm:t>
        <a:bodyPr/>
        <a:lstStyle/>
        <a:p>
          <a:endParaRPr lang="en-US"/>
        </a:p>
      </dgm:t>
    </dgm:pt>
    <dgm:pt modelId="{66599CB7-37A8-450B-94A9-3DCBA1169B13}" type="pres">
      <dgm:prSet presAssocID="{1AE76108-91FB-44D8-8A89-B8E208F7E5CA}" presName="root1" presStyleCnt="0"/>
      <dgm:spPr/>
    </dgm:pt>
    <dgm:pt modelId="{B70911DB-5EA8-4DCC-B136-894C8511BD3F}" type="pres">
      <dgm:prSet presAssocID="{1AE76108-91FB-44D8-8A89-B8E208F7E5CA}" presName="LevelOneTextNode" presStyleLbl="node0" presStyleIdx="0" presStyleCnt="1">
        <dgm:presLayoutVars>
          <dgm:chPref val="3"/>
        </dgm:presLayoutVars>
      </dgm:prSet>
      <dgm:spPr/>
      <dgm:t>
        <a:bodyPr/>
        <a:lstStyle/>
        <a:p>
          <a:endParaRPr lang="en-US"/>
        </a:p>
      </dgm:t>
    </dgm:pt>
    <dgm:pt modelId="{5D4FA36F-7A04-469C-8592-3598445682F6}" type="pres">
      <dgm:prSet presAssocID="{1AE76108-91FB-44D8-8A89-B8E208F7E5CA}" presName="level2hierChild" presStyleCnt="0"/>
      <dgm:spPr/>
    </dgm:pt>
    <dgm:pt modelId="{7EA05D67-9F6A-4142-A1FE-AF793B7155C5}" type="pres">
      <dgm:prSet presAssocID="{480A263B-CD14-423A-A0E1-102EAB428708}" presName="conn2-1" presStyleLbl="parChTrans1D2" presStyleIdx="0" presStyleCnt="1"/>
      <dgm:spPr/>
      <dgm:t>
        <a:bodyPr/>
        <a:lstStyle/>
        <a:p>
          <a:endParaRPr lang="en-US"/>
        </a:p>
      </dgm:t>
    </dgm:pt>
    <dgm:pt modelId="{B8362F1F-B9E9-4A92-A62D-650D7E2500E5}" type="pres">
      <dgm:prSet presAssocID="{480A263B-CD14-423A-A0E1-102EAB428708}" presName="connTx" presStyleLbl="parChTrans1D2" presStyleIdx="0" presStyleCnt="1"/>
      <dgm:spPr/>
      <dgm:t>
        <a:bodyPr/>
        <a:lstStyle/>
        <a:p>
          <a:endParaRPr lang="en-US"/>
        </a:p>
      </dgm:t>
    </dgm:pt>
    <dgm:pt modelId="{F9B2E71E-C530-41D3-8FAC-41D902CE471C}" type="pres">
      <dgm:prSet presAssocID="{292949A4-AA05-4E18-B3F5-1798B9517995}" presName="root2" presStyleCnt="0"/>
      <dgm:spPr/>
    </dgm:pt>
    <dgm:pt modelId="{D7CBB230-4FCC-4B4E-91FD-8169B5CD7C7D}" type="pres">
      <dgm:prSet presAssocID="{292949A4-AA05-4E18-B3F5-1798B9517995}" presName="LevelTwoTextNode" presStyleLbl="node2" presStyleIdx="0" presStyleCnt="1">
        <dgm:presLayoutVars>
          <dgm:chPref val="3"/>
        </dgm:presLayoutVars>
      </dgm:prSet>
      <dgm:spPr/>
      <dgm:t>
        <a:bodyPr/>
        <a:lstStyle/>
        <a:p>
          <a:endParaRPr lang="en-US"/>
        </a:p>
      </dgm:t>
    </dgm:pt>
    <dgm:pt modelId="{580C0974-A890-4E6C-B962-BEDCCBC6EAAF}" type="pres">
      <dgm:prSet presAssocID="{292949A4-AA05-4E18-B3F5-1798B9517995}" presName="level3hierChild" presStyleCnt="0"/>
      <dgm:spPr/>
    </dgm:pt>
  </dgm:ptLst>
  <dgm:cxnLst>
    <dgm:cxn modelId="{2B79BF77-743A-4B6B-8E30-59C03A67E9E8}" type="presOf" srcId="{1AE76108-91FB-44D8-8A89-B8E208F7E5CA}" destId="{B70911DB-5EA8-4DCC-B136-894C8511BD3F}" srcOrd="0" destOrd="0" presId="urn:microsoft.com/office/officeart/2005/8/layout/hierarchy2"/>
    <dgm:cxn modelId="{C499D039-CE71-4ED4-B5A4-D56D7D39B7D9}" type="presOf" srcId="{78502359-E29E-4A2D-ACAC-4DCAC351BAD4}" destId="{4ED53732-3811-40A5-AA40-036D0080E2E6}" srcOrd="0" destOrd="0" presId="urn:microsoft.com/office/officeart/2005/8/layout/hierarchy2"/>
    <dgm:cxn modelId="{96B205B4-5F7B-470F-9F70-6B6E2AA23B87}" srcId="{1AE76108-91FB-44D8-8A89-B8E208F7E5CA}" destId="{292949A4-AA05-4E18-B3F5-1798B9517995}" srcOrd="0" destOrd="0" parTransId="{480A263B-CD14-423A-A0E1-102EAB428708}" sibTransId="{95DB1844-9FB2-42CD-B947-48E4C21612F4}"/>
    <dgm:cxn modelId="{9928C771-C9D1-4252-8651-260B9032465D}" type="presOf" srcId="{480A263B-CD14-423A-A0E1-102EAB428708}" destId="{7EA05D67-9F6A-4142-A1FE-AF793B7155C5}" srcOrd="0" destOrd="0" presId="urn:microsoft.com/office/officeart/2005/8/layout/hierarchy2"/>
    <dgm:cxn modelId="{BB2056EC-BF8A-4231-BA46-95A69B0BBEF1}" type="presOf" srcId="{480A263B-CD14-423A-A0E1-102EAB428708}" destId="{B8362F1F-B9E9-4A92-A62D-650D7E2500E5}" srcOrd="1" destOrd="0" presId="urn:microsoft.com/office/officeart/2005/8/layout/hierarchy2"/>
    <dgm:cxn modelId="{14EE8AC3-0110-4526-90CC-06B68394D9E2}" srcId="{78502359-E29E-4A2D-ACAC-4DCAC351BAD4}" destId="{1AE76108-91FB-44D8-8A89-B8E208F7E5CA}" srcOrd="0" destOrd="0" parTransId="{FB6FE0FF-6322-4547-93AB-8311BC623C08}" sibTransId="{0D0D4CAD-4648-4F86-96D2-249E348C9951}"/>
    <dgm:cxn modelId="{9CE37FBF-A924-4273-8040-47237A46B07D}" type="presOf" srcId="{292949A4-AA05-4E18-B3F5-1798B9517995}" destId="{D7CBB230-4FCC-4B4E-91FD-8169B5CD7C7D}" srcOrd="0" destOrd="0" presId="urn:microsoft.com/office/officeart/2005/8/layout/hierarchy2"/>
    <dgm:cxn modelId="{CF4E35C6-BA69-47FB-B8B6-CCC69F5AE66F}" type="presParOf" srcId="{4ED53732-3811-40A5-AA40-036D0080E2E6}" destId="{66599CB7-37A8-450B-94A9-3DCBA1169B13}" srcOrd="0" destOrd="0" presId="urn:microsoft.com/office/officeart/2005/8/layout/hierarchy2"/>
    <dgm:cxn modelId="{8CFE0953-4855-49BB-828D-F48AF6D7C114}" type="presParOf" srcId="{66599CB7-37A8-450B-94A9-3DCBA1169B13}" destId="{B70911DB-5EA8-4DCC-B136-894C8511BD3F}" srcOrd="0" destOrd="0" presId="urn:microsoft.com/office/officeart/2005/8/layout/hierarchy2"/>
    <dgm:cxn modelId="{241D045D-A6E9-45F7-8C9E-66F9E68DAAF1}" type="presParOf" srcId="{66599CB7-37A8-450B-94A9-3DCBA1169B13}" destId="{5D4FA36F-7A04-469C-8592-3598445682F6}" srcOrd="1" destOrd="0" presId="urn:microsoft.com/office/officeart/2005/8/layout/hierarchy2"/>
    <dgm:cxn modelId="{B9E87938-B8CC-4BDF-84D9-244AC7A9E6E9}" type="presParOf" srcId="{5D4FA36F-7A04-469C-8592-3598445682F6}" destId="{7EA05D67-9F6A-4142-A1FE-AF793B7155C5}" srcOrd="0" destOrd="0" presId="urn:microsoft.com/office/officeart/2005/8/layout/hierarchy2"/>
    <dgm:cxn modelId="{A597A2F4-949B-4F57-8513-36B556F13D55}" type="presParOf" srcId="{7EA05D67-9F6A-4142-A1FE-AF793B7155C5}" destId="{B8362F1F-B9E9-4A92-A62D-650D7E2500E5}" srcOrd="0" destOrd="0" presId="urn:microsoft.com/office/officeart/2005/8/layout/hierarchy2"/>
    <dgm:cxn modelId="{F4B9E9A6-D66E-4824-AB83-19E8CB429C3E}" type="presParOf" srcId="{5D4FA36F-7A04-469C-8592-3598445682F6}" destId="{F9B2E71E-C530-41D3-8FAC-41D902CE471C}" srcOrd="1" destOrd="0" presId="urn:microsoft.com/office/officeart/2005/8/layout/hierarchy2"/>
    <dgm:cxn modelId="{10BFE528-BF7D-4BFA-93EA-F8B4CEC864A9}" type="presParOf" srcId="{F9B2E71E-C530-41D3-8FAC-41D902CE471C}" destId="{D7CBB230-4FCC-4B4E-91FD-8169B5CD7C7D}" srcOrd="0" destOrd="0" presId="urn:microsoft.com/office/officeart/2005/8/layout/hierarchy2"/>
    <dgm:cxn modelId="{68E712E6-E81D-4096-84BC-445C6CFE6134}" type="presParOf" srcId="{F9B2E71E-C530-41D3-8FAC-41D902CE471C}" destId="{580C0974-A890-4E6C-B962-BEDCCBC6EAA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0911DB-5EA8-4DCC-B136-894C8511BD3F}">
      <dsp:nvSpPr>
        <dsp:cNvPr id="0" name=""/>
        <dsp:cNvSpPr/>
      </dsp:nvSpPr>
      <dsp:spPr>
        <a:xfrm>
          <a:off x="30166" y="1527174"/>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smtClean="0"/>
            <a:t>Mohandas P M</a:t>
          </a:r>
        </a:p>
        <a:p>
          <a:pPr lvl="0" algn="ctr" defTabSz="977900">
            <a:lnSpc>
              <a:spcPct val="90000"/>
            </a:lnSpc>
            <a:spcBef>
              <a:spcPct val="0"/>
            </a:spcBef>
            <a:spcAft>
              <a:spcPct val="35000"/>
            </a:spcAft>
          </a:pPr>
          <a:r>
            <a:rPr lang="en-US" sz="2200" kern="1200" dirty="0" smtClean="0"/>
            <a:t>Project Manager</a:t>
          </a:r>
          <a:endParaRPr lang="en-US" sz="2200" kern="1200" dirty="0"/>
        </a:p>
      </dsp:txBody>
      <dsp:txXfrm>
        <a:off x="66764" y="1563772"/>
        <a:ext cx="2425876" cy="1176340"/>
      </dsp:txXfrm>
    </dsp:sp>
    <dsp:sp modelId="{7EA05D67-9F6A-4142-A1FE-AF793B7155C5}">
      <dsp:nvSpPr>
        <dsp:cNvPr id="0" name=""/>
        <dsp:cNvSpPr/>
      </dsp:nvSpPr>
      <dsp:spPr>
        <a:xfrm rot="21496370">
          <a:off x="2529009" y="2109526"/>
          <a:ext cx="1006583" cy="54492"/>
        </a:xfrm>
        <a:custGeom>
          <a:avLst/>
          <a:gdLst/>
          <a:ahLst/>
          <a:cxnLst/>
          <a:rect l="0" t="0" r="0" b="0"/>
          <a:pathLst>
            <a:path>
              <a:moveTo>
                <a:pt x="0" y="27246"/>
              </a:moveTo>
              <a:lnTo>
                <a:pt x="1006583" y="27246"/>
              </a:lnTo>
            </a:path>
          </a:pathLst>
        </a:custGeom>
        <a:noFill/>
        <a:ln w="127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3007137" y="2111608"/>
        <a:ext cx="50329" cy="50329"/>
      </dsp:txXfrm>
    </dsp:sp>
    <dsp:sp modelId="{D7CBB230-4FCC-4B4E-91FD-8169B5CD7C7D}">
      <dsp:nvSpPr>
        <dsp:cNvPr id="0" name=""/>
        <dsp:cNvSpPr/>
      </dsp:nvSpPr>
      <dsp:spPr>
        <a:xfrm>
          <a:off x="3535365" y="1496835"/>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smtClean="0"/>
            <a:t>Suresh S</a:t>
          </a:r>
        </a:p>
        <a:p>
          <a:pPr lvl="0" algn="ctr" defTabSz="977900">
            <a:lnSpc>
              <a:spcPct val="90000"/>
            </a:lnSpc>
            <a:spcBef>
              <a:spcPct val="0"/>
            </a:spcBef>
            <a:spcAft>
              <a:spcPct val="35000"/>
            </a:spcAft>
          </a:pPr>
          <a:r>
            <a:rPr lang="en-US" sz="2200" kern="1200" dirty="0" smtClean="0"/>
            <a:t>Project Leader</a:t>
          </a:r>
          <a:endParaRPr lang="en-US" sz="2200" kern="1200" dirty="0"/>
        </a:p>
      </dsp:txBody>
      <dsp:txXfrm>
        <a:off x="3571963" y="1533433"/>
        <a:ext cx="2425876" cy="1176340"/>
      </dsp:txXfrm>
    </dsp:sp>
    <dsp:sp modelId="{BAF43D86-6EB1-4466-9858-C792F173179C}">
      <dsp:nvSpPr>
        <dsp:cNvPr id="0" name=""/>
        <dsp:cNvSpPr/>
      </dsp:nvSpPr>
      <dsp:spPr>
        <a:xfrm rot="18175528">
          <a:off x="5627449" y="1345939"/>
          <a:ext cx="1783266" cy="54492"/>
        </a:xfrm>
        <a:custGeom>
          <a:avLst/>
          <a:gdLst/>
          <a:ahLst/>
          <a:cxnLst/>
          <a:rect l="0" t="0" r="0" b="0"/>
          <a:pathLst>
            <a:path>
              <a:moveTo>
                <a:pt x="0" y="27246"/>
              </a:moveTo>
              <a:lnTo>
                <a:pt x="1783266" y="27246"/>
              </a:lnTo>
            </a:path>
          </a:pathLst>
        </a:custGeom>
        <a:noFill/>
        <a:ln w="127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a:off x="6474500" y="1328604"/>
        <a:ext cx="89163" cy="89163"/>
      </dsp:txXfrm>
    </dsp:sp>
    <dsp:sp modelId="{150C196B-9E14-49A3-A884-39E42F30B15A}">
      <dsp:nvSpPr>
        <dsp:cNvPr id="0" name=""/>
        <dsp:cNvSpPr/>
      </dsp:nvSpPr>
      <dsp:spPr>
        <a:xfrm>
          <a:off x="7003727" y="0"/>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err="1" smtClean="0"/>
            <a:t>Suraj</a:t>
          </a:r>
          <a:r>
            <a:rPr lang="en-US" sz="2200" kern="1200" dirty="0" smtClean="0"/>
            <a:t> P</a:t>
          </a:r>
        </a:p>
        <a:p>
          <a:pPr lvl="0" algn="ctr" defTabSz="977900">
            <a:lnSpc>
              <a:spcPct val="90000"/>
            </a:lnSpc>
            <a:spcBef>
              <a:spcPct val="0"/>
            </a:spcBef>
            <a:spcAft>
              <a:spcPct val="35000"/>
            </a:spcAft>
          </a:pPr>
          <a:r>
            <a:rPr lang="en-US" sz="2200" kern="1200" dirty="0" smtClean="0"/>
            <a:t>Senior Developer</a:t>
          </a:r>
          <a:endParaRPr lang="en-US" sz="2200" kern="1200" dirty="0"/>
        </a:p>
      </dsp:txBody>
      <dsp:txXfrm>
        <a:off x="7040325" y="36598"/>
        <a:ext cx="2425876" cy="1176340"/>
      </dsp:txXfrm>
    </dsp:sp>
    <dsp:sp modelId="{44BCE971-6DB2-41FF-82A7-61F3C3DF066D}">
      <dsp:nvSpPr>
        <dsp:cNvPr id="0" name=""/>
        <dsp:cNvSpPr/>
      </dsp:nvSpPr>
      <dsp:spPr>
        <a:xfrm rot="21395056">
          <a:off x="6033574" y="2065430"/>
          <a:ext cx="971015" cy="54492"/>
        </a:xfrm>
        <a:custGeom>
          <a:avLst/>
          <a:gdLst/>
          <a:ahLst/>
          <a:cxnLst/>
          <a:rect l="0" t="0" r="0" b="0"/>
          <a:pathLst>
            <a:path>
              <a:moveTo>
                <a:pt x="0" y="27246"/>
              </a:moveTo>
              <a:lnTo>
                <a:pt x="971015" y="27246"/>
              </a:lnTo>
            </a:path>
          </a:pathLst>
        </a:custGeom>
        <a:noFill/>
        <a:ln w="127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6494807" y="2068401"/>
        <a:ext cx="48550" cy="48550"/>
      </dsp:txXfrm>
    </dsp:sp>
    <dsp:sp modelId="{A6FD9E41-0788-4402-82C4-FF8CD9AE264C}">
      <dsp:nvSpPr>
        <dsp:cNvPr id="0" name=""/>
        <dsp:cNvSpPr/>
      </dsp:nvSpPr>
      <dsp:spPr>
        <a:xfrm>
          <a:off x="7003727" y="1438981"/>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smtClean="0"/>
            <a:t>Suresh S</a:t>
          </a:r>
        </a:p>
        <a:p>
          <a:pPr lvl="0" algn="ctr" defTabSz="977900">
            <a:lnSpc>
              <a:spcPct val="90000"/>
            </a:lnSpc>
            <a:spcBef>
              <a:spcPct val="0"/>
            </a:spcBef>
            <a:spcAft>
              <a:spcPct val="35000"/>
            </a:spcAft>
          </a:pPr>
          <a:r>
            <a:rPr lang="en-US" sz="2200" kern="1200" dirty="0" smtClean="0"/>
            <a:t>Senior Developer</a:t>
          </a:r>
          <a:endParaRPr lang="en-US" sz="2200" kern="1200" dirty="0"/>
        </a:p>
      </dsp:txBody>
      <dsp:txXfrm>
        <a:off x="7040325" y="1475579"/>
        <a:ext cx="2425876" cy="1176340"/>
      </dsp:txXfrm>
    </dsp:sp>
    <dsp:sp modelId="{3C65E81D-00EE-4960-BE4A-1CE6188DABEB}">
      <dsp:nvSpPr>
        <dsp:cNvPr id="0" name=""/>
        <dsp:cNvSpPr/>
      </dsp:nvSpPr>
      <dsp:spPr>
        <a:xfrm rot="3293944">
          <a:off x="5676248" y="2783913"/>
          <a:ext cx="1685667" cy="54492"/>
        </a:xfrm>
        <a:custGeom>
          <a:avLst/>
          <a:gdLst/>
          <a:ahLst/>
          <a:cxnLst/>
          <a:rect l="0" t="0" r="0" b="0"/>
          <a:pathLst>
            <a:path>
              <a:moveTo>
                <a:pt x="0" y="27246"/>
              </a:moveTo>
              <a:lnTo>
                <a:pt x="1685667" y="27246"/>
              </a:lnTo>
            </a:path>
          </a:pathLst>
        </a:custGeom>
        <a:noFill/>
        <a:ln w="12700" cap="flat" cmpd="sng" algn="ctr">
          <a:solidFill>
            <a:schemeClr val="dk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a:off x="6476940" y="2769018"/>
        <a:ext cx="84283" cy="84283"/>
      </dsp:txXfrm>
    </dsp:sp>
    <dsp:sp modelId="{92404F5F-D079-4276-810A-E507CBF177E0}">
      <dsp:nvSpPr>
        <dsp:cNvPr id="0" name=""/>
        <dsp:cNvSpPr/>
      </dsp:nvSpPr>
      <dsp:spPr>
        <a:xfrm>
          <a:off x="7003727" y="2875948"/>
          <a:ext cx="2499072" cy="124953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err="1" smtClean="0"/>
            <a:t>Masa</a:t>
          </a:r>
          <a:r>
            <a:rPr lang="en-US" sz="2200" kern="1200" dirty="0" smtClean="0"/>
            <a:t> Yuki Communicative Person</a:t>
          </a:r>
          <a:endParaRPr lang="en-US" sz="2200" kern="1200" dirty="0"/>
        </a:p>
      </dsp:txBody>
      <dsp:txXfrm>
        <a:off x="7040325" y="2912546"/>
        <a:ext cx="2425876" cy="11763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0911DB-5EA8-4DCC-B136-894C8511BD3F}">
      <dsp:nvSpPr>
        <dsp:cNvPr id="0" name=""/>
        <dsp:cNvSpPr/>
      </dsp:nvSpPr>
      <dsp:spPr>
        <a:xfrm>
          <a:off x="4712" y="1074197"/>
          <a:ext cx="3958208" cy="197910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smtClean="0"/>
            <a:t>George Alias </a:t>
          </a:r>
        </a:p>
        <a:p>
          <a:pPr lvl="0" algn="ctr" defTabSz="977900">
            <a:lnSpc>
              <a:spcPct val="90000"/>
            </a:lnSpc>
            <a:spcBef>
              <a:spcPct val="0"/>
            </a:spcBef>
            <a:spcAft>
              <a:spcPct val="35000"/>
            </a:spcAft>
          </a:pPr>
          <a:r>
            <a:rPr lang="en-US" sz="2200" kern="1200" dirty="0" smtClean="0"/>
            <a:t>QC Manager</a:t>
          </a:r>
          <a:endParaRPr lang="en-US" sz="2200" kern="1200" dirty="0"/>
        </a:p>
      </dsp:txBody>
      <dsp:txXfrm>
        <a:off x="62678" y="1132163"/>
        <a:ext cx="3842276" cy="1863172"/>
      </dsp:txXfrm>
    </dsp:sp>
    <dsp:sp modelId="{7EA05D67-9F6A-4142-A1FE-AF793B7155C5}">
      <dsp:nvSpPr>
        <dsp:cNvPr id="0" name=""/>
        <dsp:cNvSpPr/>
      </dsp:nvSpPr>
      <dsp:spPr>
        <a:xfrm>
          <a:off x="3962920" y="2020595"/>
          <a:ext cx="1583283" cy="86308"/>
        </a:xfrm>
        <a:custGeom>
          <a:avLst/>
          <a:gdLst/>
          <a:ahLst/>
          <a:cxnLst/>
          <a:rect l="0" t="0" r="0" b="0"/>
          <a:pathLst>
            <a:path>
              <a:moveTo>
                <a:pt x="0" y="43154"/>
              </a:moveTo>
              <a:lnTo>
                <a:pt x="1583283" y="43154"/>
              </a:lnTo>
            </a:path>
          </a:pathLst>
        </a:custGeom>
        <a:noFill/>
        <a:ln w="127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714980" y="2024167"/>
        <a:ext cx="79164" cy="79164"/>
      </dsp:txXfrm>
    </dsp:sp>
    <dsp:sp modelId="{D7CBB230-4FCC-4B4E-91FD-8169B5CD7C7D}">
      <dsp:nvSpPr>
        <dsp:cNvPr id="0" name=""/>
        <dsp:cNvSpPr/>
      </dsp:nvSpPr>
      <dsp:spPr>
        <a:xfrm>
          <a:off x="5546204" y="1074197"/>
          <a:ext cx="3958208" cy="1979104"/>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err="1" smtClean="0"/>
            <a:t>Priska</a:t>
          </a:r>
          <a:endParaRPr lang="en-US" sz="2200" kern="1200" dirty="0" smtClean="0"/>
        </a:p>
        <a:p>
          <a:pPr lvl="0" algn="ctr" defTabSz="977900">
            <a:lnSpc>
              <a:spcPct val="90000"/>
            </a:lnSpc>
            <a:spcBef>
              <a:spcPct val="0"/>
            </a:spcBef>
            <a:spcAft>
              <a:spcPct val="35000"/>
            </a:spcAft>
          </a:pPr>
          <a:r>
            <a:rPr lang="en-US" sz="2200" kern="1200" dirty="0" smtClean="0"/>
            <a:t>Testing Person</a:t>
          </a:r>
          <a:endParaRPr lang="en-US" sz="2200" kern="1200" dirty="0"/>
        </a:p>
      </dsp:txBody>
      <dsp:txXfrm>
        <a:off x="5604170" y="1132163"/>
        <a:ext cx="3842276" cy="186317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pPr/>
              <a:t>6/24/2019</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pPr/>
              <a:t>‹#›</a:t>
            </a:fld>
            <a:endParaRPr/>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pPr/>
              <a:t>6/24/2019</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pPr/>
              <a:t>‹#›</a:t>
            </a:fld>
            <a:endParaRPr/>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a:t>
            </a:fld>
            <a:endParaRPr lang="en-US"/>
          </a:p>
        </p:txBody>
      </p:sp>
    </p:spTree>
    <p:extLst>
      <p:ext uri="{BB962C8B-B14F-4D97-AF65-F5344CB8AC3E}">
        <p14:creationId xmlns:p14="http://schemas.microsoft.com/office/powerpoint/2010/main" val="1555677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b="0" i="1"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7FB667E1-E601-4AAF-B95C-B25720D70A60}" type="slidenum">
              <a:rPr lang="en-US" smtClean="0"/>
              <a:pPr/>
              <a:t>2</a:t>
            </a:fld>
            <a:endParaRPr lang="en-US"/>
          </a:p>
        </p:txBody>
      </p:sp>
    </p:spTree>
    <p:extLst>
      <p:ext uri="{BB962C8B-B14F-4D97-AF65-F5344CB8AC3E}">
        <p14:creationId xmlns:p14="http://schemas.microsoft.com/office/powerpoint/2010/main" val="2909310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Make bullet points similar</a:t>
            </a:r>
            <a:r>
              <a:rPr lang="en-US" baseline="0" dirty="0" smtClean="0"/>
              <a:t> to the example bellow</a:t>
            </a:r>
          </a:p>
          <a:p>
            <a:pPr marL="228600" indent="-228600">
              <a:buFont typeface="Arial" pitchFamily="34" charset="0"/>
              <a:buChar char="•"/>
            </a:pPr>
            <a:r>
              <a:rPr lang="en-US" dirty="0" smtClean="0"/>
              <a:t>C-Works: A Japanese corporate who is focusing on  construction related software products.</a:t>
            </a:r>
          </a:p>
          <a:p>
            <a:pPr marL="228600" indent="-228600">
              <a:buFont typeface="Arial" pitchFamily="34" charset="0"/>
              <a:buChar char="•"/>
            </a:pPr>
            <a:r>
              <a:rPr lang="en-US" dirty="0" smtClean="0"/>
              <a:t>They have been using the standard data exchange format of AutoCAD.</a:t>
            </a:r>
          </a:p>
          <a:p>
            <a:pPr marL="228600" indent="-228600">
              <a:buFont typeface="Arial" pitchFamily="34" charset="0"/>
              <a:buChar char="•"/>
            </a:pPr>
            <a:r>
              <a:rPr lang="en-US" dirty="0" smtClean="0"/>
              <a:t>Their major product is C-Works CAD</a:t>
            </a:r>
          </a:p>
          <a:p>
            <a:pPr marL="685800" lvl="1" indent="-228600">
              <a:buFont typeface="Arial" pitchFamily="34" charset="0"/>
              <a:buChar char="•"/>
            </a:pPr>
            <a:r>
              <a:rPr lang="en-US" dirty="0" smtClean="0"/>
              <a:t>This system accepts the AutoCAD drawings and process them to create scaffoldings design for the proposed building project and make necessary cost and material estimation for the SCAFFOLDING.</a:t>
            </a:r>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3</a:t>
            </a:fld>
            <a:endParaRPr lang="en-US"/>
          </a:p>
        </p:txBody>
      </p:sp>
    </p:spTree>
    <p:extLst>
      <p:ext uri="{BB962C8B-B14F-4D97-AF65-F5344CB8AC3E}">
        <p14:creationId xmlns:p14="http://schemas.microsoft.com/office/powerpoint/2010/main" val="1148430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Make bullet points similar</a:t>
            </a:r>
            <a:r>
              <a:rPr lang="en-US" baseline="0" dirty="0" smtClean="0"/>
              <a:t> to the example bellow. You may need </a:t>
            </a:r>
            <a:r>
              <a:rPr lang="en-US" dirty="0" smtClean="0"/>
              <a:t>more than one slide:</a:t>
            </a:r>
          </a:p>
          <a:p>
            <a:pPr>
              <a:buFont typeface="Arial" pitchFamily="34" charset="0"/>
              <a:buChar char="•"/>
            </a:pPr>
            <a:r>
              <a:rPr lang="en-US" dirty="0" smtClean="0"/>
              <a:t>Currently  the C-Works CAD system has issues with processing the latest versions of AutoCAD drawing files.</a:t>
            </a:r>
          </a:p>
          <a:p>
            <a:pPr>
              <a:buFont typeface="Arial" pitchFamily="34" charset="0"/>
              <a:buChar char="•"/>
            </a:pPr>
            <a:r>
              <a:rPr lang="en-US" dirty="0" smtClean="0"/>
              <a:t>As a solution for the above issue we are going to develop a system which converts the standard AutoCAD file format to a neutral data exchange format (CXF format) .</a:t>
            </a:r>
          </a:p>
          <a:p>
            <a:pPr>
              <a:buFont typeface="Arial" pitchFamily="34" charset="0"/>
              <a:buChar char="•"/>
            </a:pPr>
            <a:r>
              <a:rPr lang="en-US" dirty="0" smtClean="0"/>
              <a:t>Custom format should contain all information about the objects in the AutoCAD drawing files in a simple text format.</a:t>
            </a:r>
          </a:p>
          <a:p>
            <a:pPr>
              <a:buFont typeface="Arial" pitchFamily="34" charset="0"/>
              <a:buChar char="•"/>
            </a:pPr>
            <a:r>
              <a:rPr lang="en-US" dirty="0" smtClean="0"/>
              <a:t>The neutral format will be processed by the C-Works CAD system to process the drawing files.</a:t>
            </a:r>
          </a:p>
          <a:p>
            <a:pPr>
              <a:buFont typeface="Arial" pitchFamily="34" charset="0"/>
              <a:buChar char="•"/>
            </a:pPr>
            <a:r>
              <a:rPr lang="en-US" dirty="0" smtClean="0"/>
              <a:t>Our proposed project interacts with the following software</a:t>
            </a:r>
          </a:p>
          <a:p>
            <a:pPr lvl="1">
              <a:buFont typeface="Arial" pitchFamily="34" charset="0"/>
              <a:buChar char="•"/>
            </a:pPr>
            <a:r>
              <a:rPr lang="en-US" dirty="0" smtClean="0"/>
              <a:t>AutoCAD System</a:t>
            </a:r>
          </a:p>
          <a:p>
            <a:pPr lvl="1">
              <a:buFont typeface="Arial" pitchFamily="34" charset="0"/>
              <a:buChar char="•"/>
            </a:pPr>
            <a:r>
              <a:rPr lang="en-US" dirty="0" smtClean="0"/>
              <a:t>C-</a:t>
            </a:r>
            <a:r>
              <a:rPr lang="en-US" dirty="0" err="1" smtClean="0"/>
              <a:t>WorksCAD</a:t>
            </a:r>
            <a:r>
              <a:rPr lang="en-US" dirty="0" smtClean="0"/>
              <a:t> System</a:t>
            </a:r>
          </a:p>
          <a:p>
            <a:pPr>
              <a:buFont typeface="Arial" pitchFamily="34" charset="0"/>
              <a:buChar char="•"/>
            </a:pPr>
            <a:r>
              <a:rPr lang="en-US" dirty="0" smtClean="0"/>
              <a:t>Reverse conversion from CXF format to drawing files also need to be considered.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4</a:t>
            </a:fld>
            <a:endParaRPr lang="en-US"/>
          </a:p>
        </p:txBody>
      </p:sp>
    </p:spTree>
    <p:extLst>
      <p:ext uri="{BB962C8B-B14F-4D97-AF65-F5344CB8AC3E}">
        <p14:creationId xmlns:p14="http://schemas.microsoft.com/office/powerpoint/2010/main" val="4265826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Fill in the </a:t>
            </a:r>
            <a:r>
              <a:rPr lang="en-US" dirty="0" err="1" smtClean="0"/>
              <a:t>informations</a:t>
            </a:r>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5</a:t>
            </a:fld>
            <a:endParaRPr lang="en-US"/>
          </a:p>
        </p:txBody>
      </p:sp>
    </p:spTree>
    <p:extLst>
      <p:ext uri="{BB962C8B-B14F-4D97-AF65-F5344CB8AC3E}">
        <p14:creationId xmlns:p14="http://schemas.microsoft.com/office/powerpoint/2010/main" val="4265826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Follow the example given</a:t>
            </a:r>
            <a:r>
              <a:rPr lang="en-US" baseline="0" dirty="0" smtClean="0"/>
              <a:t> in the slide and provide the actual data corresponds to your project</a:t>
            </a:r>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6</a:t>
            </a:fld>
            <a:endParaRPr lang="en-US"/>
          </a:p>
        </p:txBody>
      </p:sp>
    </p:spTree>
    <p:extLst>
      <p:ext uri="{BB962C8B-B14F-4D97-AF65-F5344CB8AC3E}">
        <p14:creationId xmlns:p14="http://schemas.microsoft.com/office/powerpoint/2010/main" val="1318839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Follow the example given</a:t>
            </a:r>
            <a:r>
              <a:rPr lang="en-US" baseline="0" dirty="0" smtClean="0"/>
              <a:t> in the slide and provide the actual data corresponds to your project</a:t>
            </a:r>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7</a:t>
            </a:fld>
            <a:endParaRPr lang="en-US"/>
          </a:p>
        </p:txBody>
      </p:sp>
    </p:spTree>
    <p:extLst>
      <p:ext uri="{BB962C8B-B14F-4D97-AF65-F5344CB8AC3E}">
        <p14:creationId xmlns:p14="http://schemas.microsoft.com/office/powerpoint/2010/main" val="1369676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a:t>
            </a:r>
            <a:r>
              <a:rPr lang="en-US" dirty="0" smtClean="0"/>
              <a:t>slide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8</a:t>
            </a:fld>
            <a:endParaRPr lang="en-US"/>
          </a:p>
        </p:txBody>
      </p:sp>
    </p:spTree>
    <p:extLst>
      <p:ext uri="{BB962C8B-B14F-4D97-AF65-F5344CB8AC3E}">
        <p14:creationId xmlns:p14="http://schemas.microsoft.com/office/powerpoint/2010/main" val="2015115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a:t>
            </a:r>
            <a:r>
              <a:rPr lang="en-US" dirty="0" smtClean="0"/>
              <a:t>slide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9</a:t>
            </a:fld>
            <a:endParaRPr lang="en-US"/>
          </a:p>
        </p:txBody>
      </p:sp>
    </p:spTree>
    <p:extLst>
      <p:ext uri="{BB962C8B-B14F-4D97-AF65-F5344CB8AC3E}">
        <p14:creationId xmlns:p14="http://schemas.microsoft.com/office/powerpoint/2010/main" val="2015115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12</a:t>
            </a:fld>
            <a:endParaRPr lang="en-US"/>
          </a:p>
        </p:txBody>
      </p:sp>
    </p:spTree>
    <p:extLst>
      <p:ext uri="{BB962C8B-B14F-4D97-AF65-F5344CB8AC3E}">
        <p14:creationId xmlns:p14="http://schemas.microsoft.com/office/powerpoint/2010/main" val="578414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13</a:t>
            </a:fld>
            <a:endParaRPr lang="en-US"/>
          </a:p>
        </p:txBody>
      </p:sp>
    </p:spTree>
    <p:extLst>
      <p:ext uri="{BB962C8B-B14F-4D97-AF65-F5344CB8AC3E}">
        <p14:creationId xmlns:p14="http://schemas.microsoft.com/office/powerpoint/2010/main" val="578414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14</a:t>
            </a:fld>
            <a:endParaRPr lang="en-US"/>
          </a:p>
        </p:txBody>
      </p:sp>
    </p:spTree>
    <p:extLst>
      <p:ext uri="{BB962C8B-B14F-4D97-AF65-F5344CB8AC3E}">
        <p14:creationId xmlns:p14="http://schemas.microsoft.com/office/powerpoint/2010/main" val="578414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15</a:t>
            </a:fld>
            <a:endParaRPr lang="en-US"/>
          </a:p>
        </p:txBody>
      </p:sp>
    </p:spTree>
    <p:extLst>
      <p:ext uri="{BB962C8B-B14F-4D97-AF65-F5344CB8AC3E}">
        <p14:creationId xmlns:p14="http://schemas.microsoft.com/office/powerpoint/2010/main" val="5784147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16</a:t>
            </a:fld>
            <a:endParaRPr lang="en-US"/>
          </a:p>
        </p:txBody>
      </p:sp>
    </p:spTree>
    <p:extLst>
      <p:ext uri="{BB962C8B-B14F-4D97-AF65-F5344CB8AC3E}">
        <p14:creationId xmlns:p14="http://schemas.microsoft.com/office/powerpoint/2010/main" val="5784147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17</a:t>
            </a:fld>
            <a:endParaRPr lang="en-US"/>
          </a:p>
        </p:txBody>
      </p:sp>
    </p:spTree>
    <p:extLst>
      <p:ext uri="{BB962C8B-B14F-4D97-AF65-F5344CB8AC3E}">
        <p14:creationId xmlns:p14="http://schemas.microsoft.com/office/powerpoint/2010/main" val="59900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pPr/>
              <a:t>19</a:t>
            </a:fld>
            <a:endParaRPr lang="en-US"/>
          </a:p>
        </p:txBody>
      </p:sp>
    </p:spTree>
    <p:extLst>
      <p:ext uri="{BB962C8B-B14F-4D97-AF65-F5344CB8AC3E}">
        <p14:creationId xmlns:p14="http://schemas.microsoft.com/office/powerpoint/2010/main" val="1214956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pPr/>
              <a:t>20</a:t>
            </a:fld>
            <a:endParaRPr lang="en-US"/>
          </a:p>
        </p:txBody>
      </p:sp>
    </p:spTree>
    <p:extLst>
      <p:ext uri="{BB962C8B-B14F-4D97-AF65-F5344CB8AC3E}">
        <p14:creationId xmlns:p14="http://schemas.microsoft.com/office/powerpoint/2010/main" val="1214956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Follow the example given</a:t>
            </a:r>
            <a:r>
              <a:rPr lang="en-US" baseline="0" dirty="0" smtClean="0"/>
              <a:t> in the slide and provide the actual data corresponds to your project</a:t>
            </a:r>
            <a:endParaRPr lang="en-US" dirty="0" smtClean="0"/>
          </a:p>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21</a:t>
            </a:fld>
            <a:endParaRPr lang="en-US"/>
          </a:p>
        </p:txBody>
      </p:sp>
    </p:spTree>
    <p:extLst>
      <p:ext uri="{BB962C8B-B14F-4D97-AF65-F5344CB8AC3E}">
        <p14:creationId xmlns:p14="http://schemas.microsoft.com/office/powerpoint/2010/main" val="1248993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FB667E1-E601-4AAF-B95C-B25720D70A60}" type="slidenum">
              <a:rPr lang="en-US" smtClean="0"/>
              <a:pPr/>
              <a:t>22</a:t>
            </a:fld>
            <a:endParaRPr lang="en-US"/>
          </a:p>
        </p:txBody>
      </p:sp>
    </p:spTree>
    <p:extLst>
      <p:ext uri="{BB962C8B-B14F-4D97-AF65-F5344CB8AC3E}">
        <p14:creationId xmlns:p14="http://schemas.microsoft.com/office/powerpoint/2010/main" val="28804259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bwMode="ltGray">
          <a:xfrm>
            <a:off x="-2" y="4754880"/>
            <a:ext cx="12192002" cy="21031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6" name="Rectangle 5"/>
          <p:cNvSpPr/>
          <p:nvPr/>
        </p:nvSpPr>
        <p:spPr bwMode="white">
          <a:xfrm>
            <a:off x="-127" y="4724400"/>
            <a:ext cx="12188826" cy="76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3999" y="4800600"/>
            <a:ext cx="9144002" cy="1143000"/>
          </a:xfrm>
        </p:spPr>
        <p:txBody>
          <a:bodyPr anchor="b">
            <a:normAutofit/>
          </a:bodyPr>
          <a:lstStyle>
            <a:lvl1pPr algn="ctr">
              <a:defRPr sz="4800">
                <a:solidFill>
                  <a:schemeClr val="bg1"/>
                </a:solidFill>
              </a:defRPr>
            </a:lvl1pPr>
          </a:lstStyle>
          <a:p>
            <a:r>
              <a:rPr lang="en-US" smtClean="0"/>
              <a:t>Click to edit Master title style</a:t>
            </a:r>
            <a:endParaRPr/>
          </a:p>
        </p:txBody>
      </p:sp>
      <p:sp>
        <p:nvSpPr>
          <p:cNvPr id="3" name="Subtitle 2"/>
          <p:cNvSpPr>
            <a:spLocks noGrp="1"/>
          </p:cNvSpPr>
          <p:nvPr>
            <p:ph type="subTitle" idx="1"/>
          </p:nvPr>
        </p:nvSpPr>
        <p:spPr>
          <a:xfrm>
            <a:off x="1522413" y="5943600"/>
            <a:ext cx="9144002" cy="762000"/>
          </a:xfrm>
        </p:spPr>
        <p:txBody>
          <a:bodyPr>
            <a:normAutofit/>
          </a:bodyPr>
          <a:lstStyle>
            <a:lvl1pPr marL="0" indent="0" algn="ctr">
              <a:spcBef>
                <a:spcPts val="0"/>
              </a:spcBef>
              <a:buNone/>
              <a:defRPr sz="2000" cap="none" baseline="0">
                <a:solidFill>
                  <a:schemeClr val="bg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a:p>
        </p:txBody>
      </p:sp>
      <p:pic>
        <p:nvPicPr>
          <p:cNvPr id="1026" name="Picture 2" descr="D:\Users\Mohandas\AppData\Local\Microsoft\Windows\Temporary Internet Files\Content.Outlook\O8ZW7CZ1\company_logo (2).png"/>
          <p:cNvPicPr>
            <a:picLocks noChangeAspect="1" noChangeArrowheads="1"/>
          </p:cNvPicPr>
          <p:nvPr userDrawn="1"/>
        </p:nvPicPr>
        <p:blipFill>
          <a:blip r:embed="rId2"/>
          <a:srcRect/>
          <a:stretch>
            <a:fillRect/>
          </a:stretch>
        </p:blipFill>
        <p:spPr bwMode="auto">
          <a:xfrm>
            <a:off x="5029200" y="1066800"/>
            <a:ext cx="2095500" cy="2600325"/>
          </a:xfrm>
          <a:prstGeom prst="rect">
            <a:avLst/>
          </a:prstGeom>
          <a:noFill/>
        </p:spPr>
      </p:pic>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1120" y="685800"/>
            <a:ext cx="9509760" cy="1014984"/>
          </a:xfrm>
        </p:spPr>
        <p:txBody>
          <a:bodyPr/>
          <a:lstStyle/>
          <a:p>
            <a:r>
              <a:rPr lang="en-US" smtClean="0"/>
              <a:t>Click to edit Master title style</a:t>
            </a:r>
            <a:endParaRPr/>
          </a:p>
        </p:txBody>
      </p:sp>
      <p:sp>
        <p:nvSpPr>
          <p:cNvPr id="3" name="Content Placeholder 2"/>
          <p:cNvSpPr>
            <a:spLocks noGrp="1"/>
          </p:cNvSpPr>
          <p:nvPr>
            <p:ph idx="1"/>
          </p:nvPr>
        </p:nvSpPr>
        <p:spPr/>
        <p:txBody>
          <a:bodyPr/>
          <a:lstStyle>
            <a:lvl6pPr>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dirty="0"/>
          </a:p>
        </p:txBody>
      </p:sp>
      <p:sp>
        <p:nvSpPr>
          <p:cNvPr id="6" name="Slide Number Placeholder 5"/>
          <p:cNvSpPr>
            <a:spLocks noGrp="1"/>
          </p:cNvSpPr>
          <p:nvPr>
            <p:ph type="sldNum" sz="quarter" idx="12"/>
          </p:nvPr>
        </p:nvSpPr>
        <p:spPr/>
        <p:txBody>
          <a:bodyPr/>
          <a:lstStyle/>
          <a:p>
            <a:fld id="{CA8D9AD5-F248-4919-864A-CFD76CC027D6}" type="slidenum">
              <a:rPr/>
              <a:pPr/>
              <a:t>‹#›</a:t>
            </a:fld>
            <a:endParaRPr dirty="0"/>
          </a:p>
        </p:txBody>
      </p:sp>
      <p:pic>
        <p:nvPicPr>
          <p:cNvPr id="7" name="Picture 2"/>
          <p:cNvPicPr>
            <a:picLocks noChangeAspect="1" noChangeArrowheads="1"/>
          </p:cNvPicPr>
          <p:nvPr userDrawn="1"/>
        </p:nvPicPr>
        <p:blipFill>
          <a:blip r:embed="rId2"/>
          <a:srcRect/>
          <a:stretch>
            <a:fillRect/>
          </a:stretch>
        </p:blipFill>
        <p:spPr bwMode="auto">
          <a:xfrm>
            <a:off x="9067800" y="0"/>
            <a:ext cx="2105025" cy="561975"/>
          </a:xfrm>
          <a:prstGeom prst="rect">
            <a:avLst/>
          </a:prstGeom>
          <a:noFill/>
          <a:ln w="9525">
            <a:noFill/>
            <a:miter lim="800000"/>
            <a:headEnd/>
            <a:tailEnd/>
          </a:ln>
          <a:effectLst/>
        </p:spPr>
      </p:pic>
      <p:cxnSp>
        <p:nvCxnSpPr>
          <p:cNvPr id="8" name="Straight Connector 7"/>
          <p:cNvCxnSpPr/>
          <p:nvPr userDrawn="1"/>
        </p:nvCxnSpPr>
        <p:spPr>
          <a:xfrm>
            <a:off x="1371600" y="609600"/>
            <a:ext cx="9496425" cy="10885"/>
          </a:xfrm>
          <a:prstGeom prst="line">
            <a:avLst/>
          </a:prstGeom>
          <a:ln w="127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88826" cy="4572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8" name="Rectangle 7"/>
          <p:cNvSpPr/>
          <p:nvPr/>
        </p:nvSpPr>
        <p:spPr bwMode="white">
          <a:xfrm>
            <a:off x="-1" y="4114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524000" y="1143000"/>
            <a:ext cx="9144000" cy="2667000"/>
          </a:xfrm>
        </p:spPr>
        <p:txBody>
          <a:bodyPr anchor="b">
            <a:normAutofit/>
          </a:bodyPr>
          <a:lstStyle>
            <a:lvl1pPr algn="ctr">
              <a:defRPr sz="5200" b="0"/>
            </a:lvl1pPr>
          </a:lstStyle>
          <a:p>
            <a:r>
              <a:rPr lang="en-US" smtClean="0"/>
              <a:t>Click to edit Master title style</a:t>
            </a:r>
            <a:endParaRPr/>
          </a:p>
        </p:txBody>
      </p:sp>
      <p:sp>
        <p:nvSpPr>
          <p:cNvPr id="3" name="Text Placeholder 2"/>
          <p:cNvSpPr>
            <a:spLocks noGrp="1"/>
          </p:cNvSpPr>
          <p:nvPr>
            <p:ph type="body" idx="1"/>
          </p:nvPr>
        </p:nvSpPr>
        <p:spPr>
          <a:xfrm>
            <a:off x="1524000" y="3810000"/>
            <a:ext cx="9144000" cy="1143000"/>
          </a:xfrm>
        </p:spPr>
        <p:txBody>
          <a:bodyPr anchor="t">
            <a:normAutofit/>
          </a:bodyPr>
          <a:lstStyle>
            <a:lvl1pPr marL="0" indent="0" algn="ctr">
              <a:spcBef>
                <a:spcPts val="0"/>
              </a:spcBef>
              <a:buNone/>
              <a:defRPr sz="2400" cap="none"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27158437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lternate 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524000" y="1143000"/>
            <a:ext cx="9144000" cy="2667000"/>
          </a:xfrm>
        </p:spPr>
        <p:txBody>
          <a:bodyPr anchor="b">
            <a:normAutofit/>
          </a:bodyPr>
          <a:lstStyle>
            <a:lvl1pPr algn="ctr">
              <a:defRPr sz="5200" b="0">
                <a:solidFill>
                  <a:schemeClr val="tx1"/>
                </a:solidFill>
              </a:defRPr>
            </a:lvl1pPr>
          </a:lstStyle>
          <a:p>
            <a:r>
              <a:rPr lang="en-US" smtClean="0"/>
              <a:t>Click to edit Master title style</a:t>
            </a:r>
            <a:endParaRPr/>
          </a:p>
        </p:txBody>
      </p:sp>
      <p:sp>
        <p:nvSpPr>
          <p:cNvPr id="3" name="Text Placeholder 2"/>
          <p:cNvSpPr>
            <a:spLocks noGrp="1"/>
          </p:cNvSpPr>
          <p:nvPr>
            <p:ph type="body" idx="1"/>
          </p:nvPr>
        </p:nvSpPr>
        <p:spPr>
          <a:xfrm>
            <a:off x="1522413" y="3810000"/>
            <a:ext cx="9144000" cy="1143000"/>
          </a:xfrm>
        </p:spPr>
        <p:txBody>
          <a:bodyPr anchor="t">
            <a:normAutofit/>
          </a:bodyPr>
          <a:lstStyle>
            <a:lvl1pPr marL="0" indent="0" algn="ctr">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lvl1pPr>
              <a:defRPr>
                <a:solidFill>
                  <a:schemeClr val="tx2"/>
                </a:solidFill>
              </a:defRPr>
            </a:lvl1p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2804328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34112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7888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7" name="Slide Number Placeholder 6"/>
          <p:cNvSpPr>
            <a:spLocks noGrp="1"/>
          </p:cNvSpPr>
          <p:nvPr>
            <p:ph type="sldNum" sz="quarter" idx="12"/>
          </p:nvPr>
        </p:nvSpPr>
        <p:spPr/>
        <p:txBody>
          <a:bodyPr/>
          <a:lstStyle/>
          <a:p>
            <a:fld id="{A0ECE5F2-81AA-4605-B028-6FBA391056AF}" type="slidenum">
              <a:rPr/>
              <a:pPr/>
              <a:t>‹#›</a:t>
            </a:fld>
            <a:endParaRPr/>
          </a:p>
        </p:txBody>
      </p:sp>
    </p:spTree>
    <p:extLst>
      <p:ext uri="{BB962C8B-B14F-4D97-AF65-F5344CB8AC3E}">
        <p14:creationId xmlns:p14="http://schemas.microsoft.com/office/powerpoint/2010/main" val="311707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41120" y="466344"/>
            <a:ext cx="9509760" cy="1234440"/>
          </a:xfrm>
        </p:spPr>
        <p:txBody>
          <a:bodyPr/>
          <a:lstStyle/>
          <a:p>
            <a:r>
              <a:rPr lang="en-US" smtClean="0"/>
              <a:t>Click to edit Master title style</a:t>
            </a:r>
            <a:endParaRPr/>
          </a:p>
        </p:txBody>
      </p:sp>
      <p:sp>
        <p:nvSpPr>
          <p:cNvPr id="3" name="Text Placeholder 2"/>
          <p:cNvSpPr>
            <a:spLocks noGrp="1"/>
          </p:cNvSpPr>
          <p:nvPr>
            <p:ph type="body" idx="1"/>
          </p:nvPr>
        </p:nvSpPr>
        <p:spPr>
          <a:xfrm>
            <a:off x="134112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4112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7888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7888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smtClean="0"/>
              <a:t>Indocosmo Systems Pvt. Ltd. All Rights Reserved</a:t>
            </a:r>
            <a:endParaRPr/>
          </a:p>
        </p:txBody>
      </p:sp>
      <p:sp>
        <p:nvSpPr>
          <p:cNvPr id="9" name="Slide Number Placeholder 8"/>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405708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smtClean="0"/>
              <a:t>Indocosmo Systems Pvt. Ltd. All Rights Reserved</a:t>
            </a:r>
            <a:endParaRPr/>
          </a:p>
        </p:txBody>
      </p:sp>
      <p:sp>
        <p:nvSpPr>
          <p:cNvPr id="5" name="Slide Number Placeholder 4"/>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tx2"/>
                </a:solidFill>
              </a:defRPr>
            </a:lvl1pPr>
          </a:lstStyle>
          <a:p>
            <a:r>
              <a:rPr lang="en-US" smtClean="0"/>
              <a:t>Indocosmo Systems Pvt. Ltd. All Rights Reserved</a:t>
            </a:r>
            <a:endParaRPr/>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0412" y="2362200"/>
            <a:ext cx="3200400" cy="1990725"/>
          </a:xfrm>
        </p:spPr>
        <p:txBody>
          <a:bodyPr anchor="b">
            <a:normAutofit/>
          </a:bodyPr>
          <a:lstStyle>
            <a:lvl1pPr>
              <a:defRPr sz="3400" b="0"/>
            </a:lvl1pPr>
          </a:lstStyle>
          <a:p>
            <a:r>
              <a:rPr lang="en-US" smtClean="0"/>
              <a:t>Click to edit Master title style</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Content Placeholder 2"/>
          <p:cNvSpPr>
            <a:spLocks noGrp="1"/>
          </p:cNvSpPr>
          <p:nvPr>
            <p:ph idx="1"/>
          </p:nvPr>
        </p:nvSpPr>
        <p:spPr>
          <a:xfrm>
            <a:off x="4494212" y="685800"/>
            <a:ext cx="7239001"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5" name="Date Placeholder 4"/>
          <p:cNvSpPr>
            <a:spLocks noGrp="1"/>
          </p:cNvSpPr>
          <p:nvPr>
            <p:ph type="dt" sz="half" idx="10"/>
          </p:nvPr>
        </p:nvSpPr>
        <p:spPr/>
        <p:txBody>
          <a:bodyPr/>
          <a:lstStyle/>
          <a:p>
            <a:fld id="{D4ABB286-16C3-4783-AA2A-B9EBBA081DDE}" type="datetime1">
              <a:rPr lang="en-US" smtClean="0"/>
              <a:pPr/>
              <a:t>6/24/2019</a:t>
            </a:fld>
            <a:endParaRPr/>
          </a:p>
        </p:txBody>
      </p:sp>
      <p:sp>
        <p:nvSpPr>
          <p:cNvPr id="7" name="Slide Number Placeholder 6"/>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Alternate Content with Caption">
    <p:spTree>
      <p:nvGrpSpPr>
        <p:cNvPr id="1" name=""/>
        <p:cNvGrpSpPr/>
        <p:nvPr/>
      </p:nvGrpSpPr>
      <p:grpSpPr>
        <a:xfrm>
          <a:off x="0" y="0"/>
          <a:ext cx="0" cy="0"/>
          <a:chOff x="0" y="0"/>
          <a:chExt cx="0" cy="0"/>
        </a:xfrm>
      </p:grpSpPr>
      <p:sp>
        <p:nvSpPr>
          <p:cNvPr id="8" name="Rectangle 7"/>
          <p:cNvSpPr/>
          <p:nvPr/>
        </p:nvSpPr>
        <p:spPr bwMode="ltGray">
          <a:xfrm>
            <a:off x="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60412" y="2362200"/>
            <a:ext cx="3200400" cy="1990725"/>
          </a:xfrm>
        </p:spPr>
        <p:txBody>
          <a:bodyPr anchor="b">
            <a:normAutofit/>
          </a:bodyPr>
          <a:lstStyle>
            <a:lvl1pPr>
              <a:defRPr sz="34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Content Placeholder 2"/>
          <p:cNvSpPr>
            <a:spLocks noGrp="1"/>
          </p:cNvSpPr>
          <p:nvPr>
            <p:ph idx="1"/>
          </p:nvPr>
        </p:nvSpPr>
        <p:spPr>
          <a:xfrm>
            <a:off x="5362892" y="685800"/>
            <a:ext cx="637032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5" name="Date Placeholder 4"/>
          <p:cNvSpPr>
            <a:spLocks noGrp="1"/>
          </p:cNvSpPr>
          <p:nvPr>
            <p:ph type="dt" sz="half" idx="10"/>
          </p:nvPr>
        </p:nvSpPr>
        <p:spPr/>
        <p:txBody>
          <a:bodyPr/>
          <a:lstStyle>
            <a:lvl1pPr>
              <a:defRPr>
                <a:solidFill>
                  <a:schemeClr val="tx2"/>
                </a:solidFill>
              </a:defRPr>
            </a:lvl1pPr>
          </a:lstStyle>
          <a:p>
            <a:fld id="{4A3DC464-E8E0-435A-8721-5808739BC53E}" type="datetime1">
              <a:rPr lang="en-US" smtClean="0"/>
              <a:pPr/>
              <a:t>6/24/2019</a:t>
            </a:fld>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p14="http://schemas.microsoft.com/office/powerpoint/2010/main" val="37693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userDrawn="1"/>
        </p:nvSpPr>
        <p:spPr bwMode="ltGray">
          <a:xfrm>
            <a:off x="731520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923214" y="2362200"/>
            <a:ext cx="3200400" cy="1993392"/>
          </a:xfrm>
        </p:spPr>
        <p:txBody>
          <a:bodyPr anchor="b">
            <a:normAutofit/>
          </a:bodyPr>
          <a:lstStyle>
            <a:lvl1pPr>
              <a:defRPr sz="3400" b="0">
                <a:solidFill>
                  <a:schemeClr val="bg1"/>
                </a:solidFill>
              </a:defRPr>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0" y="0"/>
            <a:ext cx="7315200" cy="6858000"/>
          </a:xfrm>
          <a:solidFill>
            <a:schemeClr val="bg2">
              <a:lumMod val="90000"/>
            </a:schemeClr>
          </a:solidFill>
        </p:spPr>
        <p:txBody>
          <a:bodyPr/>
          <a:lstStyle>
            <a:lvl1pPr marL="0" indent="0" algn="ctr">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7923214" y="4355592"/>
            <a:ext cx="3200400" cy="1644614"/>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7" name="Slide Number Placeholder 6"/>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1587" y="6553200"/>
            <a:ext cx="12188826" cy="3048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2" name="Title Placeholder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bg2"/>
                </a:solidFill>
              </a:defRPr>
            </a:lvl1pPr>
          </a:lstStyle>
          <a:p>
            <a:r>
              <a:rPr lang="en-US" smtClean="0"/>
              <a:t>Indocosmo Systems Pvt. Ltd. All Rights Reserved</a:t>
            </a:r>
            <a:endParaRPr lang="en-US" dirty="0"/>
          </a:p>
        </p:txBody>
      </p:sp>
      <p:sp>
        <p:nvSpPr>
          <p:cNvPr id="4" name="Date Placeholder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r">
              <a:defRPr sz="1100">
                <a:solidFill>
                  <a:schemeClr val="bg2"/>
                </a:solidFill>
              </a:defRPr>
            </a:lvl1pPr>
          </a:lstStyle>
          <a:p>
            <a:fld id="{A58171AB-CE22-4F77-A6B5-BB13C3E53249}" type="datetime1">
              <a:rPr lang="en-US" smtClean="0"/>
              <a:pPr/>
              <a:t>6/24/2019</a:t>
            </a:fld>
            <a:endParaRPr lang="en-US" dirty="0"/>
          </a:p>
        </p:txBody>
      </p:sp>
      <p:sp>
        <p:nvSpPr>
          <p:cNvPr id="6" name="Slide Number Placeholder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a:solidFill>
                  <a:schemeClr val="bg2"/>
                </a:solidFill>
              </a:defRPr>
            </a:lvl1pPr>
          </a:lstStyle>
          <a:p>
            <a:fld id="{CA8D9AD5-F248-4919-864A-CFD76CC027D6}" type="slidenum">
              <a:rPr lang="en-US" smtClean="0"/>
              <a:pPr/>
              <a:t>‹#›</a:t>
            </a:fld>
            <a:endParaRPr lang="en-US" dirty="0"/>
          </a:p>
        </p:txBody>
      </p:sp>
    </p:spTree>
    <p:extLst>
      <p:ext uri="{BB962C8B-B14F-4D97-AF65-F5344CB8AC3E}">
        <p14:creationId xmlns:p14="http://schemas.microsoft.com/office/powerpoint/2010/main"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61" r:id="rId5"/>
    <p:sldLayoutId id="2147483653" r:id="rId6"/>
    <p:sldLayoutId id="2147483654" r:id="rId7"/>
    <p:sldLayoutId id="2147483655" r:id="rId8"/>
    <p:sldLayoutId id="2147483656" r:id="rId9"/>
    <p:sldLayoutId id="2147483663" r:id="rId10"/>
    <p:sldLayoutId id="2147483657" r:id="rId11"/>
    <p:sldLayoutId id="2147483658" r:id="rId12"/>
    <p:sldLayoutId id="2147483659"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marL="0" indent="0" algn="l" defTabSz="914400" rtl="0" eaLnBrk="1" latinLnBrk="0" hangingPunct="1">
        <a:lnSpc>
          <a:spcPct val="90000"/>
        </a:lnSpc>
        <a:spcBef>
          <a:spcPct val="0"/>
        </a:spcBef>
        <a:buFont typeface="Arial" pitchFamily="34" charset="0"/>
        <a:buNone/>
        <a:defRPr sz="3400" kern="1200">
          <a:solidFill>
            <a:schemeClr val="tx2">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2"/>
        </a:buClr>
        <a:buSzPct val="80000"/>
        <a:buFont typeface="Wingdings" pitchFamily="2" charset="2"/>
        <a:buChar char="§"/>
        <a:defRPr sz="2000" kern="1200">
          <a:solidFill>
            <a:schemeClr val="tx2"/>
          </a:solidFill>
          <a:latin typeface="+mn-lt"/>
          <a:ea typeface="+mn-ea"/>
          <a:cs typeface="+mn-cs"/>
        </a:defRPr>
      </a:lvl1pPr>
      <a:lvl2pPr marL="594360" indent="-228600" algn="l" defTabSz="914400" rtl="0" eaLnBrk="1" latinLnBrk="0" hangingPunct="1">
        <a:lnSpc>
          <a:spcPct val="90000"/>
        </a:lnSpc>
        <a:spcBef>
          <a:spcPts val="1000"/>
        </a:spcBef>
        <a:buClr>
          <a:schemeClr val="tx2"/>
        </a:buClr>
        <a:buSzPct val="80000"/>
        <a:buFont typeface="Wingdings" pitchFamily="2" charset="2"/>
        <a:buChar char="§"/>
        <a:defRPr sz="1800" kern="1200">
          <a:solidFill>
            <a:schemeClr val="tx2"/>
          </a:solidFill>
          <a:latin typeface="+mn-lt"/>
          <a:ea typeface="+mn-ea"/>
          <a:cs typeface="+mn-cs"/>
        </a:defRPr>
      </a:lvl2pPr>
      <a:lvl3pPr marL="914400" indent="-228600" algn="l" defTabSz="914400" rtl="0" eaLnBrk="1" latinLnBrk="0" hangingPunct="1">
        <a:lnSpc>
          <a:spcPct val="90000"/>
        </a:lnSpc>
        <a:spcBef>
          <a:spcPts val="800"/>
        </a:spcBef>
        <a:buClr>
          <a:schemeClr val="tx2"/>
        </a:buClr>
        <a:buSzPct val="80000"/>
        <a:buFont typeface="Wingdings" pitchFamily="2" charset="2"/>
        <a:buChar char="§"/>
        <a:defRPr sz="1600" kern="1200">
          <a:solidFill>
            <a:schemeClr val="tx2"/>
          </a:solidFill>
          <a:latin typeface="+mn-lt"/>
          <a:ea typeface="+mn-ea"/>
          <a:cs typeface="+mn-cs"/>
        </a:defRPr>
      </a:lvl3pPr>
      <a:lvl4pPr marL="1234440" indent="-228600" algn="l" defTabSz="914400" rtl="0" eaLnBrk="1" latinLnBrk="0" hangingPunct="1">
        <a:lnSpc>
          <a:spcPct val="90000"/>
        </a:lnSpc>
        <a:spcBef>
          <a:spcPts val="800"/>
        </a:spcBef>
        <a:buClr>
          <a:schemeClr val="tx2"/>
        </a:buClr>
        <a:buSzPct val="80000"/>
        <a:buFont typeface="Wingdings" pitchFamily="2" charset="2"/>
        <a:buChar char="§"/>
        <a:defRPr sz="1400" kern="1200">
          <a:solidFill>
            <a:schemeClr val="tx2"/>
          </a:solidFill>
          <a:latin typeface="+mn-lt"/>
          <a:ea typeface="+mn-ea"/>
          <a:cs typeface="+mn-cs"/>
        </a:defRPr>
      </a:lvl4pPr>
      <a:lvl5pPr marL="1554480" indent="-228600" algn="l" defTabSz="914400" rtl="0" eaLnBrk="1" latinLnBrk="0" hangingPunct="1">
        <a:lnSpc>
          <a:spcPct val="90000"/>
        </a:lnSpc>
        <a:spcBef>
          <a:spcPts val="800"/>
        </a:spcBef>
        <a:buClr>
          <a:schemeClr val="tx2"/>
        </a:buClr>
        <a:buSzPct val="80000"/>
        <a:buFont typeface="Wingdings" pitchFamily="2" charset="2"/>
        <a:buChar char="§"/>
        <a:defRPr sz="1400" kern="1200">
          <a:solidFill>
            <a:schemeClr val="tx2"/>
          </a:solidFill>
          <a:latin typeface="+mn-lt"/>
          <a:ea typeface="+mn-ea"/>
          <a:cs typeface="+mn-cs"/>
        </a:defRPr>
      </a:lvl5pPr>
      <a:lvl6pPr marL="1874520" indent="-228600" algn="l" defTabSz="914400" rtl="0" eaLnBrk="1" latinLnBrk="0" hangingPunct="1">
        <a:lnSpc>
          <a:spcPct val="90000"/>
        </a:lnSpc>
        <a:spcBef>
          <a:spcPts val="800"/>
        </a:spcBef>
        <a:buSzPct val="80000"/>
        <a:buFont typeface="Wingdings" pitchFamily="2" charset="2"/>
        <a:buChar char="§"/>
        <a:defRPr sz="1400" kern="1200">
          <a:solidFill>
            <a:schemeClr val="tx2"/>
          </a:solidFill>
          <a:latin typeface="+mn-lt"/>
          <a:ea typeface="+mn-ea"/>
          <a:cs typeface="+mn-cs"/>
        </a:defRPr>
      </a:lvl6pPr>
      <a:lvl7pPr marL="219456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7pPr>
      <a:lvl8pPr marL="251460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8pPr>
      <a:lvl9pPr marL="283464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360">
          <p15:clr>
            <a:srgbClr val="F26B43"/>
          </p15:clr>
        </p15:guide>
        <p15:guide id="2" pos="40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err="1" smtClean="0"/>
              <a:t>Cworks</a:t>
            </a:r>
            <a:r>
              <a:rPr lang="en-US" dirty="0" smtClean="0"/>
              <a:t> CXF</a:t>
            </a:r>
            <a:endParaRPr lang="en-US" dirty="0"/>
          </a:p>
        </p:txBody>
      </p:sp>
      <p:sp>
        <p:nvSpPr>
          <p:cNvPr id="4" name="Subtitle 3"/>
          <p:cNvSpPr>
            <a:spLocks noGrp="1"/>
          </p:cNvSpPr>
          <p:nvPr>
            <p:ph type="subTitle" idx="1"/>
          </p:nvPr>
        </p:nvSpPr>
        <p:spPr>
          <a:xfrm>
            <a:off x="1522413" y="5943600"/>
            <a:ext cx="9144002" cy="533400"/>
          </a:xfrm>
        </p:spPr>
        <p:txBody>
          <a:bodyPr/>
          <a:lstStyle/>
          <a:p>
            <a:r>
              <a:rPr lang="en-US" dirty="0" smtClean="0"/>
              <a:t>Presented By: </a:t>
            </a:r>
            <a:r>
              <a:rPr lang="en-US" dirty="0" smtClean="0"/>
              <a:t>&lt;Suraj P</a:t>
            </a:r>
            <a:endParaRPr lang="en-US" dirty="0"/>
          </a:p>
        </p:txBody>
      </p:sp>
      <p:sp>
        <p:nvSpPr>
          <p:cNvPr id="7" name="Rectangle 6"/>
          <p:cNvSpPr/>
          <p:nvPr/>
        </p:nvSpPr>
        <p:spPr>
          <a:xfrm>
            <a:off x="8763000" y="6488668"/>
            <a:ext cx="1039067" cy="369332"/>
          </a:xfrm>
          <a:prstGeom prst="rect">
            <a:avLst/>
          </a:prstGeom>
        </p:spPr>
        <p:txBody>
          <a:bodyPr wrap="none">
            <a:spAutoFit/>
          </a:bodyPr>
          <a:lstStyle/>
          <a:p>
            <a:r>
              <a:rPr lang="en-US" dirty="0" smtClean="0">
                <a:solidFill>
                  <a:schemeClr val="bg1"/>
                </a:solidFill>
              </a:rPr>
              <a:t>Issue #:2</a:t>
            </a:r>
            <a:endParaRPr lang="en-US" dirty="0">
              <a:solidFill>
                <a:schemeClr val="bg1"/>
              </a:solidFill>
            </a:endParaRPr>
          </a:p>
        </p:txBody>
      </p:sp>
      <p:sp>
        <p:nvSpPr>
          <p:cNvPr id="8" name="Rectangle 7"/>
          <p:cNvSpPr/>
          <p:nvPr/>
        </p:nvSpPr>
        <p:spPr>
          <a:xfrm>
            <a:off x="9789739" y="6488668"/>
            <a:ext cx="2357056" cy="369332"/>
          </a:xfrm>
          <a:prstGeom prst="rect">
            <a:avLst/>
          </a:prstGeom>
        </p:spPr>
        <p:txBody>
          <a:bodyPr wrap="none">
            <a:spAutoFit/>
          </a:bodyPr>
          <a:lstStyle/>
          <a:p>
            <a:r>
              <a:rPr lang="en-US" dirty="0" smtClean="0">
                <a:solidFill>
                  <a:schemeClr val="bg1"/>
                </a:solidFill>
              </a:rPr>
              <a:t>Issue date:01-Jan-2018</a:t>
            </a:r>
            <a:endParaRPr lang="en-US" dirty="0">
              <a:solidFill>
                <a:schemeClr val="bg1"/>
              </a:solidFill>
            </a:endParaRPr>
          </a:p>
        </p:txBody>
      </p:sp>
      <p:sp>
        <p:nvSpPr>
          <p:cNvPr id="9" name="Rectangle 8"/>
          <p:cNvSpPr/>
          <p:nvPr/>
        </p:nvSpPr>
        <p:spPr>
          <a:xfrm>
            <a:off x="0" y="6488668"/>
            <a:ext cx="3657600" cy="369332"/>
          </a:xfrm>
          <a:prstGeom prst="rect">
            <a:avLst/>
          </a:prstGeom>
        </p:spPr>
        <p:txBody>
          <a:bodyPr wrap="square">
            <a:spAutoFit/>
          </a:bodyPr>
          <a:lstStyle/>
          <a:p>
            <a:pPr lvl="0"/>
            <a:r>
              <a:rPr lang="en-US" dirty="0" smtClean="0">
                <a:solidFill>
                  <a:schemeClr val="bg1"/>
                </a:solidFill>
              </a:rPr>
              <a:t>ICS/FMT/PP</a:t>
            </a:r>
            <a:endParaRPr lang="en-US" dirty="0">
              <a:solidFill>
                <a:schemeClr val="bg1"/>
              </a:solidFill>
            </a:endParaRPr>
          </a:p>
        </p:txBody>
      </p:sp>
    </p:spTree>
    <p:extLst>
      <p:ext uri="{BB962C8B-B14F-4D97-AF65-F5344CB8AC3E}">
        <p14:creationId xmlns:p14="http://schemas.microsoft.com/office/powerpoint/2010/main" val="279880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143000"/>
            <a:ext cx="9144000" cy="2667000"/>
          </a:xfrm>
        </p:spPr>
        <p:txBody>
          <a:bodyPr/>
          <a:lstStyle/>
          <a:p>
            <a:r>
              <a:rPr lang="en-US" dirty="0" err="1"/>
              <a:t>CWorks</a:t>
            </a:r>
            <a:r>
              <a:rPr lang="en-US" dirty="0"/>
              <a:t> CXF</a:t>
            </a:r>
            <a:br>
              <a:rPr lang="en-US" dirty="0"/>
            </a:br>
            <a:r>
              <a:rPr lang="en-US" dirty="0"/>
              <a:t>(</a:t>
            </a:r>
            <a:r>
              <a:rPr lang="en-US" dirty="0" err="1"/>
              <a:t>CWorks</a:t>
            </a:r>
            <a:r>
              <a:rPr lang="en-US" dirty="0"/>
              <a:t>-CXF </a:t>
            </a:r>
            <a:r>
              <a:rPr lang="en-US" dirty="0" smtClean="0"/>
              <a:t>-v1</a:t>
            </a:r>
            <a:r>
              <a:rPr lang="en-US" dirty="0"/>
              <a:t>)</a:t>
            </a:r>
            <a:endParaRPr lang="en-US" dirty="0"/>
          </a:p>
        </p:txBody>
      </p:sp>
      <p:sp>
        <p:nvSpPr>
          <p:cNvPr id="3" name="Content Placeholder 2"/>
          <p:cNvSpPr>
            <a:spLocks noGrp="1"/>
          </p:cNvSpPr>
          <p:nvPr>
            <p:ph type="body" idx="1"/>
          </p:nvPr>
        </p:nvSpPr>
        <p:spPr/>
        <p:txBody>
          <a:bodyPr/>
          <a:lstStyle/>
          <a:p>
            <a:pPr lvl="0"/>
            <a:r>
              <a:rPr lang="en-US" dirty="0"/>
              <a:t>A  data exchange format between AutoCAD system and C-Works CAD system.</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a:p>
        </p:txBody>
      </p:sp>
    </p:spTree>
    <p:extLst>
      <p:ext uri="{BB962C8B-B14F-4D97-AF65-F5344CB8AC3E}">
        <p14:creationId xmlns:p14="http://schemas.microsoft.com/office/powerpoint/2010/main" val="333281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The Customer</a:t>
            </a:r>
            <a:endParaRPr lang="en-US" dirty="0"/>
          </a:p>
        </p:txBody>
      </p:sp>
      <p:sp>
        <p:nvSpPr>
          <p:cNvPr id="3" name="Content Placeholder 2"/>
          <p:cNvSpPr>
            <a:spLocks noGrp="1"/>
          </p:cNvSpPr>
          <p:nvPr>
            <p:ph idx="1"/>
          </p:nvPr>
        </p:nvSpPr>
        <p:spPr/>
        <p:txBody>
          <a:bodyPr/>
          <a:lstStyle/>
          <a:p>
            <a:r>
              <a:rPr lang="en-US" dirty="0" err="1"/>
              <a:t>CWorks</a:t>
            </a:r>
            <a:r>
              <a:rPr lang="en-US" dirty="0"/>
              <a:t>: A Japanese corporate who is focusing on  construction related software products.</a:t>
            </a:r>
          </a:p>
          <a:p>
            <a:r>
              <a:rPr lang="en-US" dirty="0"/>
              <a:t>They have been using the standard data exchange format of AutoCAD.</a:t>
            </a:r>
          </a:p>
          <a:p>
            <a:r>
              <a:rPr lang="en-US" dirty="0"/>
              <a:t>Their major product is </a:t>
            </a:r>
            <a:r>
              <a:rPr lang="en-US" dirty="0" err="1"/>
              <a:t>CWorks</a:t>
            </a:r>
            <a:r>
              <a:rPr lang="en-US" dirty="0"/>
              <a:t> CAD</a:t>
            </a:r>
          </a:p>
          <a:p>
            <a:pPr lvl="1"/>
            <a:r>
              <a:rPr lang="en-US" dirty="0"/>
              <a:t>This system accepts the AutoCAD drawings and process them to create scaffoldings design for the proposed building project and make necessary cost and material estimation for the SCAFFOLDING.</a:t>
            </a:r>
          </a:p>
          <a:p>
            <a:endParaRPr lang="en-US" dirty="0" smtClean="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3</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About The Project</a:t>
            </a:r>
            <a:endParaRPr lang="en-US" dirty="0"/>
          </a:p>
        </p:txBody>
      </p:sp>
      <p:sp>
        <p:nvSpPr>
          <p:cNvPr id="3" name="Content Placeholder 2"/>
          <p:cNvSpPr>
            <a:spLocks noGrp="1"/>
          </p:cNvSpPr>
          <p:nvPr>
            <p:ph idx="1"/>
          </p:nvPr>
        </p:nvSpPr>
        <p:spPr>
          <a:xfrm>
            <a:off x="1341120" y="1752600"/>
            <a:ext cx="9509760" cy="4276979"/>
          </a:xfrm>
        </p:spPr>
        <p:txBody>
          <a:bodyPr>
            <a:normAutofit fontScale="92500" lnSpcReduction="10000"/>
          </a:bodyPr>
          <a:lstStyle/>
          <a:p>
            <a:r>
              <a:rPr lang="en-US" dirty="0"/>
              <a:t>Now the </a:t>
            </a:r>
            <a:r>
              <a:rPr lang="en-US" dirty="0" err="1"/>
              <a:t>CWorks</a:t>
            </a:r>
            <a:r>
              <a:rPr lang="en-US" dirty="0"/>
              <a:t> CAD system has issues with processing the latest versions of AutoCAD drawing files.</a:t>
            </a:r>
          </a:p>
          <a:p>
            <a:r>
              <a:rPr lang="en-US" dirty="0"/>
              <a:t>As a solution for the above issue we are going to develop a system which converts the standard AutoCAD file format to a text exchange format (TXF format) along with a neutral exchange format for </a:t>
            </a:r>
            <a:r>
              <a:rPr lang="en-US" dirty="0" err="1"/>
              <a:t>CWorks</a:t>
            </a:r>
            <a:r>
              <a:rPr lang="en-US" dirty="0"/>
              <a:t> (CXF format) and vice versa.</a:t>
            </a:r>
          </a:p>
          <a:p>
            <a:r>
              <a:rPr lang="en-US" dirty="0"/>
              <a:t>IXF format should contain all properties &amp; values of the objects in the AutoCAD drawing files.</a:t>
            </a:r>
          </a:p>
          <a:p>
            <a:r>
              <a:rPr lang="en-US" dirty="0"/>
              <a:t>CXF format contains only selected properties &amp; values from the TXF format.</a:t>
            </a:r>
          </a:p>
          <a:p>
            <a:r>
              <a:rPr lang="en-US" dirty="0"/>
              <a:t>CXF files  will be processed by the </a:t>
            </a:r>
            <a:r>
              <a:rPr lang="en-US" dirty="0" err="1"/>
              <a:t>CWorks</a:t>
            </a:r>
            <a:r>
              <a:rPr lang="en-US" dirty="0"/>
              <a:t> CAD system to create scaffold drawings.</a:t>
            </a:r>
          </a:p>
          <a:p>
            <a:r>
              <a:rPr lang="en-US" dirty="0"/>
              <a:t>Our proposed project interacts with the following software</a:t>
            </a:r>
          </a:p>
          <a:p>
            <a:pPr lvl="1"/>
            <a:r>
              <a:rPr lang="en-US" dirty="0"/>
              <a:t>AutoCAD System</a:t>
            </a:r>
          </a:p>
          <a:p>
            <a:pPr lvl="1"/>
            <a:r>
              <a:rPr lang="en-US" dirty="0" err="1"/>
              <a:t>CWorks</a:t>
            </a:r>
            <a:r>
              <a:rPr lang="en-US" dirty="0"/>
              <a:t> CAD System</a:t>
            </a:r>
          </a:p>
        </p:txBody>
      </p:sp>
      <p:sp>
        <p:nvSpPr>
          <p:cNvPr id="4" name="Slide Number Placeholder 3"/>
          <p:cNvSpPr>
            <a:spLocks noGrp="1"/>
          </p:cNvSpPr>
          <p:nvPr>
            <p:ph type="sldNum" sz="quarter" idx="12"/>
          </p:nvPr>
        </p:nvSpPr>
        <p:spPr/>
        <p:txBody>
          <a:bodyPr/>
          <a:lstStyle/>
          <a:p>
            <a:fld id="{CA8D9AD5-F248-4919-864A-CFD76CC027D6}" type="slidenum">
              <a:rPr lang="en-US" smtClean="0"/>
              <a:pPr/>
              <a:t>4</a:t>
            </a:fld>
            <a:endParaRPr lang="en-US" dirty="0"/>
          </a:p>
        </p:txBody>
      </p:sp>
      <p:sp>
        <p:nvSpPr>
          <p:cNvPr id="5" name="Footer Placeholder 4"/>
          <p:cNvSpPr>
            <a:spLocks noGrp="1"/>
          </p:cNvSpPr>
          <p:nvPr>
            <p:ph type="ftr" sz="quarter" idx="11"/>
          </p:nvPr>
        </p:nvSpPr>
        <p:spPr/>
        <p:txBody>
          <a:bodyPr/>
          <a:lstStyle/>
          <a:p>
            <a:r>
              <a:rPr lang="en-US" dirty="0" smtClean="0"/>
              <a:t>Indocosmo Systems Pvt. Ltd. All Rights Reserved</a:t>
            </a:r>
            <a:endParaRPr lang="en-US" dirty="0"/>
          </a:p>
        </p:txBody>
      </p:sp>
    </p:spTree>
    <p:extLst>
      <p:ext uri="{BB962C8B-B14F-4D97-AF65-F5344CB8AC3E}">
        <p14:creationId xmlns:p14="http://schemas.microsoft.com/office/powerpoint/2010/main" val="576639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Overview</a:t>
            </a:r>
            <a:endParaRPr lang="en-US" dirty="0"/>
          </a:p>
        </p:txBody>
      </p:sp>
      <p:sp>
        <p:nvSpPr>
          <p:cNvPr id="3" name="Content Placeholder 2"/>
          <p:cNvSpPr>
            <a:spLocks noGrp="1"/>
          </p:cNvSpPr>
          <p:nvPr>
            <p:ph idx="1"/>
          </p:nvPr>
        </p:nvSpPr>
        <p:spPr/>
        <p:txBody>
          <a:bodyPr>
            <a:normAutofit/>
          </a:bodyPr>
          <a:lstStyle/>
          <a:p>
            <a:r>
              <a:rPr lang="en-US" dirty="0"/>
              <a:t>Start Date			:  15-10-2017</a:t>
            </a:r>
          </a:p>
          <a:p>
            <a:r>
              <a:rPr lang="en-US" dirty="0"/>
              <a:t>End Date			:  31-03-2018</a:t>
            </a:r>
          </a:p>
          <a:p>
            <a:r>
              <a:rPr lang="en-US" dirty="0"/>
              <a:t>Total Estimated Effort		:  200 man days</a:t>
            </a:r>
          </a:p>
          <a:p>
            <a:r>
              <a:rPr lang="en-US" dirty="0"/>
              <a:t>PM				:  Mr. Mohandas .P.M</a:t>
            </a:r>
          </a:p>
          <a:p>
            <a:r>
              <a:rPr lang="en-US" dirty="0"/>
              <a:t>PL 				:  Mr. Suresh S</a:t>
            </a:r>
          </a:p>
          <a:p>
            <a:r>
              <a:rPr lang="en-US" dirty="0"/>
              <a:t>Customer Contact		:  Mr. </a:t>
            </a:r>
            <a:r>
              <a:rPr lang="en-US" dirty="0" err="1"/>
              <a:t>Masa</a:t>
            </a:r>
            <a:r>
              <a:rPr lang="en-US" dirty="0"/>
              <a:t> Yuki</a:t>
            </a:r>
          </a:p>
          <a:p>
            <a:r>
              <a:rPr lang="en-US" dirty="0"/>
              <a:t>QC Manager			:  Mr. George Elias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5</a:t>
            </a:fld>
            <a:endParaRPr lang="en-US" dirty="0"/>
          </a:p>
        </p:txBody>
      </p:sp>
      <p:sp>
        <p:nvSpPr>
          <p:cNvPr id="5" name="Footer Placeholder 4"/>
          <p:cNvSpPr>
            <a:spLocks noGrp="1"/>
          </p:cNvSpPr>
          <p:nvPr>
            <p:ph type="ftr" sz="quarter" idx="11"/>
          </p:nvPr>
        </p:nvSpPr>
        <p:spPr/>
        <p:txBody>
          <a:bodyPr/>
          <a:lstStyle/>
          <a:p>
            <a:r>
              <a:rPr lang="en-US" dirty="0" smtClean="0"/>
              <a:t>Indocosmo Systems Pvt. Ltd. All Rights Reserved</a:t>
            </a:r>
            <a:endParaRPr lang="en-US" dirty="0"/>
          </a:p>
        </p:txBody>
      </p:sp>
    </p:spTree>
    <p:extLst>
      <p:ext uri="{BB962C8B-B14F-4D97-AF65-F5344CB8AC3E}">
        <p14:creationId xmlns:p14="http://schemas.microsoft.com/office/powerpoint/2010/main" val="576639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Objectives</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6</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6" name="Table 5"/>
          <p:cNvGraphicFramePr>
            <a:graphicFrameLocks noGrp="1"/>
          </p:cNvGraphicFramePr>
          <p:nvPr/>
        </p:nvGraphicFramePr>
        <p:xfrm>
          <a:off x="1371600" y="1828800"/>
          <a:ext cx="9372600" cy="3754120"/>
        </p:xfrm>
        <a:graphic>
          <a:graphicData uri="http://schemas.openxmlformats.org/drawingml/2006/table">
            <a:tbl>
              <a:tblPr bandRow="1">
                <a:tableStyleId>{793D81CF-94F2-401A-BA57-92F5A7B2D0C5}</a:tableStyleId>
              </a:tblPr>
              <a:tblGrid>
                <a:gridCol w="3075384"/>
                <a:gridCol w="6297216"/>
              </a:tblGrid>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smtClean="0"/>
                        <a:t>Functional objective</a:t>
                      </a:r>
                      <a:endParaRPr lang="en-US" b="1" dirty="0"/>
                    </a:p>
                  </a:txBody>
                  <a:tcPr/>
                </a:tc>
                <a:tc>
                  <a:txBody>
                    <a:bodyPr/>
                    <a:lstStyle/>
                    <a:p>
                      <a:r>
                        <a:rPr lang="en-US" dirty="0" smtClean="0"/>
                        <a:t>Developing a console </a:t>
                      </a:r>
                      <a:r>
                        <a:rPr lang="en-US" baseline="0" dirty="0" smtClean="0"/>
                        <a:t>application for processing drawing files and convert into a neutral text format for further processing in the CWorks CAD System.  The system should support reverse conversion from Neutral file to AutoCAD drawings.</a:t>
                      </a:r>
                      <a:endParaRPr lang="en-US" dirty="0"/>
                    </a:p>
                  </a:txBody>
                  <a:tcPr/>
                </a:tc>
              </a:tr>
              <a:tr h="3708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b="1" dirty="0" smtClean="0"/>
                        <a:t>Technical objective</a:t>
                      </a:r>
                    </a:p>
                  </a:txBody>
                  <a:tcPr/>
                </a:tc>
                <a:tc>
                  <a:txBody>
                    <a:bodyPr/>
                    <a:lstStyle/>
                    <a:p>
                      <a:r>
                        <a:rPr lang="en-US" dirty="0" smtClean="0"/>
                        <a:t>Achieve</a:t>
                      </a:r>
                      <a:r>
                        <a:rPr lang="en-US" baseline="0" dirty="0" smtClean="0"/>
                        <a:t> hands on experience in working with AutoCAD system related projects and open a new domain expertise.</a:t>
                      </a:r>
                      <a:endParaRPr lang="en-US" dirty="0"/>
                    </a:p>
                  </a:txBody>
                  <a:tcPr/>
                </a:tc>
              </a:tr>
              <a:tr h="370840">
                <a:tc>
                  <a:txBody>
                    <a:bodyPr/>
                    <a:lstStyle/>
                    <a:p>
                      <a:r>
                        <a:rPr lang="en-US" b="1" dirty="0" smtClean="0"/>
                        <a:t>Schedule objective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project has to be commissioned before 31-March-2018</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Cost objective</a:t>
                      </a:r>
                      <a:endParaRPr lang="en-US"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Maximum allocated manpower for this project is  10 man months.</a:t>
                      </a:r>
                    </a:p>
                  </a:txBody>
                  <a:tcPr/>
                </a:tc>
              </a:tr>
              <a:tr h="370840">
                <a:tc>
                  <a:txBody>
                    <a:bodyPr/>
                    <a:lstStyle/>
                    <a:p>
                      <a:r>
                        <a:rPr lang="en-US" b="1" dirty="0" smtClean="0"/>
                        <a:t>Business objective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We would make this project as a stepping stone to enter into the CAD related domain , which has tremendous opportunities in Japan market.</a:t>
                      </a:r>
                    </a:p>
                  </a:txBody>
                  <a:tcPr/>
                </a:tc>
              </a:tr>
            </a:tbl>
          </a:graphicData>
        </a:graphic>
      </p:graphicFrame>
    </p:spTree>
    <p:extLst>
      <p:ext uri="{BB962C8B-B14F-4D97-AF65-F5344CB8AC3E}">
        <p14:creationId xmlns:p14="http://schemas.microsoft.com/office/powerpoint/2010/main" val="376586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Success Factors</a:t>
            </a:r>
          </a:p>
        </p:txBody>
      </p:sp>
      <p:sp>
        <p:nvSpPr>
          <p:cNvPr id="3" name="Content Placeholder 2"/>
          <p:cNvSpPr>
            <a:spLocks noGrp="1"/>
          </p:cNvSpPr>
          <p:nvPr>
            <p:ph idx="1"/>
          </p:nvPr>
        </p:nvSpPr>
        <p:spPr/>
        <p:txBody>
          <a:bodyPr/>
          <a:lstStyle/>
          <a:p>
            <a:r>
              <a:rPr lang="en-US" dirty="0"/>
              <a:t>System should be able to work with latest versions of AutoCAD files </a:t>
            </a:r>
            <a:r>
              <a:rPr lang="en-US" dirty="0">
                <a:solidFill>
                  <a:schemeClr val="tx1"/>
                </a:solidFill>
              </a:rPr>
              <a:t>(AutoCAD 2000 and later versions).</a:t>
            </a:r>
          </a:p>
          <a:p>
            <a:r>
              <a:rPr lang="en-US" dirty="0"/>
              <a:t>The basic structure of CAD files should not be lost after conversion.</a:t>
            </a:r>
          </a:p>
          <a:p>
            <a:r>
              <a:rPr lang="en-US" dirty="0"/>
              <a:t>System should be completed &amp; installed before the next financial year </a:t>
            </a:r>
            <a:r>
              <a:rPr lang="en-US" dirty="0">
                <a:solidFill>
                  <a:schemeClr val="tx1"/>
                </a:solidFill>
              </a:rPr>
              <a:t>(before March </a:t>
            </a:r>
            <a:r>
              <a:rPr lang="en-US" dirty="0"/>
              <a:t>2018).</a:t>
            </a:r>
          </a:p>
          <a:p>
            <a:r>
              <a:rPr lang="en-US" dirty="0"/>
              <a:t>Delivered on time with expected quality.</a:t>
            </a:r>
          </a:p>
          <a:p>
            <a:r>
              <a:rPr lang="en-US" dirty="0"/>
              <a:t>Passing the UAT at one go by satisfying all the Acceptance Criteria </a:t>
            </a:r>
            <a:r>
              <a:rPr lang="en-US" dirty="0">
                <a:solidFill>
                  <a:schemeClr val="tx1"/>
                </a:solidFill>
              </a:rPr>
              <a:t>specified in SRS</a:t>
            </a:r>
            <a:r>
              <a:rPr lang="en-US" dirty="0"/>
              <a:t>.</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7</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1511145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3" name="Content Placeholder 2"/>
          <p:cNvSpPr>
            <a:spLocks noGrp="1"/>
          </p:cNvSpPr>
          <p:nvPr>
            <p:ph idx="1"/>
          </p:nvPr>
        </p:nvSpPr>
        <p:spPr/>
        <p:txBody>
          <a:bodyPr>
            <a:normAutofit/>
          </a:bodyPr>
          <a:lstStyle/>
          <a:p>
            <a:r>
              <a:rPr lang="en-US" dirty="0" smtClean="0"/>
              <a:t>Tasks/activities</a:t>
            </a:r>
          </a:p>
          <a:p>
            <a:pPr lvl="1"/>
            <a:r>
              <a:rPr lang="en-US" sz="2000" dirty="0" smtClean="0"/>
              <a:t>Research </a:t>
            </a:r>
            <a:r>
              <a:rPr lang="en-US" sz="2000" dirty="0"/>
              <a:t>on AutoCAD file processing API’s.</a:t>
            </a:r>
          </a:p>
          <a:p>
            <a:pPr lvl="1"/>
            <a:r>
              <a:rPr lang="en-US" sz="2000" dirty="0"/>
              <a:t>Create the design documents for approval.</a:t>
            </a:r>
          </a:p>
          <a:p>
            <a:pPr lvl="1"/>
            <a:r>
              <a:rPr lang="en-US" sz="2000" dirty="0"/>
              <a:t>Conversion of DWG file to TXF &amp; CXF file.</a:t>
            </a:r>
          </a:p>
          <a:p>
            <a:pPr lvl="1"/>
            <a:r>
              <a:rPr lang="en-US" sz="2000" dirty="0"/>
              <a:t>Conversion of DXF file to TXF &amp; CXF file.</a:t>
            </a:r>
          </a:p>
          <a:p>
            <a:pPr lvl="1"/>
            <a:r>
              <a:rPr lang="en-US" sz="2000" dirty="0"/>
              <a:t>Conversion of CXF file to DWG file with reference of TXF file.</a:t>
            </a:r>
          </a:p>
          <a:p>
            <a:pPr lvl="1"/>
            <a:r>
              <a:rPr lang="en-US" sz="2000" dirty="0"/>
              <a:t>Conversion of CXF file to DXF file with reference of TXF file.</a:t>
            </a:r>
          </a:p>
          <a:p>
            <a:pPr lvl="1"/>
            <a:r>
              <a:rPr lang="en-US" sz="2000" dirty="0"/>
              <a:t>Overall testing using different versions of AutoCAD drawings </a:t>
            </a:r>
            <a:r>
              <a:rPr lang="en-US" sz="2000" dirty="0">
                <a:solidFill>
                  <a:schemeClr val="tx1"/>
                </a:solidFill>
              </a:rPr>
              <a:t>(AutoCAD 2000 and later  versions).</a:t>
            </a:r>
          </a:p>
          <a:p>
            <a:pPr lvl="1"/>
            <a:r>
              <a:rPr lang="en-US" sz="2000" dirty="0"/>
              <a:t>Deployment &amp; Release of the CXF Conversion system.</a:t>
            </a:r>
          </a:p>
        </p:txBody>
      </p:sp>
      <p:sp>
        <p:nvSpPr>
          <p:cNvPr id="4" name="Slide Number Placeholder 3"/>
          <p:cNvSpPr>
            <a:spLocks noGrp="1"/>
          </p:cNvSpPr>
          <p:nvPr>
            <p:ph type="sldNum" sz="quarter" idx="12"/>
          </p:nvPr>
        </p:nvSpPr>
        <p:spPr/>
        <p:txBody>
          <a:bodyPr/>
          <a:lstStyle/>
          <a:p>
            <a:fld id="{CA8D9AD5-F248-4919-864A-CFD76CC027D6}" type="slidenum">
              <a:rPr lang="en-US" smtClean="0"/>
              <a:pPr/>
              <a:t>8</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367679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Implementation</a:t>
            </a:r>
          </a:p>
        </p:txBody>
      </p:sp>
      <p:sp>
        <p:nvSpPr>
          <p:cNvPr id="3" name="Content Placeholder 2"/>
          <p:cNvSpPr>
            <a:spLocks noGrp="1"/>
          </p:cNvSpPr>
          <p:nvPr>
            <p:ph idx="1"/>
          </p:nvPr>
        </p:nvSpPr>
        <p:spPr/>
        <p:txBody>
          <a:bodyPr>
            <a:normAutofit/>
          </a:bodyPr>
          <a:lstStyle/>
          <a:p>
            <a:r>
              <a:rPr lang="en-US" dirty="0" smtClean="0"/>
              <a:t>Procedures 		</a:t>
            </a:r>
          </a:p>
          <a:p>
            <a:pPr lvl="1"/>
            <a:r>
              <a:rPr lang="en-US" sz="2000" dirty="0" smtClean="0"/>
              <a:t>Research </a:t>
            </a:r>
            <a:r>
              <a:rPr lang="en-US" sz="2000" dirty="0"/>
              <a:t>on the CAD file structure &amp; Open Design Alliance utilities.</a:t>
            </a:r>
          </a:p>
          <a:p>
            <a:pPr lvl="1"/>
            <a:r>
              <a:rPr lang="en-US" sz="2000" dirty="0"/>
              <a:t>Preparation of the project documents based on the research.</a:t>
            </a:r>
          </a:p>
          <a:p>
            <a:pPr lvl="1"/>
            <a:r>
              <a:rPr lang="en-US" sz="2000" dirty="0"/>
              <a:t>Communication with </a:t>
            </a:r>
            <a:r>
              <a:rPr lang="en-US" sz="2000" dirty="0" err="1"/>
              <a:t>CWorks</a:t>
            </a:r>
            <a:r>
              <a:rPr lang="en-US" sz="2000" dirty="0"/>
              <a:t> for final approval based on the project documents.</a:t>
            </a:r>
          </a:p>
          <a:p>
            <a:pPr lvl="1"/>
            <a:r>
              <a:rPr lang="en-US" sz="2000" dirty="0"/>
              <a:t>Development of the CXF Conversion system.</a:t>
            </a:r>
          </a:p>
          <a:p>
            <a:pPr lvl="1"/>
            <a:r>
              <a:rPr lang="en-US" sz="2000" dirty="0"/>
              <a:t>Execute functionality testing using different versions of AutoCAD files.</a:t>
            </a:r>
          </a:p>
          <a:p>
            <a:pPr lvl="1"/>
            <a:r>
              <a:rPr lang="en-US" sz="2000" dirty="0"/>
              <a:t>Perform final verification in </a:t>
            </a:r>
            <a:r>
              <a:rPr lang="en-US" sz="2000" dirty="0" err="1"/>
              <a:t>CWorks</a:t>
            </a:r>
            <a:r>
              <a:rPr lang="en-US" sz="2000" dirty="0"/>
              <a:t> environment.</a:t>
            </a:r>
            <a:endParaRPr lang="en-US" sz="2000"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9</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367679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Schedule and Milestones</a:t>
            </a:r>
          </a:p>
        </p:txBody>
      </p:sp>
      <p:sp>
        <p:nvSpPr>
          <p:cNvPr id="5" name="Slide Number Placeholder 4"/>
          <p:cNvSpPr>
            <a:spLocks noGrp="1"/>
          </p:cNvSpPr>
          <p:nvPr>
            <p:ph type="sldNum" sz="quarter" idx="12"/>
          </p:nvPr>
        </p:nvSpPr>
        <p:spPr/>
        <p:txBody>
          <a:bodyPr/>
          <a:lstStyle/>
          <a:p>
            <a:fld id="{CA8D9AD5-F248-4919-864A-CFD76CC027D6}" type="slidenum">
              <a:rPr lang="en-US" smtClean="0"/>
              <a:pPr/>
              <a:t>10</a:t>
            </a:fld>
            <a:endParaRPr lang="en-US" dirty="0"/>
          </a:p>
        </p:txBody>
      </p:sp>
      <p:sp>
        <p:nvSpPr>
          <p:cNvPr id="6" name="Footer Placeholder 5"/>
          <p:cNvSpPr>
            <a:spLocks noGrp="1"/>
          </p:cNvSpPr>
          <p:nvPr>
            <p:ph type="ftr" sz="quarter" idx="11"/>
          </p:nvPr>
        </p:nvSpPr>
        <p:spPr/>
        <p:txBody>
          <a:bodyPr/>
          <a:lstStyle/>
          <a:p>
            <a:r>
              <a:rPr lang="en-US" smtClean="0"/>
              <a:t>Indocosmo Systems Pvt. Ltd. All Rights Reserved</a:t>
            </a:r>
            <a:endParaRPr lang="en-US" dirty="0"/>
          </a:p>
        </p:txBody>
      </p:sp>
      <p:pic>
        <p:nvPicPr>
          <p:cNvPr id="3" name="Content Placeholder 2"/>
          <p:cNvPicPr>
            <a:picLocks noGrp="1" noChangeAspect="1"/>
          </p:cNvPicPr>
          <p:nvPr>
            <p:ph idx="1"/>
          </p:nvPr>
        </p:nvPicPr>
        <p:blipFill>
          <a:blip r:embed="rId2"/>
          <a:stretch>
            <a:fillRect/>
          </a:stretch>
        </p:blipFill>
        <p:spPr>
          <a:xfrm>
            <a:off x="1435204" y="2502408"/>
            <a:ext cx="9321592" cy="2926334"/>
          </a:xfrm>
          <a:prstGeom prst="rect">
            <a:avLst/>
          </a:prstGeom>
        </p:spPr>
      </p:pic>
    </p:spTree>
    <p:extLst>
      <p:ext uri="{BB962C8B-B14F-4D97-AF65-F5344CB8AC3E}">
        <p14:creationId xmlns:p14="http://schemas.microsoft.com/office/powerpoint/2010/main" val="41477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Schedule and Milestones</a:t>
            </a:r>
          </a:p>
        </p:txBody>
      </p:sp>
      <p:sp>
        <p:nvSpPr>
          <p:cNvPr id="5" name="Slide Number Placeholder 4"/>
          <p:cNvSpPr>
            <a:spLocks noGrp="1"/>
          </p:cNvSpPr>
          <p:nvPr>
            <p:ph type="sldNum" sz="quarter" idx="12"/>
          </p:nvPr>
        </p:nvSpPr>
        <p:spPr/>
        <p:txBody>
          <a:bodyPr/>
          <a:lstStyle/>
          <a:p>
            <a:fld id="{CA8D9AD5-F248-4919-864A-CFD76CC027D6}" type="slidenum">
              <a:rPr lang="en-US" smtClean="0"/>
              <a:pPr/>
              <a:t>11</a:t>
            </a:fld>
            <a:endParaRPr lang="en-US" dirty="0"/>
          </a:p>
        </p:txBody>
      </p:sp>
      <p:sp>
        <p:nvSpPr>
          <p:cNvPr id="6" name="Footer Placeholder 5"/>
          <p:cNvSpPr>
            <a:spLocks noGrp="1"/>
          </p:cNvSpPr>
          <p:nvPr>
            <p:ph type="ftr" sz="quarter" idx="11"/>
          </p:nvPr>
        </p:nvSpPr>
        <p:spPr/>
        <p:txBody>
          <a:bodyPr/>
          <a:lstStyle/>
          <a:p>
            <a:r>
              <a:rPr lang="en-US" smtClean="0"/>
              <a:t>Indocosmo Systems Pvt. Ltd. All Rights Reserved</a:t>
            </a:r>
            <a:endParaRPr lang="en-US" dirty="0"/>
          </a:p>
        </p:txBody>
      </p:sp>
      <p:pic>
        <p:nvPicPr>
          <p:cNvPr id="3" name="Content Placeholder 2"/>
          <p:cNvPicPr>
            <a:picLocks noGrp="1" noChangeAspect="1"/>
          </p:cNvPicPr>
          <p:nvPr>
            <p:ph idx="1"/>
          </p:nvPr>
        </p:nvPicPr>
        <p:blipFill>
          <a:blip r:embed="rId2"/>
          <a:stretch>
            <a:fillRect/>
          </a:stretch>
        </p:blipFill>
        <p:spPr>
          <a:xfrm>
            <a:off x="1358998" y="2447539"/>
            <a:ext cx="9474005" cy="3036071"/>
          </a:xfrm>
          <a:prstGeom prst="rect">
            <a:avLst/>
          </a:prstGeom>
        </p:spPr>
      </p:pic>
    </p:spTree>
    <p:extLst>
      <p:ext uri="{BB962C8B-B14F-4D97-AF65-F5344CB8AC3E}">
        <p14:creationId xmlns:p14="http://schemas.microsoft.com/office/powerpoint/2010/main" val="41477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12</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
        <p:nvSpPr>
          <p:cNvPr id="7" name="Rectangle 6"/>
          <p:cNvSpPr/>
          <p:nvPr/>
        </p:nvSpPr>
        <p:spPr>
          <a:xfrm>
            <a:off x="1295400" y="2057400"/>
            <a:ext cx="26670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solidFill>
                  <a:srgbClr val="000000"/>
                </a:solidFill>
              </a:rPr>
              <a:t>Development</a:t>
            </a:r>
            <a:endParaRPr lang="en-US" sz="2400" dirty="0">
              <a:solidFill>
                <a:srgbClr val="000000"/>
              </a:solidFill>
            </a:endParaRPr>
          </a:p>
        </p:txBody>
      </p:sp>
      <p:graphicFrame>
        <p:nvGraphicFramePr>
          <p:cNvPr id="8" name="Content Placeholder 5" descr="Organization chart showing one Project Manager box at the top, one Administrative Assistant box on the second level below the first and four Member Role boxes on the third bottom level"/>
          <p:cNvGraphicFramePr>
            <a:graphicFrameLocks noGrp="1"/>
          </p:cNvGraphicFramePr>
          <p:nvPr>
            <p:ph idx="1"/>
            <p:extLst>
              <p:ext uri="{D42A27DB-BD31-4B8C-83A1-F6EECF244321}">
                <p14:modId xmlns:p14="http://schemas.microsoft.com/office/powerpoint/2010/main" val="2251698079"/>
              </p:ext>
            </p:extLst>
          </p:nvPr>
        </p:nvGraphicFramePr>
        <p:xfrm>
          <a:off x="1341438" y="1901825"/>
          <a:ext cx="9509125" cy="4127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5931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graphicFrame>
        <p:nvGraphicFramePr>
          <p:cNvPr id="6" name="Content Placeholder 5" descr="Organization chart showing one Project Manager box at the top, one Administrative Assistant box on the second level below the first and four Member Role boxes on the third bottom level"/>
          <p:cNvGraphicFramePr>
            <a:graphicFrameLocks noGrp="1"/>
          </p:cNvGraphicFramePr>
          <p:nvPr>
            <p:ph idx="1"/>
            <p:extLst>
              <p:ext uri="{D42A27DB-BD31-4B8C-83A1-F6EECF244321}">
                <p14:modId xmlns:p14="http://schemas.microsoft.com/office/powerpoint/2010/main" val="505611118"/>
              </p:ext>
            </p:extLst>
          </p:nvPr>
        </p:nvGraphicFramePr>
        <p:xfrm>
          <a:off x="1341438" y="1901825"/>
          <a:ext cx="9509125" cy="4127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p:cNvSpPr>
            <a:spLocks noGrp="1"/>
          </p:cNvSpPr>
          <p:nvPr>
            <p:ph type="sldNum" sz="quarter" idx="12"/>
          </p:nvPr>
        </p:nvSpPr>
        <p:spPr/>
        <p:txBody>
          <a:bodyPr/>
          <a:lstStyle/>
          <a:p>
            <a:fld id="{CA8D9AD5-F248-4919-864A-CFD76CC027D6}" type="slidenum">
              <a:rPr lang="en-US" smtClean="0"/>
              <a:pPr/>
              <a:t>13</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
        <p:nvSpPr>
          <p:cNvPr id="7" name="Rectangle 6"/>
          <p:cNvSpPr/>
          <p:nvPr/>
        </p:nvSpPr>
        <p:spPr>
          <a:xfrm>
            <a:off x="1524000" y="2057400"/>
            <a:ext cx="26670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smtClean="0">
                <a:solidFill>
                  <a:srgbClr val="000000"/>
                </a:solidFill>
              </a:rPr>
              <a:t>QC</a:t>
            </a:r>
            <a:endParaRPr lang="en-US" sz="2400" dirty="0">
              <a:solidFill>
                <a:srgbClr val="000000"/>
              </a:solidFill>
            </a:endParaRPr>
          </a:p>
        </p:txBody>
      </p:sp>
    </p:spTree>
    <p:extLst>
      <p:ext uri="{BB962C8B-B14F-4D97-AF65-F5344CB8AC3E}">
        <p14:creationId xmlns:p14="http://schemas.microsoft.com/office/powerpoint/2010/main" val="55931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14</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258630889"/>
              </p:ext>
            </p:extLst>
          </p:nvPr>
        </p:nvGraphicFramePr>
        <p:xfrm>
          <a:off x="1447800" y="1905000"/>
          <a:ext cx="9372600" cy="4119880"/>
        </p:xfrm>
        <a:graphic>
          <a:graphicData uri="http://schemas.openxmlformats.org/drawingml/2006/table">
            <a:tbl>
              <a:tblPr firstRow="1" bandRow="1">
                <a:tableStyleId>{793D81CF-94F2-401A-BA57-92F5A7B2D0C5}</a:tableStyleId>
              </a:tblPr>
              <a:tblGrid>
                <a:gridCol w="3124200"/>
                <a:gridCol w="6248400"/>
              </a:tblGrid>
              <a:tr h="370840">
                <a:tc>
                  <a:txBody>
                    <a:bodyPr/>
                    <a:lstStyle/>
                    <a:p>
                      <a:r>
                        <a:rPr lang="en-US" dirty="0" smtClean="0"/>
                        <a:t>Roles</a:t>
                      </a:r>
                      <a:endParaRPr lang="en-US" dirty="0"/>
                    </a:p>
                  </a:txBody>
                  <a:tcPr/>
                </a:tc>
                <a:tc>
                  <a:txBody>
                    <a:bodyPr/>
                    <a:lstStyle/>
                    <a:p>
                      <a:r>
                        <a:rPr lang="en-US" dirty="0" smtClean="0"/>
                        <a:t>Responsibilities</a:t>
                      </a:r>
                      <a:endParaRPr lang="en-US" dirty="0"/>
                    </a:p>
                  </a:txBody>
                  <a:tcPr/>
                </a:tc>
              </a:tr>
              <a:tr h="370840">
                <a:tc>
                  <a:txBody>
                    <a:bodyPr/>
                    <a:lstStyle/>
                    <a:p>
                      <a:r>
                        <a:rPr lang="en-US" dirty="0" smtClean="0"/>
                        <a:t>Project Manager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Planning and Defining Scope.</a:t>
                      </a:r>
                    </a:p>
                    <a:p>
                      <a:pPr marL="342900" indent="-342900">
                        <a:buFont typeface="+mj-lt"/>
                        <a:buAutoNum type="arabicPeriod"/>
                      </a:pPr>
                      <a:r>
                        <a:rPr lang="en-US" sz="1800" b="0" i="0" kern="1200" dirty="0" smtClean="0">
                          <a:solidFill>
                            <a:schemeClr val="dk1"/>
                          </a:solidFill>
                          <a:latin typeface="+mn-lt"/>
                          <a:ea typeface="+mn-ea"/>
                          <a:cs typeface="+mn-cs"/>
                        </a:rPr>
                        <a:t>Resource Planning.</a:t>
                      </a:r>
                    </a:p>
                    <a:p>
                      <a:pPr marL="342900" indent="-342900">
                        <a:buFont typeface="+mj-lt"/>
                        <a:buAutoNum type="arabicPeriod"/>
                      </a:pPr>
                      <a:r>
                        <a:rPr lang="en-US" sz="1800" b="0" i="0" kern="1200" dirty="0" smtClean="0">
                          <a:solidFill>
                            <a:schemeClr val="tx1"/>
                          </a:solidFill>
                          <a:latin typeface="+mn-lt"/>
                          <a:ea typeface="+mn-ea"/>
                          <a:cs typeface="+mn-cs"/>
                        </a:rPr>
                        <a:t>High level schedule estimation.</a:t>
                      </a:r>
                    </a:p>
                    <a:p>
                      <a:pPr marL="342900" indent="-342900">
                        <a:buFont typeface="+mj-lt"/>
                        <a:buAutoNum type="arabicPeriod"/>
                      </a:pPr>
                      <a:r>
                        <a:rPr lang="en-US" sz="1800" b="0" i="0" kern="1200" dirty="0" smtClean="0">
                          <a:solidFill>
                            <a:schemeClr val="dk1"/>
                          </a:solidFill>
                          <a:latin typeface="+mn-lt"/>
                          <a:ea typeface="+mn-ea"/>
                          <a:cs typeface="+mn-cs"/>
                        </a:rPr>
                        <a:t>Cost Estimation.</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dk1"/>
                          </a:solidFill>
                          <a:latin typeface="+mn-lt"/>
                          <a:ea typeface="+mn-ea"/>
                          <a:cs typeface="+mn-cs"/>
                        </a:rPr>
                        <a:t>Budget Planning.</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tx1"/>
                          </a:solidFill>
                          <a:latin typeface="+mn-lt"/>
                          <a:ea typeface="+mn-ea"/>
                          <a:cs typeface="+mn-cs"/>
                        </a:rPr>
                        <a:t>Risk Management.</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tx1"/>
                          </a:solidFill>
                          <a:latin typeface="+mn-lt"/>
                          <a:ea typeface="+mn-ea"/>
                          <a:cs typeface="+mn-cs"/>
                        </a:rPr>
                        <a:t>Project Status Monitoring &amp; Control</a:t>
                      </a:r>
                    </a:p>
                  </a:txBody>
                  <a:tcPr/>
                </a:tc>
              </a:tr>
              <a:tr h="370840">
                <a:tc>
                  <a:txBody>
                    <a:bodyPr/>
                    <a:lstStyle/>
                    <a:p>
                      <a:r>
                        <a:rPr lang="en-US" dirty="0" smtClean="0"/>
                        <a:t>Project Leader</a:t>
                      </a:r>
                      <a:endParaRPr lang="en-US" dirty="0"/>
                    </a:p>
                  </a:txBody>
                  <a:tcPr/>
                </a:tc>
                <a:tc>
                  <a:txBody>
                    <a:bodyPr/>
                    <a:lstStyle/>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tx1"/>
                          </a:solidFill>
                          <a:latin typeface="+mn-lt"/>
                          <a:ea typeface="+mn-ea"/>
                          <a:cs typeface="+mn-cs"/>
                        </a:rPr>
                        <a:t>Activity Planning and Sequencing.</a:t>
                      </a:r>
                    </a:p>
                    <a:p>
                      <a:pPr marL="342900" indent="-342900">
                        <a:buFont typeface="+mj-lt"/>
                        <a:buAutoNum type="arabicPeriod"/>
                      </a:pPr>
                      <a:r>
                        <a:rPr lang="en-US" sz="1800" b="0" i="0" kern="1200" dirty="0" smtClean="0">
                          <a:solidFill>
                            <a:schemeClr val="tx1"/>
                          </a:solidFill>
                          <a:latin typeface="+mn-lt"/>
                          <a:ea typeface="+mn-ea"/>
                          <a:cs typeface="+mn-cs"/>
                        </a:rPr>
                        <a:t>Develop detail Schedule.</a:t>
                      </a:r>
                    </a:p>
                    <a:p>
                      <a:pPr marL="342900" indent="-342900">
                        <a:buFont typeface="+mj-lt"/>
                        <a:buAutoNum type="arabicPeriod"/>
                      </a:pPr>
                      <a:r>
                        <a:rPr lang="en-US" sz="1800" b="0" i="0" kern="1200" dirty="0" smtClean="0">
                          <a:solidFill>
                            <a:schemeClr val="dk1"/>
                          </a:solidFill>
                          <a:latin typeface="+mn-lt"/>
                          <a:ea typeface="+mn-ea"/>
                          <a:cs typeface="+mn-cs"/>
                        </a:rPr>
                        <a:t>Activity Time Estimation.</a:t>
                      </a:r>
                    </a:p>
                    <a:p>
                      <a:pPr marL="342900" indent="-342900">
                        <a:buFont typeface="+mj-lt"/>
                        <a:buAutoNum type="arabicPeriod"/>
                      </a:pPr>
                      <a:r>
                        <a:rPr lang="en-US" sz="1800" b="0" i="0" kern="1200" dirty="0" smtClean="0">
                          <a:solidFill>
                            <a:schemeClr val="dk1"/>
                          </a:solidFill>
                          <a:latin typeface="+mn-lt"/>
                          <a:ea typeface="+mn-ea"/>
                          <a:cs typeface="+mn-cs"/>
                        </a:rPr>
                        <a:t>Documentation.</a:t>
                      </a:r>
                    </a:p>
                    <a:p>
                      <a:pPr marL="342900" indent="-342900">
                        <a:buFont typeface="+mj-lt"/>
                        <a:buAutoNum type="arabicPeriod"/>
                      </a:pPr>
                      <a:r>
                        <a:rPr lang="en-US" sz="1800" b="0" i="0" kern="1200" dirty="0" smtClean="0">
                          <a:solidFill>
                            <a:schemeClr val="tx1"/>
                          </a:solidFill>
                          <a:latin typeface="+mn-lt"/>
                          <a:ea typeface="+mn-ea"/>
                          <a:cs typeface="+mn-cs"/>
                        </a:rPr>
                        <a:t>Risk Identification and Analysis.</a:t>
                      </a:r>
                    </a:p>
                    <a:p>
                      <a:pPr marL="342900" indent="-342900">
                        <a:buFont typeface="+mj-lt"/>
                        <a:buAutoNum type="arabicPeriod"/>
                      </a:pPr>
                      <a:r>
                        <a:rPr lang="en-US" sz="1800" b="0" i="0" kern="1200" dirty="0" smtClean="0">
                          <a:solidFill>
                            <a:schemeClr val="dk1"/>
                          </a:solidFill>
                          <a:latin typeface="+mn-lt"/>
                          <a:ea typeface="+mn-ea"/>
                          <a:cs typeface="+mn-cs"/>
                        </a:rPr>
                        <a:t>Monitoring activity status &amp; reporting status/progress to PM.</a:t>
                      </a:r>
                    </a:p>
                  </a:txBody>
                  <a:tcPr/>
                </a:tc>
              </a:tr>
            </a:tbl>
          </a:graphicData>
        </a:graphic>
      </p:graphicFrame>
    </p:spTree>
    <p:extLst>
      <p:ext uri="{BB962C8B-B14F-4D97-AF65-F5344CB8AC3E}">
        <p14:creationId xmlns:p14="http://schemas.microsoft.com/office/powerpoint/2010/main" val="55931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15</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584597034"/>
              </p:ext>
            </p:extLst>
          </p:nvPr>
        </p:nvGraphicFramePr>
        <p:xfrm>
          <a:off x="1447800" y="1905000"/>
          <a:ext cx="9448800" cy="2473960"/>
        </p:xfrm>
        <a:graphic>
          <a:graphicData uri="http://schemas.openxmlformats.org/drawingml/2006/table">
            <a:tbl>
              <a:tblPr firstRow="1" bandRow="1">
                <a:tableStyleId>{793D81CF-94F2-401A-BA57-92F5A7B2D0C5}</a:tableStyleId>
              </a:tblPr>
              <a:tblGrid>
                <a:gridCol w="3124200"/>
                <a:gridCol w="6324600"/>
              </a:tblGrid>
              <a:tr h="370840">
                <a:tc>
                  <a:txBody>
                    <a:bodyPr/>
                    <a:lstStyle/>
                    <a:p>
                      <a:r>
                        <a:rPr lang="en-US" dirty="0" smtClean="0"/>
                        <a:t>Roles</a:t>
                      </a:r>
                      <a:endParaRPr lang="en-US" dirty="0"/>
                    </a:p>
                  </a:txBody>
                  <a:tcPr/>
                </a:tc>
                <a:tc>
                  <a:txBody>
                    <a:bodyPr/>
                    <a:lstStyle/>
                    <a:p>
                      <a:r>
                        <a:rPr lang="en-US" dirty="0" smtClean="0"/>
                        <a:t>Responsibilities</a:t>
                      </a:r>
                      <a:endParaRPr lang="en-US" dirty="0"/>
                    </a:p>
                  </a:txBody>
                  <a:tcPr/>
                </a:tc>
              </a:tr>
              <a:tr h="370840">
                <a:tc>
                  <a:txBody>
                    <a:bodyPr/>
                    <a:lstStyle/>
                    <a:p>
                      <a:r>
                        <a:rPr lang="en-US" dirty="0" smtClean="0"/>
                        <a:t>Senior Developer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System Design &amp; Development</a:t>
                      </a:r>
                      <a:r>
                        <a:rPr lang="en-US" sz="1800" b="0" i="0" kern="1200" baseline="0" dirty="0" smtClean="0">
                          <a:solidFill>
                            <a:schemeClr val="dk1"/>
                          </a:solidFill>
                          <a:latin typeface="+mn-lt"/>
                          <a:ea typeface="+mn-ea"/>
                          <a:cs typeface="+mn-cs"/>
                        </a:rPr>
                        <a:t> </a:t>
                      </a:r>
                    </a:p>
                    <a:p>
                      <a:pPr marL="342900" indent="-342900">
                        <a:buFont typeface="+mj-lt"/>
                        <a:buAutoNum type="arabicPeriod"/>
                      </a:pPr>
                      <a:r>
                        <a:rPr lang="en-US" sz="1800" b="0" i="0" kern="1200" dirty="0" smtClean="0">
                          <a:solidFill>
                            <a:schemeClr val="dk1"/>
                          </a:solidFill>
                          <a:latin typeface="+mn-lt"/>
                          <a:ea typeface="+mn-ea"/>
                          <a:cs typeface="+mn-cs"/>
                        </a:rPr>
                        <a:t>Research and evaluate suitable libraries. </a:t>
                      </a:r>
                    </a:p>
                    <a:p>
                      <a:pPr marL="342900" indent="-342900">
                        <a:buFont typeface="+mj-lt"/>
                        <a:buAutoNum type="arabicPeriod" startAt="3"/>
                      </a:pPr>
                      <a:r>
                        <a:rPr lang="en-US" sz="1800" b="0" i="0" kern="1200" dirty="0" smtClean="0">
                          <a:solidFill>
                            <a:schemeClr val="dk1"/>
                          </a:solidFill>
                          <a:latin typeface="+mn-lt"/>
                          <a:ea typeface="+mn-ea"/>
                          <a:cs typeface="+mn-cs"/>
                        </a:rPr>
                        <a:t>Design &amp; develop unit testing procedures and activities.</a:t>
                      </a:r>
                    </a:p>
                    <a:p>
                      <a:pPr marL="342900" indent="-342900">
                        <a:buFont typeface="+mj-lt"/>
                        <a:buAutoNum type="arabicPeriod" startAt="3"/>
                      </a:pPr>
                      <a:r>
                        <a:rPr lang="en-US" sz="1800" b="0" i="0" kern="1200" dirty="0" smtClean="0">
                          <a:solidFill>
                            <a:schemeClr val="tx1"/>
                          </a:solidFill>
                          <a:latin typeface="+mn-lt"/>
                          <a:ea typeface="+mn-ea"/>
                          <a:cs typeface="+mn-cs"/>
                        </a:rPr>
                        <a:t>Fixing of bugs reported by testing</a:t>
                      </a:r>
                      <a:r>
                        <a:rPr lang="en-US" sz="1800" b="0" i="0" kern="1200" baseline="0" dirty="0" smtClean="0">
                          <a:solidFill>
                            <a:schemeClr val="tx1"/>
                          </a:solidFill>
                          <a:latin typeface="+mn-lt"/>
                          <a:ea typeface="+mn-ea"/>
                          <a:cs typeface="+mn-cs"/>
                        </a:rPr>
                        <a:t> team.</a:t>
                      </a:r>
                      <a:endParaRPr lang="en-US" sz="1800" b="0" i="0" kern="1200" dirty="0" smtClean="0">
                        <a:solidFill>
                          <a:schemeClr val="tx1"/>
                        </a:solidFill>
                        <a:latin typeface="+mn-lt"/>
                        <a:ea typeface="+mn-ea"/>
                        <a:cs typeface="+mn-cs"/>
                      </a:endParaRPr>
                    </a:p>
                    <a:p>
                      <a:pPr marL="342900" indent="-342900">
                        <a:buFont typeface="+mj-lt"/>
                        <a:buAutoNum type="arabicPeriod" startAt="3"/>
                      </a:pPr>
                      <a:r>
                        <a:rPr lang="en-US" sz="1800" b="0" i="0" kern="1200" dirty="0" smtClean="0">
                          <a:solidFill>
                            <a:schemeClr val="dk1"/>
                          </a:solidFill>
                          <a:latin typeface="+mn-lt"/>
                          <a:ea typeface="+mn-ea"/>
                          <a:cs typeface="+mn-cs"/>
                        </a:rPr>
                        <a:t>Implement best practices, standards and procedures.</a:t>
                      </a:r>
                    </a:p>
                  </a:txBody>
                  <a:tcPr/>
                </a:tc>
              </a:tr>
              <a:tr h="370840">
                <a:tc>
                  <a:txBody>
                    <a:bodyPr/>
                    <a:lstStyle/>
                    <a:p>
                      <a:r>
                        <a:rPr lang="en-US" dirty="0" smtClean="0"/>
                        <a:t>Communicative Person</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Clarification of doubts regarding the project</a:t>
                      </a:r>
                      <a:r>
                        <a:rPr lang="en-US" sz="1800" b="0" i="0" kern="1200" baseline="0" dirty="0" smtClean="0">
                          <a:solidFill>
                            <a:schemeClr val="dk1"/>
                          </a:solidFill>
                          <a:latin typeface="+mn-lt"/>
                          <a:ea typeface="+mn-ea"/>
                          <a:cs typeface="+mn-cs"/>
                        </a:rPr>
                        <a:t> with client.</a:t>
                      </a:r>
                    </a:p>
                    <a:p>
                      <a:pPr marL="342900" indent="-342900">
                        <a:buFont typeface="+mj-lt"/>
                        <a:buAutoNum type="arabicPeriod"/>
                      </a:pPr>
                      <a:r>
                        <a:rPr lang="en-US" sz="1800" b="0" i="0" kern="1200" baseline="0" dirty="0" smtClean="0">
                          <a:solidFill>
                            <a:schemeClr val="dk1"/>
                          </a:solidFill>
                          <a:latin typeface="+mn-lt"/>
                          <a:ea typeface="+mn-ea"/>
                          <a:cs typeface="+mn-cs"/>
                        </a:rPr>
                        <a:t>Conversion of mails from client and explain to the team.</a:t>
                      </a:r>
                      <a:endParaRPr lang="en-US" sz="1800" b="0" i="0" kern="1200" dirty="0" smtClean="0">
                        <a:solidFill>
                          <a:schemeClr val="dk1"/>
                        </a:solidFill>
                        <a:latin typeface="+mn-lt"/>
                        <a:ea typeface="+mn-ea"/>
                        <a:cs typeface="+mn-cs"/>
                      </a:endParaRPr>
                    </a:p>
                  </a:txBody>
                  <a:tcPr/>
                </a:tc>
              </a:tr>
            </a:tbl>
          </a:graphicData>
        </a:graphic>
      </p:graphicFrame>
    </p:spTree>
    <p:extLst>
      <p:ext uri="{BB962C8B-B14F-4D97-AF65-F5344CB8AC3E}">
        <p14:creationId xmlns:p14="http://schemas.microsoft.com/office/powerpoint/2010/main" val="55931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Team </a:t>
            </a:r>
            <a:r>
              <a:rPr lang="en-US" dirty="0"/>
              <a:t>Roles and Responsibilities</a:t>
            </a:r>
          </a:p>
        </p:txBody>
      </p:sp>
      <p:sp>
        <p:nvSpPr>
          <p:cNvPr id="4" name="Slide Number Placeholder 3"/>
          <p:cNvSpPr>
            <a:spLocks noGrp="1"/>
          </p:cNvSpPr>
          <p:nvPr>
            <p:ph type="sldNum" sz="quarter" idx="12"/>
          </p:nvPr>
        </p:nvSpPr>
        <p:spPr/>
        <p:txBody>
          <a:bodyPr/>
          <a:lstStyle/>
          <a:p>
            <a:fld id="{CA8D9AD5-F248-4919-864A-CFD76CC027D6}" type="slidenum">
              <a:rPr lang="en-US" smtClean="0"/>
              <a:pPr/>
              <a:t>16</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01153539"/>
              </p:ext>
            </p:extLst>
          </p:nvPr>
        </p:nvGraphicFramePr>
        <p:xfrm>
          <a:off x="1447800" y="1752600"/>
          <a:ext cx="9448800" cy="3845560"/>
        </p:xfrm>
        <a:graphic>
          <a:graphicData uri="http://schemas.openxmlformats.org/drawingml/2006/table">
            <a:tbl>
              <a:tblPr firstRow="1" bandRow="1">
                <a:tableStyleId>{793D81CF-94F2-401A-BA57-92F5A7B2D0C5}</a:tableStyleId>
              </a:tblPr>
              <a:tblGrid>
                <a:gridCol w="2971800"/>
                <a:gridCol w="6477000"/>
              </a:tblGrid>
              <a:tr h="370840">
                <a:tc>
                  <a:txBody>
                    <a:bodyPr/>
                    <a:lstStyle/>
                    <a:p>
                      <a:r>
                        <a:rPr lang="en-US" dirty="0" smtClean="0"/>
                        <a:t>Roles</a:t>
                      </a:r>
                      <a:endParaRPr lang="en-US" dirty="0"/>
                    </a:p>
                  </a:txBody>
                  <a:tcPr/>
                </a:tc>
                <a:tc>
                  <a:txBody>
                    <a:bodyPr/>
                    <a:lstStyle/>
                    <a:p>
                      <a:r>
                        <a:rPr lang="en-US" dirty="0" smtClean="0"/>
                        <a:t>Responsibilities</a:t>
                      </a:r>
                      <a:endParaRPr lang="en-US" dirty="0"/>
                    </a:p>
                  </a:txBody>
                  <a:tcPr/>
                </a:tc>
              </a:tr>
              <a:tr h="370840">
                <a:tc>
                  <a:txBody>
                    <a:bodyPr/>
                    <a:lstStyle/>
                    <a:p>
                      <a:pPr lvl="0"/>
                      <a:r>
                        <a:rPr lang="en-US" sz="1800" dirty="0" smtClean="0"/>
                        <a:t>QC Manager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Ensure the CXF conversion system meet acceptable quality standards</a:t>
                      </a:r>
                      <a:r>
                        <a:rPr lang="en-US" sz="1800" b="0" i="0" kern="1200" baseline="0" dirty="0" smtClean="0">
                          <a:solidFill>
                            <a:schemeClr val="dk1"/>
                          </a:solidFill>
                          <a:latin typeface="+mn-lt"/>
                          <a:ea typeface="+mn-ea"/>
                          <a:cs typeface="+mn-cs"/>
                        </a:rPr>
                        <a:t>.</a:t>
                      </a:r>
                    </a:p>
                    <a:p>
                      <a:pPr marL="342900" indent="-342900">
                        <a:buFont typeface="+mj-lt"/>
                        <a:buAutoNum type="arabicPeriod"/>
                      </a:pPr>
                      <a:r>
                        <a:rPr lang="en-US" sz="1800" b="0" i="0" kern="1200" baseline="0" dirty="0" smtClean="0">
                          <a:solidFill>
                            <a:schemeClr val="dk1"/>
                          </a:solidFill>
                          <a:latin typeface="+mn-lt"/>
                          <a:ea typeface="+mn-ea"/>
                          <a:cs typeface="+mn-cs"/>
                        </a:rPr>
                        <a:t>Coordinate team member efforts.</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dk1"/>
                          </a:solidFill>
                          <a:latin typeface="+mn-lt"/>
                          <a:ea typeface="+mn-ea"/>
                          <a:cs typeface="+mn-cs"/>
                        </a:rPr>
                        <a:t>Defining the scope of testing within the context of each release/delivery.</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dirty="0" smtClean="0">
                          <a:solidFill>
                            <a:schemeClr val="dk1"/>
                          </a:solidFill>
                          <a:latin typeface="+mn-lt"/>
                          <a:ea typeface="+mn-ea"/>
                          <a:cs typeface="+mn-cs"/>
                        </a:rPr>
                        <a:t>Planning, deploying and managing the testing effort for any given engagement/release.</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800" b="0" i="0" kern="1200" baseline="0" dirty="0" smtClean="0">
                          <a:solidFill>
                            <a:schemeClr val="dk1"/>
                          </a:solidFill>
                          <a:latin typeface="+mn-lt"/>
                          <a:ea typeface="+mn-ea"/>
                          <a:cs typeface="+mn-cs"/>
                        </a:rPr>
                        <a:t>Deciding the testing tools &amp; processes.</a:t>
                      </a:r>
                    </a:p>
                  </a:txBody>
                  <a:tcPr/>
                </a:tc>
              </a:tr>
              <a:tr h="370840">
                <a:tc>
                  <a:txBody>
                    <a:bodyPr/>
                    <a:lstStyle/>
                    <a:p>
                      <a:r>
                        <a:rPr lang="en-US" dirty="0" smtClean="0"/>
                        <a:t>Tester</a:t>
                      </a:r>
                      <a:endParaRPr lang="en-US" dirty="0"/>
                    </a:p>
                  </a:txBody>
                  <a:tcPr/>
                </a:tc>
                <a:tc>
                  <a:txBody>
                    <a:bodyPr/>
                    <a:lstStyle/>
                    <a:p>
                      <a:pPr marL="342900" indent="-342900">
                        <a:buFont typeface="+mj-lt"/>
                        <a:buAutoNum type="arabicPeriod"/>
                      </a:pPr>
                      <a:r>
                        <a:rPr lang="en-US" sz="1800" b="0" i="0" kern="1200" dirty="0" smtClean="0">
                          <a:solidFill>
                            <a:schemeClr val="dk1"/>
                          </a:solidFill>
                          <a:latin typeface="+mn-lt"/>
                          <a:ea typeface="+mn-ea"/>
                          <a:cs typeface="+mn-cs"/>
                        </a:rPr>
                        <a:t>Setting up the testing environment</a:t>
                      </a:r>
                    </a:p>
                    <a:p>
                      <a:pPr marL="342900" indent="-342900">
                        <a:buFont typeface="+mj-lt"/>
                        <a:buAutoNum type="arabicPeriod"/>
                      </a:pPr>
                      <a:r>
                        <a:rPr lang="en-US" sz="1800" b="0" i="0" kern="1200" dirty="0" smtClean="0">
                          <a:solidFill>
                            <a:schemeClr val="dk1"/>
                          </a:solidFill>
                          <a:latin typeface="+mn-lt"/>
                          <a:ea typeface="+mn-ea"/>
                          <a:cs typeface="+mn-cs"/>
                        </a:rPr>
                        <a:t>Develop test cases for</a:t>
                      </a:r>
                      <a:r>
                        <a:rPr lang="en-US" sz="1800" b="0" i="0" kern="1200" baseline="0" dirty="0" smtClean="0">
                          <a:solidFill>
                            <a:schemeClr val="dk1"/>
                          </a:solidFill>
                          <a:latin typeface="+mn-lt"/>
                          <a:ea typeface="+mn-ea"/>
                          <a:cs typeface="+mn-cs"/>
                        </a:rPr>
                        <a:t> testing</a:t>
                      </a:r>
                      <a:endParaRPr lang="en-US" sz="1800" b="0" i="0" kern="1200" dirty="0" smtClean="0">
                        <a:solidFill>
                          <a:schemeClr val="dk1"/>
                        </a:solidFill>
                        <a:latin typeface="+mn-lt"/>
                        <a:ea typeface="+mn-ea"/>
                        <a:cs typeface="+mn-cs"/>
                      </a:endParaRPr>
                    </a:p>
                    <a:p>
                      <a:pPr marL="342900" indent="-342900">
                        <a:buFont typeface="+mj-lt"/>
                        <a:buAutoNum type="arabicPeriod"/>
                      </a:pPr>
                      <a:r>
                        <a:rPr lang="en-US" sz="1800" b="0" i="0" kern="1200" dirty="0" smtClean="0">
                          <a:solidFill>
                            <a:schemeClr val="dk1"/>
                          </a:solidFill>
                          <a:latin typeface="+mn-lt"/>
                          <a:ea typeface="+mn-ea"/>
                          <a:cs typeface="+mn-cs"/>
                        </a:rPr>
                        <a:t>Execute and log the test results, evaluate the results and document issues found.</a:t>
                      </a:r>
                    </a:p>
                  </a:txBody>
                  <a:tcPr/>
                </a:tc>
              </a:tr>
            </a:tbl>
          </a:graphicData>
        </a:graphic>
      </p:graphicFrame>
    </p:spTree>
    <p:extLst>
      <p:ext uri="{BB962C8B-B14F-4D97-AF65-F5344CB8AC3E}">
        <p14:creationId xmlns:p14="http://schemas.microsoft.com/office/powerpoint/2010/main" val="55931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Assumptions </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17</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
        <p:nvSpPr>
          <p:cNvPr id="7" name="Content Placeholder 6"/>
          <p:cNvSpPr>
            <a:spLocks noGrp="1"/>
          </p:cNvSpPr>
          <p:nvPr>
            <p:ph idx="1"/>
          </p:nvPr>
        </p:nvSpPr>
        <p:spPr/>
        <p:txBody>
          <a:bodyPr/>
          <a:lstStyle/>
          <a:p>
            <a:r>
              <a:rPr lang="en-US" dirty="0"/>
              <a:t>Current issues are related to processing the latest versions of AutoCAD files in </a:t>
            </a:r>
            <a:r>
              <a:rPr lang="en-US" dirty="0" err="1"/>
              <a:t>CWorks</a:t>
            </a:r>
            <a:r>
              <a:rPr lang="en-US" dirty="0"/>
              <a:t> CAD System because of the incompatibility of the DXF format for 3D objects.</a:t>
            </a:r>
          </a:p>
          <a:p>
            <a:r>
              <a:rPr lang="en-US" dirty="0"/>
              <a:t>Proposed system need not support  versions of AutoCAD earlier than AutoCAD 2000.</a:t>
            </a:r>
          </a:p>
          <a:p>
            <a:r>
              <a:rPr lang="en-US" dirty="0" err="1"/>
              <a:t>Teigha</a:t>
            </a:r>
            <a:r>
              <a:rPr lang="en-US" dirty="0"/>
              <a:t> libraries are bug free as it is being maintained by a huge group of professional programmers and also it is a paid service.</a:t>
            </a:r>
          </a:p>
          <a:p>
            <a:r>
              <a:rPr lang="en-US" dirty="0" err="1"/>
              <a:t>CWorks</a:t>
            </a:r>
            <a:r>
              <a:rPr lang="en-US" dirty="0"/>
              <a:t> CAD output will be the original drawing with added scaffolding structure.</a:t>
            </a:r>
          </a:p>
          <a:p>
            <a:endParaRPr lang="en-US" dirty="0"/>
          </a:p>
        </p:txBody>
      </p:sp>
    </p:spTree>
    <p:extLst>
      <p:ext uri="{BB962C8B-B14F-4D97-AF65-F5344CB8AC3E}">
        <p14:creationId xmlns:p14="http://schemas.microsoft.com/office/powerpoint/2010/main" val="4091845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Risk Management Plan</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18</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pic>
        <p:nvPicPr>
          <p:cNvPr id="7" name="Content Placeholder 6"/>
          <p:cNvPicPr>
            <a:picLocks noGrp="1" noChangeAspect="1"/>
          </p:cNvPicPr>
          <p:nvPr>
            <p:ph idx="1"/>
          </p:nvPr>
        </p:nvPicPr>
        <p:blipFill>
          <a:blip r:embed="rId2"/>
          <a:stretch>
            <a:fillRect/>
          </a:stretch>
        </p:blipFill>
        <p:spPr>
          <a:xfrm>
            <a:off x="1341438" y="2512454"/>
            <a:ext cx="9509125" cy="2906242"/>
          </a:xfrm>
          <a:prstGeom prst="rect">
            <a:avLst/>
          </a:prstGeom>
        </p:spPr>
      </p:pic>
    </p:spTree>
    <p:extLst>
      <p:ext uri="{BB962C8B-B14F-4D97-AF65-F5344CB8AC3E}">
        <p14:creationId xmlns:p14="http://schemas.microsoft.com/office/powerpoint/2010/main" val="4091845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Management and Performance Measures</a:t>
            </a:r>
          </a:p>
        </p:txBody>
      </p:sp>
      <p:sp>
        <p:nvSpPr>
          <p:cNvPr id="3" name="Content Placeholder 2"/>
          <p:cNvSpPr>
            <a:spLocks noGrp="1"/>
          </p:cNvSpPr>
          <p:nvPr>
            <p:ph idx="1"/>
          </p:nvPr>
        </p:nvSpPr>
        <p:spPr/>
        <p:txBody>
          <a:bodyPr>
            <a:normAutofit/>
          </a:bodyPr>
          <a:lstStyle/>
          <a:p>
            <a:r>
              <a:rPr lang="en-US" dirty="0"/>
              <a:t>Accuracy of information of the objects in AutoCAD drawing files . </a:t>
            </a:r>
          </a:p>
          <a:p>
            <a:r>
              <a:rPr lang="en-US" dirty="0"/>
              <a:t>System should support conversion of AutoCAD drawing </a:t>
            </a:r>
            <a:r>
              <a:rPr lang="en-US" dirty="0">
                <a:solidFill>
                  <a:schemeClr val="tx1"/>
                </a:solidFill>
              </a:rPr>
              <a:t>files (AutoCAD 2000 and later versions) to CXF files.</a:t>
            </a:r>
          </a:p>
          <a:p>
            <a:r>
              <a:rPr lang="en-US" dirty="0"/>
              <a:t>System should support reverse conversion of  CXF files to AutoCAD drawing </a:t>
            </a:r>
            <a:r>
              <a:rPr lang="en-US" dirty="0">
                <a:solidFill>
                  <a:schemeClr val="tx1"/>
                </a:solidFill>
              </a:rPr>
              <a:t>files (AutoCAD 2000 and later versions).</a:t>
            </a:r>
          </a:p>
          <a:p>
            <a:r>
              <a:rPr lang="en-US" dirty="0"/>
              <a:t>Quality and Accuracy testing on completion of each development phase.</a:t>
            </a:r>
          </a:p>
          <a:p>
            <a:r>
              <a:rPr lang="en-US" dirty="0"/>
              <a:t>Overall testing on completion of system functionalities.</a:t>
            </a:r>
          </a:p>
          <a:p>
            <a:r>
              <a:rPr lang="en-US" dirty="0"/>
              <a:t>Processing &amp; Testing the AutoCAD file versions.</a:t>
            </a:r>
          </a:p>
          <a:p>
            <a:r>
              <a:rPr lang="en-US" dirty="0"/>
              <a:t>Ensure the quality of deliveries in each development phase through client interaction. </a:t>
            </a:r>
          </a:p>
          <a:p>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19</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1585542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Status Monitoring &amp; Reporting</a:t>
            </a:r>
            <a:endParaRPr lang="en-US" dirty="0"/>
          </a:p>
        </p:txBody>
      </p:sp>
      <p:sp>
        <p:nvSpPr>
          <p:cNvPr id="3" name="Content Placeholder 2"/>
          <p:cNvSpPr>
            <a:spLocks noGrp="1"/>
          </p:cNvSpPr>
          <p:nvPr>
            <p:ph idx="1"/>
          </p:nvPr>
        </p:nvSpPr>
        <p:spPr/>
        <p:txBody>
          <a:bodyPr>
            <a:normAutofit/>
          </a:bodyPr>
          <a:lstStyle/>
          <a:p>
            <a:r>
              <a:rPr lang="en-US" dirty="0"/>
              <a:t>Programmers must report the progress to the PL everyday</a:t>
            </a:r>
          </a:p>
          <a:p>
            <a:r>
              <a:rPr lang="en-US" dirty="0"/>
              <a:t>PL to report the project progress  status to PM every day</a:t>
            </a:r>
          </a:p>
          <a:p>
            <a:r>
              <a:rPr lang="en-US" dirty="0"/>
              <a:t>Tester to report the status to QC Manager every day</a:t>
            </a:r>
          </a:p>
          <a:p>
            <a:r>
              <a:rPr lang="en-US" dirty="0"/>
              <a:t>QC Manager to report the progress to PM every day</a:t>
            </a:r>
          </a:p>
          <a:p>
            <a:r>
              <a:rPr lang="en-US" dirty="0"/>
              <a:t>PM to  report the project progress  status to CEO every week.</a:t>
            </a:r>
          </a:p>
          <a:p>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20</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p14="http://schemas.microsoft.com/office/powerpoint/2010/main" val="1585542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And Technologies</a:t>
            </a:r>
            <a:endParaRPr lang="en-US" dirty="0"/>
          </a:p>
        </p:txBody>
      </p:sp>
      <p:sp>
        <p:nvSpPr>
          <p:cNvPr id="3" name="Content Placeholder 2"/>
          <p:cNvSpPr>
            <a:spLocks noGrp="1"/>
          </p:cNvSpPr>
          <p:nvPr>
            <p:ph idx="1"/>
          </p:nvPr>
        </p:nvSpPr>
        <p:spPr/>
        <p:txBody>
          <a:bodyPr/>
          <a:lstStyle/>
          <a:p>
            <a:r>
              <a:rPr lang="en-US" dirty="0"/>
              <a:t>Visual Studio Dot net 4.5 , C# </a:t>
            </a:r>
          </a:p>
          <a:p>
            <a:r>
              <a:rPr lang="en-US" dirty="0"/>
              <a:t>AutoCAD 2000 and later versions.</a:t>
            </a:r>
          </a:p>
          <a:p>
            <a:r>
              <a:rPr lang="en-US" dirty="0"/>
              <a:t>ODA – Open Design Alliance</a:t>
            </a:r>
            <a:r>
              <a:rPr lang="en-US" u="sng" dirty="0"/>
              <a:t> </a:t>
            </a:r>
            <a:r>
              <a:rPr lang="en-US" dirty="0"/>
              <a:t>(</a:t>
            </a:r>
            <a:r>
              <a:rPr lang="en-US" dirty="0" err="1"/>
              <a:t>Teigha</a:t>
            </a:r>
            <a:r>
              <a:rPr lang="en-US" dirty="0"/>
              <a:t> library 4.3.11)</a:t>
            </a:r>
            <a:endParaRPr lang="en-US" dirty="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21</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667000"/>
            <a:ext cx="9509760" cy="1014984"/>
          </a:xfrm>
        </p:spPr>
        <p:txBody>
          <a:bodyPr/>
          <a:lstStyle/>
          <a:p>
            <a:pPr algn="ctr"/>
            <a:r>
              <a:rPr lang="en-US" dirty="0" smtClean="0"/>
              <a:t>Any Questions?</a:t>
            </a:r>
            <a:endParaRPr lang="en-US" dirty="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22</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490216"/>
            <a:ext cx="9509760" cy="1014984"/>
          </a:xfrm>
        </p:spPr>
        <p:txBody>
          <a:bodyPr/>
          <a:lstStyle/>
          <a:p>
            <a:pPr algn="ctr"/>
            <a:r>
              <a:rPr lang="en-US" dirty="0" smtClean="0"/>
              <a:t>Thank You All</a:t>
            </a:r>
            <a:endParaRPr lang="en-US" dirty="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23</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roject-initiation">
  <a:themeElements>
    <a:clrScheme name="Banded_Design_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a:gsLst>
            <a:gs pos="0">
              <a:schemeClr val="phClr">
                <a:lumMod val="0"/>
                <a:lumOff val="100000"/>
              </a:schemeClr>
            </a:gs>
            <a:gs pos="72000">
              <a:schemeClr val="phClr"/>
            </a:gs>
            <a:gs pos="100000">
              <a:schemeClr val="phClr">
                <a:lumMod val="90000"/>
              </a:schemeClr>
            </a:gs>
          </a:gsLst>
          <a:lin ang="5400000" scaled="1"/>
        </a:gradFill>
        <a:gradFill flip="none" rotWithShape="1">
          <a:gsLst>
            <a:gs pos="32000">
              <a:schemeClr val="phClr"/>
            </a:gs>
            <a:gs pos="100000">
              <a:schemeClr val="phClr">
                <a:lumMod val="75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TF03417271.potx" id="{FAD70E18-2F21-4BAE-983F-13051C6D1C17}" vid="{4B4DF9DC-15EC-4671-A52A-56A08B977F11}"/>
    </a:ext>
  </a:extLst>
</a:theme>
</file>

<file path=ppt/theme/theme2.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project-initiation</Template>
  <TotalTime>649</TotalTime>
  <Words>1663</Words>
  <Application>Microsoft Office PowerPoint</Application>
  <PresentationFormat>Widescreen</PresentationFormat>
  <Paragraphs>245</Paragraphs>
  <Slides>23</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Corbel</vt:lpstr>
      <vt:lpstr>Euphemia</vt:lpstr>
      <vt:lpstr>Wingdings</vt:lpstr>
      <vt:lpstr>project-initiation</vt:lpstr>
      <vt:lpstr>Cworks CXF</vt:lpstr>
      <vt:lpstr>CWorks CXF (CWorks-CXF -v1)</vt:lpstr>
      <vt:lpstr>About  The Customer</vt:lpstr>
      <vt:lpstr>About The Project</vt:lpstr>
      <vt:lpstr>Project Overview</vt:lpstr>
      <vt:lpstr>Project Objectives</vt:lpstr>
      <vt:lpstr>Success Factors</vt:lpstr>
      <vt:lpstr>Implementation</vt:lpstr>
      <vt:lpstr>Implementation</vt:lpstr>
      <vt:lpstr>Project Schedule and Milestones</vt:lpstr>
      <vt:lpstr>Project Schedule and Milestones</vt:lpstr>
      <vt:lpstr>Project Team Roles and Responsibilities</vt:lpstr>
      <vt:lpstr>Project Team Roles and Responsibilities</vt:lpstr>
      <vt:lpstr>Project Team Roles and Responsibilities</vt:lpstr>
      <vt:lpstr>Project Team Roles and Responsibilities</vt:lpstr>
      <vt:lpstr>Project Team Roles and Responsibilities</vt:lpstr>
      <vt:lpstr>Assumptions </vt:lpstr>
      <vt:lpstr>Risk Management Plan</vt:lpstr>
      <vt:lpstr>Quality Management and Performance Measures</vt:lpstr>
      <vt:lpstr>Project Status Monitoring &amp; Reporting</vt:lpstr>
      <vt:lpstr>Tools And Technologies</vt:lpstr>
      <vt:lpstr>Any Questions?</vt:lpstr>
      <vt:lpstr>Thank You All</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Initiation</dc:title>
  <dc:creator>Suresh</dc:creator>
  <cp:lastModifiedBy>Suraj</cp:lastModifiedBy>
  <cp:revision>301</cp:revision>
  <dcterms:created xsi:type="dcterms:W3CDTF">2017-11-01T05:54:35Z</dcterms:created>
  <dcterms:modified xsi:type="dcterms:W3CDTF">2019-06-24T08:33:50Z</dcterms:modified>
</cp:coreProperties>
</file>