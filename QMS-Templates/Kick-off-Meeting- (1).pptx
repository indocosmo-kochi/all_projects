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diagrams/layout2.xml" ContentType="application/vnd.openxmlformats-officedocument.drawingml.diagram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65" r:id="rId2"/>
    <p:sldId id="274" r:id="rId3"/>
    <p:sldId id="302" r:id="rId4"/>
    <p:sldId id="289" r:id="rId5"/>
    <p:sldId id="304" r:id="rId6"/>
    <p:sldId id="290" r:id="rId7"/>
    <p:sldId id="292" r:id="rId8"/>
    <p:sldId id="294" r:id="rId9"/>
    <p:sldId id="303" r:id="rId10"/>
    <p:sldId id="298" r:id="rId11"/>
    <p:sldId id="305" r:id="rId12"/>
    <p:sldId id="306" r:id="rId13"/>
    <p:sldId id="307" r:id="rId14"/>
    <p:sldId id="308" r:id="rId15"/>
    <p:sldId id="309" r:id="rId16"/>
    <p:sldId id="310" r:id="rId17"/>
    <p:sldId id="280" r:id="rId18"/>
    <p:sldId id="311" r:id="rId19"/>
    <p:sldId id="284" r:id="rId20"/>
    <p:sldId id="312" r:id="rId21"/>
    <p:sldId id="301" r:id="rId22"/>
    <p:sldId id="299" r:id="rId23"/>
    <p:sldId id="30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pos="3840" userDrawn="1">
          <p15:clr>
            <a:srgbClr val="A4A3A4"/>
          </p15:clr>
        </p15:guide>
        <p15:guide id="2" pos="6816" userDrawn="1">
          <p15:clr>
            <a:srgbClr val="A4A3A4"/>
          </p15:clr>
        </p15:guide>
        <p15:guide id="3" pos="816" userDrawn="1">
          <p15:clr>
            <a:srgbClr val="A4A3A4"/>
          </p15:clr>
        </p15:guide>
        <p15:guide id="4" orient="horz" pos="2160">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8"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793D81CF-94F2-401A-BA57-92F5A7B2D0C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0000" autoAdjust="0"/>
    <p:restoredTop sz="82310" autoAdjust="0"/>
  </p:normalViewPr>
  <p:slideViewPr>
    <p:cSldViewPr>
      <p:cViewPr varScale="1">
        <p:scale>
          <a:sx n="75" d="100"/>
          <a:sy n="75" d="100"/>
        </p:scale>
        <p:origin x="-894" y="-84"/>
      </p:cViewPr>
      <p:guideLst>
        <p:guide orient="horz" pos="2160"/>
        <p:guide pos="3840"/>
        <p:guide pos="6816"/>
        <p:guide pos="816"/>
      </p:guideLst>
    </p:cSldViewPr>
  </p:slideViewPr>
  <p:notesTextViewPr>
    <p:cViewPr>
      <p:scale>
        <a:sx n="1" d="1"/>
        <a:sy n="1" d="1"/>
      </p:scale>
      <p:origin x="0" y="0"/>
    </p:cViewPr>
  </p:notesTextViewPr>
  <p:notesViewPr>
    <p:cSldViewPr>
      <p:cViewPr varScale="1">
        <p:scale>
          <a:sx n="95" d="100"/>
          <a:sy n="95" d="100"/>
        </p:scale>
        <p:origin x="3576" y="84"/>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502359-E29E-4A2D-ACAC-4DCAC351BAD4}" type="doc">
      <dgm:prSet loTypeId="urn:microsoft.com/office/officeart/2005/8/layout/hierarchy2" loCatId="hierarchy" qsTypeId="urn:microsoft.com/office/officeart/2005/8/quickstyle/simple1" qsCatId="simple" csTypeId="urn:microsoft.com/office/officeart/2005/8/colors/accent0_3" csCatId="mainScheme" phldr="1"/>
      <dgm:spPr/>
      <dgm:t>
        <a:bodyPr/>
        <a:lstStyle/>
        <a:p>
          <a:endParaRPr lang="en-US"/>
        </a:p>
      </dgm:t>
    </dgm:pt>
    <dgm:pt modelId="{1AE76108-91FB-44D8-8A89-B8E208F7E5CA}">
      <dgm:prSet phldrT="[Text]" custT="1"/>
      <dgm:spPr/>
      <dgm:t>
        <a:bodyPr/>
        <a:lstStyle/>
        <a:p>
          <a:r>
            <a:rPr lang="en-US" sz="2200" dirty="0" smtClean="0"/>
            <a:t>Mohandas P M</a:t>
          </a:r>
        </a:p>
        <a:p>
          <a:r>
            <a:rPr lang="en-US" sz="2200" dirty="0" smtClean="0"/>
            <a:t>Project Manager</a:t>
          </a:r>
          <a:endParaRPr lang="en-US" sz="2200" dirty="0"/>
        </a:p>
      </dgm:t>
    </dgm:pt>
    <dgm:pt modelId="{FB6FE0FF-6322-4547-93AB-8311BC623C08}" type="parTrans" cxnId="{14EE8AC3-0110-4526-90CC-06B68394D9E2}">
      <dgm:prSet/>
      <dgm:spPr/>
      <dgm:t>
        <a:bodyPr/>
        <a:lstStyle/>
        <a:p>
          <a:endParaRPr lang="en-US" sz="2200"/>
        </a:p>
      </dgm:t>
    </dgm:pt>
    <dgm:pt modelId="{0D0D4CAD-4648-4F86-96D2-249E348C9951}" type="sibTrans" cxnId="{14EE8AC3-0110-4526-90CC-06B68394D9E2}">
      <dgm:prSet/>
      <dgm:spPr/>
      <dgm:t>
        <a:bodyPr/>
        <a:lstStyle/>
        <a:p>
          <a:endParaRPr lang="en-US" sz="2200"/>
        </a:p>
      </dgm:t>
    </dgm:pt>
    <dgm:pt modelId="{292949A4-AA05-4E18-B3F5-1798B9517995}">
      <dgm:prSet phldrT="[Text]" custT="1"/>
      <dgm:spPr/>
      <dgm:t>
        <a:bodyPr/>
        <a:lstStyle/>
        <a:p>
          <a:r>
            <a:rPr lang="en-US" sz="2200" dirty="0" smtClean="0"/>
            <a:t>Suresh S</a:t>
          </a:r>
        </a:p>
        <a:p>
          <a:r>
            <a:rPr lang="en-US" sz="2200" dirty="0" smtClean="0"/>
            <a:t>Project Leader</a:t>
          </a:r>
          <a:endParaRPr lang="en-US" sz="2200" dirty="0"/>
        </a:p>
      </dgm:t>
    </dgm:pt>
    <dgm:pt modelId="{480A263B-CD14-423A-A0E1-102EAB428708}" type="parTrans" cxnId="{96B205B4-5F7B-470F-9F70-6B6E2AA23B87}">
      <dgm:prSet/>
      <dgm:spPr/>
      <dgm:t>
        <a:bodyPr/>
        <a:lstStyle/>
        <a:p>
          <a:endParaRPr lang="en-US" sz="2200"/>
        </a:p>
      </dgm:t>
    </dgm:pt>
    <dgm:pt modelId="{95DB1844-9FB2-42CD-B947-48E4C21612F4}" type="sibTrans" cxnId="{96B205B4-5F7B-470F-9F70-6B6E2AA23B87}">
      <dgm:prSet/>
      <dgm:spPr/>
      <dgm:t>
        <a:bodyPr/>
        <a:lstStyle/>
        <a:p>
          <a:endParaRPr lang="en-US" sz="2200"/>
        </a:p>
      </dgm:t>
    </dgm:pt>
    <dgm:pt modelId="{0ACBA0E5-BBCD-43D7-A3BC-FC0CF9D01C8A}">
      <dgm:prSet phldrT="[Text]" custT="1"/>
      <dgm:spPr/>
      <dgm:t>
        <a:bodyPr/>
        <a:lstStyle/>
        <a:p>
          <a:r>
            <a:rPr lang="en-US" sz="2200" dirty="0" err="1" smtClean="0"/>
            <a:t>Suraj</a:t>
          </a:r>
          <a:r>
            <a:rPr lang="en-US" sz="2200" dirty="0" smtClean="0"/>
            <a:t> P</a:t>
          </a:r>
        </a:p>
        <a:p>
          <a:r>
            <a:rPr lang="en-US" sz="2200" dirty="0" smtClean="0"/>
            <a:t>Senior Developer</a:t>
          </a:r>
          <a:endParaRPr lang="en-US" sz="2200" dirty="0"/>
        </a:p>
      </dgm:t>
    </dgm:pt>
    <dgm:pt modelId="{C6B0EF2E-D0FA-4A1B-8E00-868CCDF8158E}" type="parTrans" cxnId="{6581C4F9-789D-48A7-9428-0E021B2DC4A2}">
      <dgm:prSet/>
      <dgm:spPr/>
      <dgm:t>
        <a:bodyPr/>
        <a:lstStyle/>
        <a:p>
          <a:endParaRPr lang="en-US" sz="2200"/>
        </a:p>
      </dgm:t>
    </dgm:pt>
    <dgm:pt modelId="{D230325B-7A0E-4212-8386-DF558C1F2B2A}" type="sibTrans" cxnId="{6581C4F9-789D-48A7-9428-0E021B2DC4A2}">
      <dgm:prSet/>
      <dgm:spPr/>
      <dgm:t>
        <a:bodyPr/>
        <a:lstStyle/>
        <a:p>
          <a:endParaRPr lang="en-US" sz="2200"/>
        </a:p>
      </dgm:t>
    </dgm:pt>
    <dgm:pt modelId="{5FDCA85D-1C67-44A6-9071-13A348508795}">
      <dgm:prSet phldrT="[Text]" custT="1"/>
      <dgm:spPr/>
      <dgm:t>
        <a:bodyPr/>
        <a:lstStyle/>
        <a:p>
          <a:r>
            <a:rPr lang="en-US" sz="2200" dirty="0" err="1" smtClean="0"/>
            <a:t>Masa</a:t>
          </a:r>
          <a:r>
            <a:rPr lang="en-US" sz="2200" dirty="0" smtClean="0"/>
            <a:t> Yuki Communicative Person</a:t>
          </a:r>
          <a:endParaRPr lang="en-US" sz="2200" dirty="0"/>
        </a:p>
      </dgm:t>
    </dgm:pt>
    <dgm:pt modelId="{03FDE31C-AA0C-4FFD-88F3-B8C60C7688B2}" type="parTrans" cxnId="{271D1B83-8B39-409B-9021-75223A00D6D6}">
      <dgm:prSet/>
      <dgm:spPr/>
      <dgm:t>
        <a:bodyPr/>
        <a:lstStyle/>
        <a:p>
          <a:endParaRPr lang="en-US" sz="2200"/>
        </a:p>
      </dgm:t>
    </dgm:pt>
    <dgm:pt modelId="{FE1A6629-9F0A-4947-827E-686E8B12F027}" type="sibTrans" cxnId="{271D1B83-8B39-409B-9021-75223A00D6D6}">
      <dgm:prSet/>
      <dgm:spPr/>
      <dgm:t>
        <a:bodyPr/>
        <a:lstStyle/>
        <a:p>
          <a:endParaRPr lang="en-US" sz="2200"/>
        </a:p>
      </dgm:t>
    </dgm:pt>
    <dgm:pt modelId="{4ED53732-3811-40A5-AA40-036D0080E2E6}" type="pres">
      <dgm:prSet presAssocID="{78502359-E29E-4A2D-ACAC-4DCAC351BAD4}" presName="diagram" presStyleCnt="0">
        <dgm:presLayoutVars>
          <dgm:chPref val="1"/>
          <dgm:dir/>
          <dgm:animOne val="branch"/>
          <dgm:animLvl val="lvl"/>
          <dgm:resizeHandles val="exact"/>
        </dgm:presLayoutVars>
      </dgm:prSet>
      <dgm:spPr/>
      <dgm:t>
        <a:bodyPr/>
        <a:lstStyle/>
        <a:p>
          <a:endParaRPr lang="en-US"/>
        </a:p>
      </dgm:t>
    </dgm:pt>
    <dgm:pt modelId="{66599CB7-37A8-450B-94A9-3DCBA1169B13}" type="pres">
      <dgm:prSet presAssocID="{1AE76108-91FB-44D8-8A89-B8E208F7E5CA}" presName="root1" presStyleCnt="0"/>
      <dgm:spPr/>
    </dgm:pt>
    <dgm:pt modelId="{B70911DB-5EA8-4DCC-B136-894C8511BD3F}" type="pres">
      <dgm:prSet presAssocID="{1AE76108-91FB-44D8-8A89-B8E208F7E5CA}" presName="LevelOneTextNode" presStyleLbl="node0" presStyleIdx="0" presStyleCnt="1">
        <dgm:presLayoutVars>
          <dgm:chPref val="3"/>
        </dgm:presLayoutVars>
      </dgm:prSet>
      <dgm:spPr/>
      <dgm:t>
        <a:bodyPr/>
        <a:lstStyle/>
        <a:p>
          <a:endParaRPr lang="en-US"/>
        </a:p>
      </dgm:t>
    </dgm:pt>
    <dgm:pt modelId="{5D4FA36F-7A04-469C-8592-3598445682F6}" type="pres">
      <dgm:prSet presAssocID="{1AE76108-91FB-44D8-8A89-B8E208F7E5CA}" presName="level2hierChild" presStyleCnt="0"/>
      <dgm:spPr/>
    </dgm:pt>
    <dgm:pt modelId="{7EA05D67-9F6A-4142-A1FE-AF793B7155C5}" type="pres">
      <dgm:prSet presAssocID="{480A263B-CD14-423A-A0E1-102EAB428708}" presName="conn2-1" presStyleLbl="parChTrans1D2" presStyleIdx="0" presStyleCnt="1"/>
      <dgm:spPr/>
      <dgm:t>
        <a:bodyPr/>
        <a:lstStyle/>
        <a:p>
          <a:endParaRPr lang="en-US"/>
        </a:p>
      </dgm:t>
    </dgm:pt>
    <dgm:pt modelId="{B8362F1F-B9E9-4A92-A62D-650D7E2500E5}" type="pres">
      <dgm:prSet presAssocID="{480A263B-CD14-423A-A0E1-102EAB428708}" presName="connTx" presStyleLbl="parChTrans1D2" presStyleIdx="0" presStyleCnt="1"/>
      <dgm:spPr/>
      <dgm:t>
        <a:bodyPr/>
        <a:lstStyle/>
        <a:p>
          <a:endParaRPr lang="en-US"/>
        </a:p>
      </dgm:t>
    </dgm:pt>
    <dgm:pt modelId="{F9B2E71E-C530-41D3-8FAC-41D902CE471C}" type="pres">
      <dgm:prSet presAssocID="{292949A4-AA05-4E18-B3F5-1798B9517995}" presName="root2" presStyleCnt="0"/>
      <dgm:spPr/>
    </dgm:pt>
    <dgm:pt modelId="{D7CBB230-4FCC-4B4E-91FD-8169B5CD7C7D}" type="pres">
      <dgm:prSet presAssocID="{292949A4-AA05-4E18-B3F5-1798B9517995}" presName="LevelTwoTextNode" presStyleLbl="node2" presStyleIdx="0" presStyleCnt="1">
        <dgm:presLayoutVars>
          <dgm:chPref val="3"/>
        </dgm:presLayoutVars>
      </dgm:prSet>
      <dgm:spPr/>
      <dgm:t>
        <a:bodyPr/>
        <a:lstStyle/>
        <a:p>
          <a:endParaRPr lang="en-US"/>
        </a:p>
      </dgm:t>
    </dgm:pt>
    <dgm:pt modelId="{580C0974-A890-4E6C-B962-BEDCCBC6EAAF}" type="pres">
      <dgm:prSet presAssocID="{292949A4-AA05-4E18-B3F5-1798B9517995}" presName="level3hierChild" presStyleCnt="0"/>
      <dgm:spPr/>
    </dgm:pt>
    <dgm:pt modelId="{BAF43D86-6EB1-4466-9858-C792F173179C}" type="pres">
      <dgm:prSet presAssocID="{C6B0EF2E-D0FA-4A1B-8E00-868CCDF8158E}" presName="conn2-1" presStyleLbl="parChTrans1D3" presStyleIdx="0" presStyleCnt="2"/>
      <dgm:spPr/>
      <dgm:t>
        <a:bodyPr/>
        <a:lstStyle/>
        <a:p>
          <a:endParaRPr lang="en-US"/>
        </a:p>
      </dgm:t>
    </dgm:pt>
    <dgm:pt modelId="{40070A89-0E52-4C38-A539-30A25C01BA23}" type="pres">
      <dgm:prSet presAssocID="{C6B0EF2E-D0FA-4A1B-8E00-868CCDF8158E}" presName="connTx" presStyleLbl="parChTrans1D3" presStyleIdx="0" presStyleCnt="2"/>
      <dgm:spPr/>
      <dgm:t>
        <a:bodyPr/>
        <a:lstStyle/>
        <a:p>
          <a:endParaRPr lang="en-US"/>
        </a:p>
      </dgm:t>
    </dgm:pt>
    <dgm:pt modelId="{B26EE333-3DD0-46DA-948D-177B1D8E5453}" type="pres">
      <dgm:prSet presAssocID="{0ACBA0E5-BBCD-43D7-A3BC-FC0CF9D01C8A}" presName="root2" presStyleCnt="0"/>
      <dgm:spPr/>
    </dgm:pt>
    <dgm:pt modelId="{150C196B-9E14-49A3-A884-39E42F30B15A}" type="pres">
      <dgm:prSet presAssocID="{0ACBA0E5-BBCD-43D7-A3BC-FC0CF9D01C8A}" presName="LevelTwoTextNode" presStyleLbl="node3" presStyleIdx="0" presStyleCnt="2">
        <dgm:presLayoutVars>
          <dgm:chPref val="3"/>
        </dgm:presLayoutVars>
      </dgm:prSet>
      <dgm:spPr/>
      <dgm:t>
        <a:bodyPr/>
        <a:lstStyle/>
        <a:p>
          <a:endParaRPr lang="en-US"/>
        </a:p>
      </dgm:t>
    </dgm:pt>
    <dgm:pt modelId="{F63D0DF3-02C0-4FD2-AA5D-803A83AE41CD}" type="pres">
      <dgm:prSet presAssocID="{0ACBA0E5-BBCD-43D7-A3BC-FC0CF9D01C8A}" presName="level3hierChild" presStyleCnt="0"/>
      <dgm:spPr/>
    </dgm:pt>
    <dgm:pt modelId="{3C65E81D-00EE-4960-BE4A-1CE6188DABEB}" type="pres">
      <dgm:prSet presAssocID="{03FDE31C-AA0C-4FFD-88F3-B8C60C7688B2}" presName="conn2-1" presStyleLbl="parChTrans1D3" presStyleIdx="1" presStyleCnt="2"/>
      <dgm:spPr/>
      <dgm:t>
        <a:bodyPr/>
        <a:lstStyle/>
        <a:p>
          <a:endParaRPr lang="en-US"/>
        </a:p>
      </dgm:t>
    </dgm:pt>
    <dgm:pt modelId="{27BEC4C1-825C-44C4-BACD-4E3925CF939D}" type="pres">
      <dgm:prSet presAssocID="{03FDE31C-AA0C-4FFD-88F3-B8C60C7688B2}" presName="connTx" presStyleLbl="parChTrans1D3" presStyleIdx="1" presStyleCnt="2"/>
      <dgm:spPr/>
      <dgm:t>
        <a:bodyPr/>
        <a:lstStyle/>
        <a:p>
          <a:endParaRPr lang="en-US"/>
        </a:p>
      </dgm:t>
    </dgm:pt>
    <dgm:pt modelId="{A34DF028-3D19-4788-B1E9-D7FCFB510002}" type="pres">
      <dgm:prSet presAssocID="{5FDCA85D-1C67-44A6-9071-13A348508795}" presName="root2" presStyleCnt="0"/>
      <dgm:spPr/>
    </dgm:pt>
    <dgm:pt modelId="{92404F5F-D079-4276-810A-E507CBF177E0}" type="pres">
      <dgm:prSet presAssocID="{5FDCA85D-1C67-44A6-9071-13A348508795}" presName="LevelTwoTextNode" presStyleLbl="node3" presStyleIdx="1" presStyleCnt="2">
        <dgm:presLayoutVars>
          <dgm:chPref val="3"/>
        </dgm:presLayoutVars>
      </dgm:prSet>
      <dgm:spPr/>
      <dgm:t>
        <a:bodyPr/>
        <a:lstStyle/>
        <a:p>
          <a:endParaRPr lang="en-US"/>
        </a:p>
      </dgm:t>
    </dgm:pt>
    <dgm:pt modelId="{17A80BC9-BBE8-4EAF-BF8D-F0D2C81A1FD5}" type="pres">
      <dgm:prSet presAssocID="{5FDCA85D-1C67-44A6-9071-13A348508795}" presName="level3hierChild" presStyleCnt="0"/>
      <dgm:spPr/>
    </dgm:pt>
  </dgm:ptLst>
  <dgm:cxnLst>
    <dgm:cxn modelId="{8E5F5DAC-B456-48FA-8277-2FC4E5300B28}" type="presOf" srcId="{0ACBA0E5-BBCD-43D7-A3BC-FC0CF9D01C8A}" destId="{150C196B-9E14-49A3-A884-39E42F30B15A}" srcOrd="0" destOrd="0" presId="urn:microsoft.com/office/officeart/2005/8/layout/hierarchy2"/>
    <dgm:cxn modelId="{A688F215-BCDD-464B-929A-96985630FC7E}" type="presOf" srcId="{03FDE31C-AA0C-4FFD-88F3-B8C60C7688B2}" destId="{27BEC4C1-825C-44C4-BACD-4E3925CF939D}" srcOrd="1" destOrd="0" presId="urn:microsoft.com/office/officeart/2005/8/layout/hierarchy2"/>
    <dgm:cxn modelId="{511B61A7-26DF-40E8-9F51-E59C65386866}" type="presOf" srcId="{C6B0EF2E-D0FA-4A1B-8E00-868CCDF8158E}" destId="{BAF43D86-6EB1-4466-9858-C792F173179C}" srcOrd="0" destOrd="0" presId="urn:microsoft.com/office/officeart/2005/8/layout/hierarchy2"/>
    <dgm:cxn modelId="{07161E3E-BAE1-455F-8F56-3DC3CB40DB56}" type="presOf" srcId="{480A263B-CD14-423A-A0E1-102EAB428708}" destId="{7EA05D67-9F6A-4142-A1FE-AF793B7155C5}" srcOrd="0" destOrd="0" presId="urn:microsoft.com/office/officeart/2005/8/layout/hierarchy2"/>
    <dgm:cxn modelId="{B84C2F43-0479-430A-892B-8AAE6622EC8F}" type="presOf" srcId="{292949A4-AA05-4E18-B3F5-1798B9517995}" destId="{D7CBB230-4FCC-4B4E-91FD-8169B5CD7C7D}" srcOrd="0" destOrd="0" presId="urn:microsoft.com/office/officeart/2005/8/layout/hierarchy2"/>
    <dgm:cxn modelId="{96B205B4-5F7B-470F-9F70-6B6E2AA23B87}" srcId="{1AE76108-91FB-44D8-8A89-B8E208F7E5CA}" destId="{292949A4-AA05-4E18-B3F5-1798B9517995}" srcOrd="0" destOrd="0" parTransId="{480A263B-CD14-423A-A0E1-102EAB428708}" sibTransId="{95DB1844-9FB2-42CD-B947-48E4C21612F4}"/>
    <dgm:cxn modelId="{D5763AAE-AA5D-49C9-8E6F-80EEC1BEF2DA}" type="presOf" srcId="{78502359-E29E-4A2D-ACAC-4DCAC351BAD4}" destId="{4ED53732-3811-40A5-AA40-036D0080E2E6}" srcOrd="0" destOrd="0" presId="urn:microsoft.com/office/officeart/2005/8/layout/hierarchy2"/>
    <dgm:cxn modelId="{7A49DB33-5438-431B-9646-CA490C67FD05}" type="presOf" srcId="{5FDCA85D-1C67-44A6-9071-13A348508795}" destId="{92404F5F-D079-4276-810A-E507CBF177E0}" srcOrd="0" destOrd="0" presId="urn:microsoft.com/office/officeart/2005/8/layout/hierarchy2"/>
    <dgm:cxn modelId="{87E44453-F93D-4F9E-BD9D-37EB17AE5AC2}" type="presOf" srcId="{1AE76108-91FB-44D8-8A89-B8E208F7E5CA}" destId="{B70911DB-5EA8-4DCC-B136-894C8511BD3F}" srcOrd="0" destOrd="0" presId="urn:microsoft.com/office/officeart/2005/8/layout/hierarchy2"/>
    <dgm:cxn modelId="{494C864C-CF7D-4F9E-A138-CA3B82DD7930}" type="presOf" srcId="{03FDE31C-AA0C-4FFD-88F3-B8C60C7688B2}" destId="{3C65E81D-00EE-4960-BE4A-1CE6188DABEB}" srcOrd="0" destOrd="0" presId="urn:microsoft.com/office/officeart/2005/8/layout/hierarchy2"/>
    <dgm:cxn modelId="{48827E43-4B3C-4FB7-A29F-AC970D9A98FA}" type="presOf" srcId="{480A263B-CD14-423A-A0E1-102EAB428708}" destId="{B8362F1F-B9E9-4A92-A62D-650D7E2500E5}" srcOrd="1" destOrd="0" presId="urn:microsoft.com/office/officeart/2005/8/layout/hierarchy2"/>
    <dgm:cxn modelId="{58084C07-B90A-4C85-9A82-CA8FF3ED879D}" type="presOf" srcId="{C6B0EF2E-D0FA-4A1B-8E00-868CCDF8158E}" destId="{40070A89-0E52-4C38-A539-30A25C01BA23}" srcOrd="1" destOrd="0" presId="urn:microsoft.com/office/officeart/2005/8/layout/hierarchy2"/>
    <dgm:cxn modelId="{14EE8AC3-0110-4526-90CC-06B68394D9E2}" srcId="{78502359-E29E-4A2D-ACAC-4DCAC351BAD4}" destId="{1AE76108-91FB-44D8-8A89-B8E208F7E5CA}" srcOrd="0" destOrd="0" parTransId="{FB6FE0FF-6322-4547-93AB-8311BC623C08}" sibTransId="{0D0D4CAD-4648-4F86-96D2-249E348C9951}"/>
    <dgm:cxn modelId="{271D1B83-8B39-409B-9021-75223A00D6D6}" srcId="{292949A4-AA05-4E18-B3F5-1798B9517995}" destId="{5FDCA85D-1C67-44A6-9071-13A348508795}" srcOrd="1" destOrd="0" parTransId="{03FDE31C-AA0C-4FFD-88F3-B8C60C7688B2}" sibTransId="{FE1A6629-9F0A-4947-827E-686E8B12F027}"/>
    <dgm:cxn modelId="{6581C4F9-789D-48A7-9428-0E021B2DC4A2}" srcId="{292949A4-AA05-4E18-B3F5-1798B9517995}" destId="{0ACBA0E5-BBCD-43D7-A3BC-FC0CF9D01C8A}" srcOrd="0" destOrd="0" parTransId="{C6B0EF2E-D0FA-4A1B-8E00-868CCDF8158E}" sibTransId="{D230325B-7A0E-4212-8386-DF558C1F2B2A}"/>
    <dgm:cxn modelId="{2F174606-BD65-4171-BB19-5BFE4D293799}" type="presParOf" srcId="{4ED53732-3811-40A5-AA40-036D0080E2E6}" destId="{66599CB7-37A8-450B-94A9-3DCBA1169B13}" srcOrd="0" destOrd="0" presId="urn:microsoft.com/office/officeart/2005/8/layout/hierarchy2"/>
    <dgm:cxn modelId="{BFFFAE53-DB46-4127-A493-3FE7F86C6CA4}" type="presParOf" srcId="{66599CB7-37A8-450B-94A9-3DCBA1169B13}" destId="{B70911DB-5EA8-4DCC-B136-894C8511BD3F}" srcOrd="0" destOrd="0" presId="urn:microsoft.com/office/officeart/2005/8/layout/hierarchy2"/>
    <dgm:cxn modelId="{81DAC88E-1AFE-4B00-B3B6-36BB0D8344E2}" type="presParOf" srcId="{66599CB7-37A8-450B-94A9-3DCBA1169B13}" destId="{5D4FA36F-7A04-469C-8592-3598445682F6}" srcOrd="1" destOrd="0" presId="urn:microsoft.com/office/officeart/2005/8/layout/hierarchy2"/>
    <dgm:cxn modelId="{7B4BB406-4CD1-481E-8C16-CB8F981A7D83}" type="presParOf" srcId="{5D4FA36F-7A04-469C-8592-3598445682F6}" destId="{7EA05D67-9F6A-4142-A1FE-AF793B7155C5}" srcOrd="0" destOrd="0" presId="urn:microsoft.com/office/officeart/2005/8/layout/hierarchy2"/>
    <dgm:cxn modelId="{BA5B613D-6DC9-4003-98CA-DCE57456B82E}" type="presParOf" srcId="{7EA05D67-9F6A-4142-A1FE-AF793B7155C5}" destId="{B8362F1F-B9E9-4A92-A62D-650D7E2500E5}" srcOrd="0" destOrd="0" presId="urn:microsoft.com/office/officeart/2005/8/layout/hierarchy2"/>
    <dgm:cxn modelId="{17B81A8B-EDEE-4A53-B4E9-3D07EBDCC239}" type="presParOf" srcId="{5D4FA36F-7A04-469C-8592-3598445682F6}" destId="{F9B2E71E-C530-41D3-8FAC-41D902CE471C}" srcOrd="1" destOrd="0" presId="urn:microsoft.com/office/officeart/2005/8/layout/hierarchy2"/>
    <dgm:cxn modelId="{214C5E13-56E7-41E7-A5A9-081113D7A034}" type="presParOf" srcId="{F9B2E71E-C530-41D3-8FAC-41D902CE471C}" destId="{D7CBB230-4FCC-4B4E-91FD-8169B5CD7C7D}" srcOrd="0" destOrd="0" presId="urn:microsoft.com/office/officeart/2005/8/layout/hierarchy2"/>
    <dgm:cxn modelId="{D09D09D7-0FBE-4A35-99B0-BDAAE16EB3B5}" type="presParOf" srcId="{F9B2E71E-C530-41D3-8FAC-41D902CE471C}" destId="{580C0974-A890-4E6C-B962-BEDCCBC6EAAF}" srcOrd="1" destOrd="0" presId="urn:microsoft.com/office/officeart/2005/8/layout/hierarchy2"/>
    <dgm:cxn modelId="{46D5FCFA-8E65-4DD8-8E74-88C2B6546ACA}" type="presParOf" srcId="{580C0974-A890-4E6C-B962-BEDCCBC6EAAF}" destId="{BAF43D86-6EB1-4466-9858-C792F173179C}" srcOrd="0" destOrd="0" presId="urn:microsoft.com/office/officeart/2005/8/layout/hierarchy2"/>
    <dgm:cxn modelId="{889A86BB-D882-4D8D-B18E-2C32BB1B993E}" type="presParOf" srcId="{BAF43D86-6EB1-4466-9858-C792F173179C}" destId="{40070A89-0E52-4C38-A539-30A25C01BA23}" srcOrd="0" destOrd="0" presId="urn:microsoft.com/office/officeart/2005/8/layout/hierarchy2"/>
    <dgm:cxn modelId="{24584A79-DF5C-4998-A987-1C2AF892411B}" type="presParOf" srcId="{580C0974-A890-4E6C-B962-BEDCCBC6EAAF}" destId="{B26EE333-3DD0-46DA-948D-177B1D8E5453}" srcOrd="1" destOrd="0" presId="urn:microsoft.com/office/officeart/2005/8/layout/hierarchy2"/>
    <dgm:cxn modelId="{36D4D104-AD6C-4B0F-9BEF-AC49C7DCA01E}" type="presParOf" srcId="{B26EE333-3DD0-46DA-948D-177B1D8E5453}" destId="{150C196B-9E14-49A3-A884-39E42F30B15A}" srcOrd="0" destOrd="0" presId="urn:microsoft.com/office/officeart/2005/8/layout/hierarchy2"/>
    <dgm:cxn modelId="{1F72733D-B849-4ADC-9DF4-17018E1DC46A}" type="presParOf" srcId="{B26EE333-3DD0-46DA-948D-177B1D8E5453}" destId="{F63D0DF3-02C0-4FD2-AA5D-803A83AE41CD}" srcOrd="1" destOrd="0" presId="urn:microsoft.com/office/officeart/2005/8/layout/hierarchy2"/>
    <dgm:cxn modelId="{05DEFCE7-4EEB-4F7F-B232-83AD8D03239D}" type="presParOf" srcId="{580C0974-A890-4E6C-B962-BEDCCBC6EAAF}" destId="{3C65E81D-00EE-4960-BE4A-1CE6188DABEB}" srcOrd="2" destOrd="0" presId="urn:microsoft.com/office/officeart/2005/8/layout/hierarchy2"/>
    <dgm:cxn modelId="{D93F531A-7C09-48CF-8B56-8EDA89874930}" type="presParOf" srcId="{3C65E81D-00EE-4960-BE4A-1CE6188DABEB}" destId="{27BEC4C1-825C-44C4-BACD-4E3925CF939D}" srcOrd="0" destOrd="0" presId="urn:microsoft.com/office/officeart/2005/8/layout/hierarchy2"/>
    <dgm:cxn modelId="{BE1DEB0E-E0FE-4A99-BDD7-2E6730AB4C00}" type="presParOf" srcId="{580C0974-A890-4E6C-B962-BEDCCBC6EAAF}" destId="{A34DF028-3D19-4788-B1E9-D7FCFB510002}" srcOrd="3" destOrd="0" presId="urn:microsoft.com/office/officeart/2005/8/layout/hierarchy2"/>
    <dgm:cxn modelId="{4126E60B-FFE1-4C2C-9140-1F1639CE287B}" type="presParOf" srcId="{A34DF028-3D19-4788-B1E9-D7FCFB510002}" destId="{92404F5F-D079-4276-810A-E507CBF177E0}" srcOrd="0" destOrd="0" presId="urn:microsoft.com/office/officeart/2005/8/layout/hierarchy2"/>
    <dgm:cxn modelId="{2380A9BF-6DE6-47CD-81A0-9AC6AC4414DC}" type="presParOf" srcId="{A34DF028-3D19-4788-B1E9-D7FCFB510002}" destId="{17A80BC9-BBE8-4EAF-BF8D-F0D2C81A1FD5}" srcOrd="1" destOrd="0" presId="urn:microsoft.com/office/officeart/2005/8/layout/hierarchy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8502359-E29E-4A2D-ACAC-4DCAC351BAD4}" type="doc">
      <dgm:prSet loTypeId="urn:microsoft.com/office/officeart/2005/8/layout/hierarchy2" loCatId="hierarchy" qsTypeId="urn:microsoft.com/office/officeart/2005/8/quickstyle/simple1" qsCatId="simple" csTypeId="urn:microsoft.com/office/officeart/2005/8/colors/accent0_3" csCatId="mainScheme" phldr="1"/>
      <dgm:spPr/>
      <dgm:t>
        <a:bodyPr/>
        <a:lstStyle/>
        <a:p>
          <a:endParaRPr lang="en-US"/>
        </a:p>
      </dgm:t>
    </dgm:pt>
    <dgm:pt modelId="{1AE76108-91FB-44D8-8A89-B8E208F7E5CA}">
      <dgm:prSet phldrT="[Text]" custT="1"/>
      <dgm:spPr/>
      <dgm:t>
        <a:bodyPr/>
        <a:lstStyle/>
        <a:p>
          <a:r>
            <a:rPr lang="en-US" sz="2200" dirty="0" smtClean="0"/>
            <a:t>George Alias </a:t>
          </a:r>
        </a:p>
        <a:p>
          <a:r>
            <a:rPr lang="en-US" sz="2200" dirty="0" smtClean="0"/>
            <a:t>QC Manager</a:t>
          </a:r>
          <a:endParaRPr lang="en-US" sz="2200" dirty="0"/>
        </a:p>
      </dgm:t>
    </dgm:pt>
    <dgm:pt modelId="{FB6FE0FF-6322-4547-93AB-8311BC623C08}" type="parTrans" cxnId="{14EE8AC3-0110-4526-90CC-06B68394D9E2}">
      <dgm:prSet/>
      <dgm:spPr/>
      <dgm:t>
        <a:bodyPr/>
        <a:lstStyle/>
        <a:p>
          <a:endParaRPr lang="en-US" sz="2200"/>
        </a:p>
      </dgm:t>
    </dgm:pt>
    <dgm:pt modelId="{0D0D4CAD-4648-4F86-96D2-249E348C9951}" type="sibTrans" cxnId="{14EE8AC3-0110-4526-90CC-06B68394D9E2}">
      <dgm:prSet/>
      <dgm:spPr/>
      <dgm:t>
        <a:bodyPr/>
        <a:lstStyle/>
        <a:p>
          <a:endParaRPr lang="en-US" sz="2200"/>
        </a:p>
      </dgm:t>
    </dgm:pt>
    <dgm:pt modelId="{292949A4-AA05-4E18-B3F5-1798B9517995}">
      <dgm:prSet phldrT="[Text]" custT="1"/>
      <dgm:spPr/>
      <dgm:t>
        <a:bodyPr/>
        <a:lstStyle/>
        <a:p>
          <a:r>
            <a:rPr lang="en-US" sz="2200" dirty="0" err="1" smtClean="0"/>
            <a:t>Priska</a:t>
          </a:r>
          <a:endParaRPr lang="en-US" sz="2200" dirty="0" smtClean="0"/>
        </a:p>
        <a:p>
          <a:r>
            <a:rPr lang="en-US" sz="2200" dirty="0" smtClean="0"/>
            <a:t>Testing Person</a:t>
          </a:r>
          <a:endParaRPr lang="en-US" sz="2200" dirty="0"/>
        </a:p>
      </dgm:t>
    </dgm:pt>
    <dgm:pt modelId="{480A263B-CD14-423A-A0E1-102EAB428708}" type="parTrans" cxnId="{96B205B4-5F7B-470F-9F70-6B6E2AA23B87}">
      <dgm:prSet/>
      <dgm:spPr/>
      <dgm:t>
        <a:bodyPr/>
        <a:lstStyle/>
        <a:p>
          <a:endParaRPr lang="en-US" sz="2200"/>
        </a:p>
      </dgm:t>
    </dgm:pt>
    <dgm:pt modelId="{95DB1844-9FB2-42CD-B947-48E4C21612F4}" type="sibTrans" cxnId="{96B205B4-5F7B-470F-9F70-6B6E2AA23B87}">
      <dgm:prSet/>
      <dgm:spPr/>
      <dgm:t>
        <a:bodyPr/>
        <a:lstStyle/>
        <a:p>
          <a:endParaRPr lang="en-US" sz="2200"/>
        </a:p>
      </dgm:t>
    </dgm:pt>
    <dgm:pt modelId="{4ED53732-3811-40A5-AA40-036D0080E2E6}" type="pres">
      <dgm:prSet presAssocID="{78502359-E29E-4A2D-ACAC-4DCAC351BAD4}" presName="diagram" presStyleCnt="0">
        <dgm:presLayoutVars>
          <dgm:chPref val="1"/>
          <dgm:dir/>
          <dgm:animOne val="branch"/>
          <dgm:animLvl val="lvl"/>
          <dgm:resizeHandles val="exact"/>
        </dgm:presLayoutVars>
      </dgm:prSet>
      <dgm:spPr/>
      <dgm:t>
        <a:bodyPr/>
        <a:lstStyle/>
        <a:p>
          <a:endParaRPr lang="en-US"/>
        </a:p>
      </dgm:t>
    </dgm:pt>
    <dgm:pt modelId="{66599CB7-37A8-450B-94A9-3DCBA1169B13}" type="pres">
      <dgm:prSet presAssocID="{1AE76108-91FB-44D8-8A89-B8E208F7E5CA}" presName="root1" presStyleCnt="0"/>
      <dgm:spPr/>
    </dgm:pt>
    <dgm:pt modelId="{B70911DB-5EA8-4DCC-B136-894C8511BD3F}" type="pres">
      <dgm:prSet presAssocID="{1AE76108-91FB-44D8-8A89-B8E208F7E5CA}" presName="LevelOneTextNode" presStyleLbl="node0" presStyleIdx="0" presStyleCnt="1">
        <dgm:presLayoutVars>
          <dgm:chPref val="3"/>
        </dgm:presLayoutVars>
      </dgm:prSet>
      <dgm:spPr/>
      <dgm:t>
        <a:bodyPr/>
        <a:lstStyle/>
        <a:p>
          <a:endParaRPr lang="en-US"/>
        </a:p>
      </dgm:t>
    </dgm:pt>
    <dgm:pt modelId="{5D4FA36F-7A04-469C-8592-3598445682F6}" type="pres">
      <dgm:prSet presAssocID="{1AE76108-91FB-44D8-8A89-B8E208F7E5CA}" presName="level2hierChild" presStyleCnt="0"/>
      <dgm:spPr/>
    </dgm:pt>
    <dgm:pt modelId="{7EA05D67-9F6A-4142-A1FE-AF793B7155C5}" type="pres">
      <dgm:prSet presAssocID="{480A263B-CD14-423A-A0E1-102EAB428708}" presName="conn2-1" presStyleLbl="parChTrans1D2" presStyleIdx="0" presStyleCnt="1"/>
      <dgm:spPr/>
      <dgm:t>
        <a:bodyPr/>
        <a:lstStyle/>
        <a:p>
          <a:endParaRPr lang="en-US"/>
        </a:p>
      </dgm:t>
    </dgm:pt>
    <dgm:pt modelId="{B8362F1F-B9E9-4A92-A62D-650D7E2500E5}" type="pres">
      <dgm:prSet presAssocID="{480A263B-CD14-423A-A0E1-102EAB428708}" presName="connTx" presStyleLbl="parChTrans1D2" presStyleIdx="0" presStyleCnt="1"/>
      <dgm:spPr/>
      <dgm:t>
        <a:bodyPr/>
        <a:lstStyle/>
        <a:p>
          <a:endParaRPr lang="en-US"/>
        </a:p>
      </dgm:t>
    </dgm:pt>
    <dgm:pt modelId="{F9B2E71E-C530-41D3-8FAC-41D902CE471C}" type="pres">
      <dgm:prSet presAssocID="{292949A4-AA05-4E18-B3F5-1798B9517995}" presName="root2" presStyleCnt="0"/>
      <dgm:spPr/>
    </dgm:pt>
    <dgm:pt modelId="{D7CBB230-4FCC-4B4E-91FD-8169B5CD7C7D}" type="pres">
      <dgm:prSet presAssocID="{292949A4-AA05-4E18-B3F5-1798B9517995}" presName="LevelTwoTextNode" presStyleLbl="node2" presStyleIdx="0" presStyleCnt="1">
        <dgm:presLayoutVars>
          <dgm:chPref val="3"/>
        </dgm:presLayoutVars>
      </dgm:prSet>
      <dgm:spPr/>
      <dgm:t>
        <a:bodyPr/>
        <a:lstStyle/>
        <a:p>
          <a:endParaRPr lang="en-US"/>
        </a:p>
      </dgm:t>
    </dgm:pt>
    <dgm:pt modelId="{580C0974-A890-4E6C-B962-BEDCCBC6EAAF}" type="pres">
      <dgm:prSet presAssocID="{292949A4-AA05-4E18-B3F5-1798B9517995}" presName="level3hierChild" presStyleCnt="0"/>
      <dgm:spPr/>
    </dgm:pt>
  </dgm:ptLst>
  <dgm:cxnLst>
    <dgm:cxn modelId="{14EE8AC3-0110-4526-90CC-06B68394D9E2}" srcId="{78502359-E29E-4A2D-ACAC-4DCAC351BAD4}" destId="{1AE76108-91FB-44D8-8A89-B8E208F7E5CA}" srcOrd="0" destOrd="0" parTransId="{FB6FE0FF-6322-4547-93AB-8311BC623C08}" sibTransId="{0D0D4CAD-4648-4F86-96D2-249E348C9951}"/>
    <dgm:cxn modelId="{9928C771-C9D1-4252-8651-260B9032465D}" type="presOf" srcId="{480A263B-CD14-423A-A0E1-102EAB428708}" destId="{7EA05D67-9F6A-4142-A1FE-AF793B7155C5}" srcOrd="0" destOrd="0" presId="urn:microsoft.com/office/officeart/2005/8/layout/hierarchy2"/>
    <dgm:cxn modelId="{96B205B4-5F7B-470F-9F70-6B6E2AA23B87}" srcId="{1AE76108-91FB-44D8-8A89-B8E208F7E5CA}" destId="{292949A4-AA05-4E18-B3F5-1798B9517995}" srcOrd="0" destOrd="0" parTransId="{480A263B-CD14-423A-A0E1-102EAB428708}" sibTransId="{95DB1844-9FB2-42CD-B947-48E4C21612F4}"/>
    <dgm:cxn modelId="{BB2056EC-BF8A-4231-BA46-95A69B0BBEF1}" type="presOf" srcId="{480A263B-CD14-423A-A0E1-102EAB428708}" destId="{B8362F1F-B9E9-4A92-A62D-650D7E2500E5}" srcOrd="1" destOrd="0" presId="urn:microsoft.com/office/officeart/2005/8/layout/hierarchy2"/>
    <dgm:cxn modelId="{C499D039-CE71-4ED4-B5A4-D56D7D39B7D9}" type="presOf" srcId="{78502359-E29E-4A2D-ACAC-4DCAC351BAD4}" destId="{4ED53732-3811-40A5-AA40-036D0080E2E6}" srcOrd="0" destOrd="0" presId="urn:microsoft.com/office/officeart/2005/8/layout/hierarchy2"/>
    <dgm:cxn modelId="{9CE37FBF-A924-4273-8040-47237A46B07D}" type="presOf" srcId="{292949A4-AA05-4E18-B3F5-1798B9517995}" destId="{D7CBB230-4FCC-4B4E-91FD-8169B5CD7C7D}" srcOrd="0" destOrd="0" presId="urn:microsoft.com/office/officeart/2005/8/layout/hierarchy2"/>
    <dgm:cxn modelId="{2B79BF77-743A-4B6B-8E30-59C03A67E9E8}" type="presOf" srcId="{1AE76108-91FB-44D8-8A89-B8E208F7E5CA}" destId="{B70911DB-5EA8-4DCC-B136-894C8511BD3F}" srcOrd="0" destOrd="0" presId="urn:microsoft.com/office/officeart/2005/8/layout/hierarchy2"/>
    <dgm:cxn modelId="{CF4E35C6-BA69-47FB-B8B6-CCC69F5AE66F}" type="presParOf" srcId="{4ED53732-3811-40A5-AA40-036D0080E2E6}" destId="{66599CB7-37A8-450B-94A9-3DCBA1169B13}" srcOrd="0" destOrd="0" presId="urn:microsoft.com/office/officeart/2005/8/layout/hierarchy2"/>
    <dgm:cxn modelId="{8CFE0953-4855-49BB-828D-F48AF6D7C114}" type="presParOf" srcId="{66599CB7-37A8-450B-94A9-3DCBA1169B13}" destId="{B70911DB-5EA8-4DCC-B136-894C8511BD3F}" srcOrd="0" destOrd="0" presId="urn:microsoft.com/office/officeart/2005/8/layout/hierarchy2"/>
    <dgm:cxn modelId="{241D045D-A6E9-45F7-8C9E-66F9E68DAAF1}" type="presParOf" srcId="{66599CB7-37A8-450B-94A9-3DCBA1169B13}" destId="{5D4FA36F-7A04-469C-8592-3598445682F6}" srcOrd="1" destOrd="0" presId="urn:microsoft.com/office/officeart/2005/8/layout/hierarchy2"/>
    <dgm:cxn modelId="{B9E87938-B8CC-4BDF-84D9-244AC7A9E6E9}" type="presParOf" srcId="{5D4FA36F-7A04-469C-8592-3598445682F6}" destId="{7EA05D67-9F6A-4142-A1FE-AF793B7155C5}" srcOrd="0" destOrd="0" presId="urn:microsoft.com/office/officeart/2005/8/layout/hierarchy2"/>
    <dgm:cxn modelId="{A597A2F4-949B-4F57-8513-36B556F13D55}" type="presParOf" srcId="{7EA05D67-9F6A-4142-A1FE-AF793B7155C5}" destId="{B8362F1F-B9E9-4A92-A62D-650D7E2500E5}" srcOrd="0" destOrd="0" presId="urn:microsoft.com/office/officeart/2005/8/layout/hierarchy2"/>
    <dgm:cxn modelId="{F4B9E9A6-D66E-4824-AB83-19E8CB429C3E}" type="presParOf" srcId="{5D4FA36F-7A04-469C-8592-3598445682F6}" destId="{F9B2E71E-C530-41D3-8FAC-41D902CE471C}" srcOrd="1" destOrd="0" presId="urn:microsoft.com/office/officeart/2005/8/layout/hierarchy2"/>
    <dgm:cxn modelId="{10BFE528-BF7D-4BFA-93EA-F8B4CEC864A9}" type="presParOf" srcId="{F9B2E71E-C530-41D3-8FAC-41D902CE471C}" destId="{D7CBB230-4FCC-4B4E-91FD-8169B5CD7C7D}" srcOrd="0" destOrd="0" presId="urn:microsoft.com/office/officeart/2005/8/layout/hierarchy2"/>
    <dgm:cxn modelId="{68E712E6-E81D-4096-84BC-445C6CFE6134}" type="presParOf" srcId="{F9B2E71E-C530-41D3-8FAC-41D902CE471C}" destId="{580C0974-A890-4E6C-B962-BEDCCBC6EAAF}" srcOrd="1" destOrd="0" presId="urn:microsoft.com/office/officeart/2005/8/layout/hierarchy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EA5F0D-C1DC-412F-A146-DDB3A74B588F}" type="datetimeFigureOut">
              <a:rPr lang="en-US"/>
              <a:pPr/>
              <a:t>7/4/2020</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AE14B8-3CC9-472D-9BC5-A84D80684DE2}" type="slidenum">
              <a:rPr/>
              <a:pPr/>
              <a:t>‹#›</a:t>
            </a:fld>
            <a:endParaRPr/>
          </a:p>
        </p:txBody>
      </p:sp>
    </p:spTree>
    <p:extLst>
      <p:ext uri="{BB962C8B-B14F-4D97-AF65-F5344CB8AC3E}">
        <p14:creationId xmlns:p14="http://schemas.microsoft.com/office/powerpoint/2010/main" xmlns="" val="2577827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E508-72C8-4AB5-AA9C-1584D31690E0}" type="datetimeFigureOut">
              <a:rPr lang="en-US"/>
              <a:pPr/>
              <a:t>7/4/2020</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667E1-E601-4AAF-B95C-B25720D70A60}" type="slidenum">
              <a:rPr/>
              <a:pPr/>
              <a:t>‹#›</a:t>
            </a:fld>
            <a:endParaRPr/>
          </a:p>
        </p:txBody>
      </p:sp>
    </p:spTree>
    <p:extLst>
      <p:ext uri="{BB962C8B-B14F-4D97-AF65-F5344CB8AC3E}">
        <p14:creationId xmlns:p14="http://schemas.microsoft.com/office/powerpoint/2010/main" xmlns="" val="71113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a:t>
            </a:fld>
            <a:endParaRPr lang="en-US"/>
          </a:p>
        </p:txBody>
      </p:sp>
    </p:spTree>
    <p:extLst>
      <p:ext uri="{BB962C8B-B14F-4D97-AF65-F5344CB8AC3E}">
        <p14:creationId xmlns:p14="http://schemas.microsoft.com/office/powerpoint/2010/main" xmlns="" val="1555677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b="0" i="1"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7FB667E1-E601-4AAF-B95C-B25720D70A60}" type="slidenum">
              <a:rPr lang="en-US" smtClean="0"/>
              <a:pPr/>
              <a:t>2</a:t>
            </a:fld>
            <a:endParaRPr lang="en-US"/>
          </a:p>
        </p:txBody>
      </p:sp>
    </p:spTree>
    <p:extLst>
      <p:ext uri="{BB962C8B-B14F-4D97-AF65-F5344CB8AC3E}">
        <p14:creationId xmlns:p14="http://schemas.microsoft.com/office/powerpoint/2010/main" xmlns="" val="2909310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Make bullet points similar</a:t>
            </a:r>
            <a:r>
              <a:rPr lang="en-US" baseline="0" dirty="0" smtClean="0"/>
              <a:t> to the example bellow</a:t>
            </a:r>
          </a:p>
          <a:p>
            <a:pPr marL="228600" indent="-228600">
              <a:buFont typeface="Arial" pitchFamily="34" charset="0"/>
              <a:buChar char="•"/>
            </a:pPr>
            <a:r>
              <a:rPr lang="en-US" dirty="0" smtClean="0"/>
              <a:t>C-Works: A Japanese corporate who is focusing on  construction related software products.</a:t>
            </a:r>
          </a:p>
          <a:p>
            <a:pPr marL="228600" indent="-228600">
              <a:buFont typeface="Arial" pitchFamily="34" charset="0"/>
              <a:buChar char="•"/>
            </a:pPr>
            <a:r>
              <a:rPr lang="en-US" dirty="0" smtClean="0"/>
              <a:t>They have been using the standard data exchange format of AutoCAD.</a:t>
            </a:r>
          </a:p>
          <a:p>
            <a:pPr marL="228600" indent="-228600">
              <a:buFont typeface="Arial" pitchFamily="34" charset="0"/>
              <a:buChar char="•"/>
            </a:pPr>
            <a:r>
              <a:rPr lang="en-US" dirty="0" smtClean="0"/>
              <a:t>Their major product is C-Works CAD</a:t>
            </a:r>
          </a:p>
          <a:p>
            <a:pPr marL="685800" lvl="1" indent="-228600">
              <a:buFont typeface="Arial" pitchFamily="34" charset="0"/>
              <a:buChar char="•"/>
            </a:pPr>
            <a:r>
              <a:rPr lang="en-US" dirty="0" smtClean="0"/>
              <a:t>This system accepts the AutoCAD drawings and process them to create scaffoldings design for the proposed building project and make necessary cost and material estimation for the SCAFFOLDING.</a:t>
            </a:r>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3</a:t>
            </a:fld>
            <a:endParaRPr lang="en-US"/>
          </a:p>
        </p:txBody>
      </p:sp>
    </p:spTree>
    <p:extLst>
      <p:ext uri="{BB962C8B-B14F-4D97-AF65-F5344CB8AC3E}">
        <p14:creationId xmlns:p14="http://schemas.microsoft.com/office/powerpoint/2010/main" xmlns="" val="1148430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Make bullet points similar</a:t>
            </a:r>
            <a:r>
              <a:rPr lang="en-US" baseline="0" dirty="0" smtClean="0"/>
              <a:t> to the example bellow. You may need </a:t>
            </a:r>
            <a:r>
              <a:rPr lang="en-US" dirty="0" smtClean="0"/>
              <a:t>more than one slide:</a:t>
            </a:r>
          </a:p>
          <a:p>
            <a:pPr>
              <a:buFont typeface="Arial" pitchFamily="34" charset="0"/>
              <a:buChar char="•"/>
            </a:pPr>
            <a:r>
              <a:rPr lang="en-US" dirty="0" smtClean="0"/>
              <a:t>Currently  the C-Works CAD system has issues with processing the latest versions of AutoCAD drawing files.</a:t>
            </a:r>
          </a:p>
          <a:p>
            <a:pPr>
              <a:buFont typeface="Arial" pitchFamily="34" charset="0"/>
              <a:buChar char="•"/>
            </a:pPr>
            <a:r>
              <a:rPr lang="en-US" dirty="0" smtClean="0"/>
              <a:t>As a solution for the above issue we are going to develop a system which converts the standard AutoCAD file format to a neutral data exchange format (CXF format) .</a:t>
            </a:r>
          </a:p>
          <a:p>
            <a:pPr>
              <a:buFont typeface="Arial" pitchFamily="34" charset="0"/>
              <a:buChar char="•"/>
            </a:pPr>
            <a:r>
              <a:rPr lang="en-US" dirty="0" smtClean="0"/>
              <a:t>Custom format should contain all information about the objects in the AutoCAD drawing files in a simple text format.</a:t>
            </a:r>
          </a:p>
          <a:p>
            <a:pPr>
              <a:buFont typeface="Arial" pitchFamily="34" charset="0"/>
              <a:buChar char="•"/>
            </a:pPr>
            <a:r>
              <a:rPr lang="en-US" dirty="0" smtClean="0"/>
              <a:t>The neutral format will be processed by the C-Works CAD system to process the drawing files.</a:t>
            </a:r>
          </a:p>
          <a:p>
            <a:pPr>
              <a:buFont typeface="Arial" pitchFamily="34" charset="0"/>
              <a:buChar char="•"/>
            </a:pPr>
            <a:r>
              <a:rPr lang="en-US" dirty="0" smtClean="0"/>
              <a:t>Our proposed project interacts with the following software</a:t>
            </a:r>
          </a:p>
          <a:p>
            <a:pPr lvl="1">
              <a:buFont typeface="Arial" pitchFamily="34" charset="0"/>
              <a:buChar char="•"/>
            </a:pPr>
            <a:r>
              <a:rPr lang="en-US" dirty="0" smtClean="0"/>
              <a:t>AutoCAD System</a:t>
            </a:r>
          </a:p>
          <a:p>
            <a:pPr lvl="1">
              <a:buFont typeface="Arial" pitchFamily="34" charset="0"/>
              <a:buChar char="•"/>
            </a:pPr>
            <a:r>
              <a:rPr lang="en-US" dirty="0" smtClean="0"/>
              <a:t>C-</a:t>
            </a:r>
            <a:r>
              <a:rPr lang="en-US" dirty="0" err="1" smtClean="0"/>
              <a:t>WorksCAD</a:t>
            </a:r>
            <a:r>
              <a:rPr lang="en-US" dirty="0" smtClean="0"/>
              <a:t> System</a:t>
            </a:r>
          </a:p>
          <a:p>
            <a:pPr>
              <a:buFont typeface="Arial" pitchFamily="34" charset="0"/>
              <a:buChar char="•"/>
            </a:pPr>
            <a:r>
              <a:rPr lang="en-US" dirty="0" smtClean="0"/>
              <a:t>Reverse conversion from CXF format to drawing files also need to be considered.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4</a:t>
            </a:fld>
            <a:endParaRPr lang="en-US"/>
          </a:p>
        </p:txBody>
      </p:sp>
    </p:spTree>
    <p:extLst>
      <p:ext uri="{BB962C8B-B14F-4D97-AF65-F5344CB8AC3E}">
        <p14:creationId xmlns:p14="http://schemas.microsoft.com/office/powerpoint/2010/main" xmlns="" val="4265826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Fill in the </a:t>
            </a:r>
            <a:r>
              <a:rPr lang="en-US" dirty="0" err="1" smtClean="0"/>
              <a:t>informations</a:t>
            </a:r>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5</a:t>
            </a:fld>
            <a:endParaRPr lang="en-US"/>
          </a:p>
        </p:txBody>
      </p:sp>
    </p:spTree>
    <p:extLst>
      <p:ext uri="{BB962C8B-B14F-4D97-AF65-F5344CB8AC3E}">
        <p14:creationId xmlns:p14="http://schemas.microsoft.com/office/powerpoint/2010/main" xmlns="" val="4265826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Follow the example given</a:t>
            </a:r>
            <a:r>
              <a:rPr lang="en-US" baseline="0" dirty="0" smtClean="0"/>
              <a:t> in the slide and provide the actual data corresponds to your project</a:t>
            </a:r>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6</a:t>
            </a:fld>
            <a:endParaRPr lang="en-US"/>
          </a:p>
        </p:txBody>
      </p:sp>
    </p:spTree>
    <p:extLst>
      <p:ext uri="{BB962C8B-B14F-4D97-AF65-F5344CB8AC3E}">
        <p14:creationId xmlns:p14="http://schemas.microsoft.com/office/powerpoint/2010/main" xmlns="" val="1318839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Follow the example given</a:t>
            </a:r>
            <a:r>
              <a:rPr lang="en-US" baseline="0" dirty="0" smtClean="0"/>
              <a:t> in the slide and provide the actual data corresponds to your project</a:t>
            </a:r>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7</a:t>
            </a:fld>
            <a:endParaRPr lang="en-US"/>
          </a:p>
        </p:txBody>
      </p:sp>
    </p:spTree>
    <p:extLst>
      <p:ext uri="{BB962C8B-B14F-4D97-AF65-F5344CB8AC3E}">
        <p14:creationId xmlns:p14="http://schemas.microsoft.com/office/powerpoint/2010/main" xmlns="" val="1369676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a:t>
            </a:r>
            <a:r>
              <a:rPr lang="en-US" dirty="0" smtClean="0"/>
              <a:t>slide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8</a:t>
            </a:fld>
            <a:endParaRPr lang="en-US"/>
          </a:p>
        </p:txBody>
      </p:sp>
    </p:spTree>
    <p:extLst>
      <p:ext uri="{BB962C8B-B14F-4D97-AF65-F5344CB8AC3E}">
        <p14:creationId xmlns:p14="http://schemas.microsoft.com/office/powerpoint/2010/main" xmlns="" val="20151157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a:t>
            </a:r>
            <a:r>
              <a:rPr lang="en-US" dirty="0" smtClean="0"/>
              <a:t>slide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9</a:t>
            </a:fld>
            <a:endParaRPr lang="en-US"/>
          </a:p>
        </p:txBody>
      </p:sp>
    </p:spTree>
    <p:extLst>
      <p:ext uri="{BB962C8B-B14F-4D97-AF65-F5344CB8AC3E}">
        <p14:creationId xmlns:p14="http://schemas.microsoft.com/office/powerpoint/2010/main" xmlns="" val="2015115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12</a:t>
            </a:fld>
            <a:endParaRPr lang="en-US"/>
          </a:p>
        </p:txBody>
      </p:sp>
    </p:spTree>
    <p:extLst>
      <p:ext uri="{BB962C8B-B14F-4D97-AF65-F5344CB8AC3E}">
        <p14:creationId xmlns:p14="http://schemas.microsoft.com/office/powerpoint/2010/main" xmlns="" val="578414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13</a:t>
            </a:fld>
            <a:endParaRPr lang="en-US"/>
          </a:p>
        </p:txBody>
      </p:sp>
    </p:spTree>
    <p:extLst>
      <p:ext uri="{BB962C8B-B14F-4D97-AF65-F5344CB8AC3E}">
        <p14:creationId xmlns:p14="http://schemas.microsoft.com/office/powerpoint/2010/main" xmlns="" val="578414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14</a:t>
            </a:fld>
            <a:endParaRPr lang="en-US"/>
          </a:p>
        </p:txBody>
      </p:sp>
    </p:spTree>
    <p:extLst>
      <p:ext uri="{BB962C8B-B14F-4D97-AF65-F5344CB8AC3E}">
        <p14:creationId xmlns:p14="http://schemas.microsoft.com/office/powerpoint/2010/main" xmlns="" val="578414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15</a:t>
            </a:fld>
            <a:endParaRPr lang="en-US"/>
          </a:p>
        </p:txBody>
      </p:sp>
    </p:spTree>
    <p:extLst>
      <p:ext uri="{BB962C8B-B14F-4D97-AF65-F5344CB8AC3E}">
        <p14:creationId xmlns:p14="http://schemas.microsoft.com/office/powerpoint/2010/main" xmlns="" val="5784147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16</a:t>
            </a:fld>
            <a:endParaRPr lang="en-US"/>
          </a:p>
        </p:txBody>
      </p:sp>
    </p:spTree>
    <p:extLst>
      <p:ext uri="{BB962C8B-B14F-4D97-AF65-F5344CB8AC3E}">
        <p14:creationId xmlns:p14="http://schemas.microsoft.com/office/powerpoint/2010/main" xmlns="" val="5784147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17</a:t>
            </a:fld>
            <a:endParaRPr lang="en-US"/>
          </a:p>
        </p:txBody>
      </p:sp>
    </p:spTree>
    <p:extLst>
      <p:ext uri="{BB962C8B-B14F-4D97-AF65-F5344CB8AC3E}">
        <p14:creationId xmlns:p14="http://schemas.microsoft.com/office/powerpoint/2010/main" xmlns="" val="59900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slide</a:t>
            </a:r>
          </a:p>
        </p:txBody>
      </p:sp>
      <p:sp>
        <p:nvSpPr>
          <p:cNvPr id="4" name="Slide Number Placeholder 3"/>
          <p:cNvSpPr>
            <a:spLocks noGrp="1"/>
          </p:cNvSpPr>
          <p:nvPr>
            <p:ph type="sldNum" sz="quarter" idx="10"/>
          </p:nvPr>
        </p:nvSpPr>
        <p:spPr/>
        <p:txBody>
          <a:bodyPr/>
          <a:lstStyle/>
          <a:p>
            <a:fld id="{7FB667E1-E601-4AAF-B95C-B25720D70A60}" type="slidenum">
              <a:rPr lang="en-US" smtClean="0"/>
              <a:pPr/>
              <a:t>19</a:t>
            </a:fld>
            <a:endParaRPr lang="en-US"/>
          </a:p>
        </p:txBody>
      </p:sp>
    </p:spTree>
    <p:extLst>
      <p:ext uri="{BB962C8B-B14F-4D97-AF65-F5344CB8AC3E}">
        <p14:creationId xmlns:p14="http://schemas.microsoft.com/office/powerpoint/2010/main" xmlns="" val="1214956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slide</a:t>
            </a:r>
          </a:p>
        </p:txBody>
      </p:sp>
      <p:sp>
        <p:nvSpPr>
          <p:cNvPr id="4" name="Slide Number Placeholder 3"/>
          <p:cNvSpPr>
            <a:spLocks noGrp="1"/>
          </p:cNvSpPr>
          <p:nvPr>
            <p:ph type="sldNum" sz="quarter" idx="10"/>
          </p:nvPr>
        </p:nvSpPr>
        <p:spPr/>
        <p:txBody>
          <a:bodyPr/>
          <a:lstStyle/>
          <a:p>
            <a:fld id="{7FB667E1-E601-4AAF-B95C-B25720D70A60}" type="slidenum">
              <a:rPr lang="en-US" smtClean="0"/>
              <a:pPr/>
              <a:t>20</a:t>
            </a:fld>
            <a:endParaRPr lang="en-US"/>
          </a:p>
        </p:txBody>
      </p:sp>
    </p:spTree>
    <p:extLst>
      <p:ext uri="{BB962C8B-B14F-4D97-AF65-F5344CB8AC3E}">
        <p14:creationId xmlns:p14="http://schemas.microsoft.com/office/powerpoint/2010/main" xmlns="" val="12149569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21</a:t>
            </a:fld>
            <a:endParaRPr lang="en-US"/>
          </a:p>
        </p:txBody>
      </p:sp>
    </p:spTree>
    <p:extLst>
      <p:ext uri="{BB962C8B-B14F-4D97-AF65-F5344CB8AC3E}">
        <p14:creationId xmlns:p14="http://schemas.microsoft.com/office/powerpoint/2010/main" xmlns="" val="12489933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22</a:t>
            </a:fld>
            <a:endParaRPr lang="en-US"/>
          </a:p>
        </p:txBody>
      </p:sp>
    </p:spTree>
    <p:extLst>
      <p:ext uri="{BB962C8B-B14F-4D97-AF65-F5344CB8AC3E}">
        <p14:creationId xmlns:p14="http://schemas.microsoft.com/office/powerpoint/2010/main" xmlns="" val="28804259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bwMode="ltGray">
          <a:xfrm>
            <a:off x="-2" y="4754880"/>
            <a:ext cx="12192002" cy="21031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6" name="Rectangle 5"/>
          <p:cNvSpPr/>
          <p:nvPr/>
        </p:nvSpPr>
        <p:spPr bwMode="white">
          <a:xfrm>
            <a:off x="-127" y="4724400"/>
            <a:ext cx="12188826" cy="76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523999" y="4800600"/>
            <a:ext cx="9144002" cy="1143000"/>
          </a:xfrm>
        </p:spPr>
        <p:txBody>
          <a:bodyPr anchor="b">
            <a:normAutofit/>
          </a:bodyPr>
          <a:lstStyle>
            <a:lvl1pPr algn="ctr">
              <a:defRPr sz="4800">
                <a:solidFill>
                  <a:schemeClr val="bg1"/>
                </a:solidFill>
              </a:defRPr>
            </a:lvl1pPr>
          </a:lstStyle>
          <a:p>
            <a:r>
              <a:rPr lang="en-US" smtClean="0"/>
              <a:t>Click to edit Master title style</a:t>
            </a:r>
            <a:endParaRPr/>
          </a:p>
        </p:txBody>
      </p:sp>
      <p:sp>
        <p:nvSpPr>
          <p:cNvPr id="3" name="Subtitle 2"/>
          <p:cNvSpPr>
            <a:spLocks noGrp="1"/>
          </p:cNvSpPr>
          <p:nvPr>
            <p:ph type="subTitle" idx="1"/>
          </p:nvPr>
        </p:nvSpPr>
        <p:spPr>
          <a:xfrm>
            <a:off x="1522413" y="5943600"/>
            <a:ext cx="9144002" cy="762000"/>
          </a:xfrm>
        </p:spPr>
        <p:txBody>
          <a:bodyPr>
            <a:normAutofit/>
          </a:bodyPr>
          <a:lstStyle>
            <a:lvl1pPr marL="0" indent="0" algn="ctr">
              <a:spcBef>
                <a:spcPts val="0"/>
              </a:spcBef>
              <a:buNone/>
              <a:defRPr sz="2000" cap="none" baseline="0">
                <a:solidFill>
                  <a:schemeClr val="bg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a:p>
        </p:txBody>
      </p:sp>
      <p:pic>
        <p:nvPicPr>
          <p:cNvPr id="1026" name="Picture 2" descr="D:\Users\Mohandas\AppData\Local\Microsoft\Windows\Temporary Internet Files\Content.Outlook\O8ZW7CZ1\company_logo (2).png"/>
          <p:cNvPicPr>
            <a:picLocks noChangeAspect="1" noChangeArrowheads="1"/>
          </p:cNvPicPr>
          <p:nvPr userDrawn="1"/>
        </p:nvPicPr>
        <p:blipFill>
          <a:blip r:embed="rId2"/>
          <a:srcRect/>
          <a:stretch>
            <a:fillRect/>
          </a:stretch>
        </p:blipFill>
        <p:spPr bwMode="auto">
          <a:xfrm>
            <a:off x="5029200" y="1066800"/>
            <a:ext cx="2095500" cy="2600325"/>
          </a:xfrm>
          <a:prstGeom prst="rect">
            <a:avLst/>
          </a:prstGeom>
          <a:noFill/>
        </p:spPr>
      </p:pic>
    </p:spTree>
    <p:extLst>
      <p:ext uri="{BB962C8B-B14F-4D97-AF65-F5344CB8AC3E}">
        <p14:creationId xmlns:p14="http://schemas.microsoft.com/office/powerpoint/2010/main" xmlns="" val="338288208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1120" y="685800"/>
            <a:ext cx="9509760" cy="1014984"/>
          </a:xfrm>
        </p:spPr>
        <p:txBody>
          <a:bodyPr/>
          <a:lstStyle/>
          <a:p>
            <a:r>
              <a:rPr lang="en-US" smtClean="0"/>
              <a:t>Click to edit Master title style</a:t>
            </a:r>
            <a:endParaRPr/>
          </a:p>
        </p:txBody>
      </p:sp>
      <p:sp>
        <p:nvSpPr>
          <p:cNvPr id="3" name="Content Placeholder 2"/>
          <p:cNvSpPr>
            <a:spLocks noGrp="1"/>
          </p:cNvSpPr>
          <p:nvPr>
            <p:ph idx="1"/>
          </p:nvPr>
        </p:nvSpPr>
        <p:spPr/>
        <p:txBody>
          <a:bodyPr/>
          <a:lstStyle>
            <a:lvl6pPr>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Indocosmo Systems Pvt. Ltd. All Rights Reserved</a:t>
            </a:r>
            <a:endParaRPr dirty="0"/>
          </a:p>
        </p:txBody>
      </p:sp>
      <p:sp>
        <p:nvSpPr>
          <p:cNvPr id="6" name="Slide Number Placeholder 5"/>
          <p:cNvSpPr>
            <a:spLocks noGrp="1"/>
          </p:cNvSpPr>
          <p:nvPr>
            <p:ph type="sldNum" sz="quarter" idx="12"/>
          </p:nvPr>
        </p:nvSpPr>
        <p:spPr/>
        <p:txBody>
          <a:bodyPr/>
          <a:lstStyle/>
          <a:p>
            <a:fld id="{CA8D9AD5-F248-4919-864A-CFD76CC027D6}" type="slidenum">
              <a:rPr/>
              <a:pPr/>
              <a:t>‹#›</a:t>
            </a:fld>
            <a:endParaRPr dirty="0"/>
          </a:p>
        </p:txBody>
      </p:sp>
      <p:pic>
        <p:nvPicPr>
          <p:cNvPr id="7" name="Picture 2"/>
          <p:cNvPicPr>
            <a:picLocks noChangeAspect="1" noChangeArrowheads="1"/>
          </p:cNvPicPr>
          <p:nvPr userDrawn="1"/>
        </p:nvPicPr>
        <p:blipFill>
          <a:blip r:embed="rId2"/>
          <a:srcRect/>
          <a:stretch>
            <a:fillRect/>
          </a:stretch>
        </p:blipFill>
        <p:spPr bwMode="auto">
          <a:xfrm>
            <a:off x="9067800" y="0"/>
            <a:ext cx="2105025" cy="561975"/>
          </a:xfrm>
          <a:prstGeom prst="rect">
            <a:avLst/>
          </a:prstGeom>
          <a:noFill/>
          <a:ln w="9525">
            <a:noFill/>
            <a:miter lim="800000"/>
            <a:headEnd/>
            <a:tailEnd/>
          </a:ln>
          <a:effectLst/>
        </p:spPr>
      </p:pic>
      <p:cxnSp>
        <p:nvCxnSpPr>
          <p:cNvPr id="8" name="Straight Connector 7"/>
          <p:cNvCxnSpPr/>
          <p:nvPr userDrawn="1"/>
        </p:nvCxnSpPr>
        <p:spPr>
          <a:xfrm>
            <a:off x="1371600" y="609600"/>
            <a:ext cx="9496425" cy="10885"/>
          </a:xfrm>
          <a:prstGeom prst="line">
            <a:avLst/>
          </a:prstGeom>
          <a:ln w="127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15934224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0" y="0"/>
            <a:ext cx="12188826" cy="4572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8" name="Rectangle 7"/>
          <p:cNvSpPr/>
          <p:nvPr/>
        </p:nvSpPr>
        <p:spPr bwMode="white">
          <a:xfrm>
            <a:off x="-1" y="4114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524000" y="1143000"/>
            <a:ext cx="9144000" cy="2667000"/>
          </a:xfrm>
        </p:spPr>
        <p:txBody>
          <a:bodyPr anchor="b">
            <a:normAutofit/>
          </a:bodyPr>
          <a:lstStyle>
            <a:lvl1pPr algn="ctr">
              <a:defRPr sz="5200" b="0"/>
            </a:lvl1pPr>
          </a:lstStyle>
          <a:p>
            <a:r>
              <a:rPr lang="en-US" smtClean="0"/>
              <a:t>Click to edit Master title style</a:t>
            </a:r>
            <a:endParaRPr/>
          </a:p>
        </p:txBody>
      </p:sp>
      <p:sp>
        <p:nvSpPr>
          <p:cNvPr id="3" name="Text Placeholder 2"/>
          <p:cNvSpPr>
            <a:spLocks noGrp="1"/>
          </p:cNvSpPr>
          <p:nvPr>
            <p:ph type="body" idx="1"/>
          </p:nvPr>
        </p:nvSpPr>
        <p:spPr>
          <a:xfrm>
            <a:off x="1524000" y="3810000"/>
            <a:ext cx="9144000" cy="1143000"/>
          </a:xfrm>
        </p:spPr>
        <p:txBody>
          <a:bodyPr anchor="t">
            <a:normAutofit/>
          </a:bodyPr>
          <a:lstStyle>
            <a:lvl1pPr marL="0" indent="0" algn="ctr">
              <a:spcBef>
                <a:spcPts val="0"/>
              </a:spcBef>
              <a:buNone/>
              <a:defRPr sz="2400" cap="none"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xmlns="" val="27158437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Alternate 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524000" y="1143000"/>
            <a:ext cx="9144000" cy="2667000"/>
          </a:xfrm>
        </p:spPr>
        <p:txBody>
          <a:bodyPr anchor="b">
            <a:normAutofit/>
          </a:bodyPr>
          <a:lstStyle>
            <a:lvl1pPr algn="ctr">
              <a:defRPr sz="5200" b="0">
                <a:solidFill>
                  <a:schemeClr val="tx1"/>
                </a:solidFill>
              </a:defRPr>
            </a:lvl1pPr>
          </a:lstStyle>
          <a:p>
            <a:r>
              <a:rPr lang="en-US" smtClean="0"/>
              <a:t>Click to edit Master title style</a:t>
            </a:r>
            <a:endParaRPr/>
          </a:p>
        </p:txBody>
      </p:sp>
      <p:sp>
        <p:nvSpPr>
          <p:cNvPr id="3" name="Text Placeholder 2"/>
          <p:cNvSpPr>
            <a:spLocks noGrp="1"/>
          </p:cNvSpPr>
          <p:nvPr>
            <p:ph type="body" idx="1"/>
          </p:nvPr>
        </p:nvSpPr>
        <p:spPr>
          <a:xfrm>
            <a:off x="1522413" y="3810000"/>
            <a:ext cx="9144000" cy="1143000"/>
          </a:xfrm>
        </p:spPr>
        <p:txBody>
          <a:bodyPr anchor="t">
            <a:normAutofit/>
          </a:bodyPr>
          <a:lstStyle>
            <a:lvl1pPr marL="0" indent="0" algn="ctr">
              <a:spcBef>
                <a:spcPts val="0"/>
              </a:spcBef>
              <a:buNone/>
              <a:defRPr sz="2400" cap="none"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lvl1pPr>
              <a:defRPr>
                <a:solidFill>
                  <a:schemeClr val="tx2"/>
                </a:solidFill>
              </a:defRPr>
            </a:lvl1p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xmlns="" val="28043280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34112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7888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7" name="Slide Number Placeholder 6"/>
          <p:cNvSpPr>
            <a:spLocks noGrp="1"/>
          </p:cNvSpPr>
          <p:nvPr>
            <p:ph type="sldNum" sz="quarter" idx="12"/>
          </p:nvPr>
        </p:nvSpPr>
        <p:spPr/>
        <p:txBody>
          <a:bodyPr/>
          <a:lstStyle/>
          <a:p>
            <a:fld id="{A0ECE5F2-81AA-4605-B028-6FBA391056AF}" type="slidenum">
              <a:rPr/>
              <a:pPr/>
              <a:t>‹#›</a:t>
            </a:fld>
            <a:endParaRPr/>
          </a:p>
        </p:txBody>
      </p:sp>
    </p:spTree>
    <p:extLst>
      <p:ext uri="{BB962C8B-B14F-4D97-AF65-F5344CB8AC3E}">
        <p14:creationId xmlns:p14="http://schemas.microsoft.com/office/powerpoint/2010/main" xmlns="" val="311707841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41120" y="466344"/>
            <a:ext cx="9509760" cy="1234440"/>
          </a:xfrm>
        </p:spPr>
        <p:txBody>
          <a:bodyPr/>
          <a:lstStyle/>
          <a:p>
            <a:r>
              <a:rPr lang="en-US" smtClean="0"/>
              <a:t>Click to edit Master title style</a:t>
            </a:r>
            <a:endParaRPr/>
          </a:p>
        </p:txBody>
      </p:sp>
      <p:sp>
        <p:nvSpPr>
          <p:cNvPr id="3" name="Text Placeholder 2"/>
          <p:cNvSpPr>
            <a:spLocks noGrp="1"/>
          </p:cNvSpPr>
          <p:nvPr>
            <p:ph type="body" idx="1"/>
          </p:nvPr>
        </p:nvSpPr>
        <p:spPr>
          <a:xfrm>
            <a:off x="134112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34112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7888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7888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smtClean="0"/>
              <a:t>Indocosmo Systems Pvt. Ltd. All Rights Reserved</a:t>
            </a:r>
            <a:endParaRPr/>
          </a:p>
        </p:txBody>
      </p:sp>
      <p:sp>
        <p:nvSpPr>
          <p:cNvPr id="9" name="Slide Number Placeholder 8"/>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xmlns="" val="405708082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r>
              <a:rPr lang="en-US" smtClean="0"/>
              <a:t>Indocosmo Systems Pvt. Ltd. All Rights Reserved</a:t>
            </a:r>
            <a:endParaRPr/>
          </a:p>
        </p:txBody>
      </p:sp>
      <p:sp>
        <p:nvSpPr>
          <p:cNvPr id="5" name="Slide Number Placeholder 4"/>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xmlns="" val="84201103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solidFill>
                  <a:schemeClr val="tx2"/>
                </a:solidFill>
              </a:defRPr>
            </a:lvl1pPr>
          </a:lstStyle>
          <a:p>
            <a:r>
              <a:rPr lang="en-US" smtClean="0"/>
              <a:t>Indocosmo Systems Pvt. Ltd. All Rights Reserved</a:t>
            </a:r>
            <a:endParaRPr/>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xmlns="" val="255900396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0412" y="2362200"/>
            <a:ext cx="3200400" cy="1990725"/>
          </a:xfrm>
        </p:spPr>
        <p:txBody>
          <a:bodyPr anchor="b">
            <a:normAutofit/>
          </a:bodyPr>
          <a:lstStyle>
            <a:lvl1pPr>
              <a:defRPr sz="3400" b="0"/>
            </a:lvl1pPr>
          </a:lstStyle>
          <a:p>
            <a:r>
              <a:rPr lang="en-US" smtClean="0"/>
              <a:t>Click to edit Master title style</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Content Placeholder 2"/>
          <p:cNvSpPr>
            <a:spLocks noGrp="1"/>
          </p:cNvSpPr>
          <p:nvPr>
            <p:ph idx="1"/>
          </p:nvPr>
        </p:nvSpPr>
        <p:spPr>
          <a:xfrm>
            <a:off x="4494212" y="685800"/>
            <a:ext cx="7239001"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5" name="Date Placeholder 4"/>
          <p:cNvSpPr>
            <a:spLocks noGrp="1"/>
          </p:cNvSpPr>
          <p:nvPr>
            <p:ph type="dt" sz="half" idx="10"/>
          </p:nvPr>
        </p:nvSpPr>
        <p:spPr/>
        <p:txBody>
          <a:bodyPr/>
          <a:lstStyle/>
          <a:p>
            <a:fld id="{D4ABB286-16C3-4783-AA2A-B9EBBA081DDE}" type="datetime1">
              <a:rPr lang="en-US" smtClean="0"/>
              <a:pPr/>
              <a:t>7/4/2020</a:t>
            </a:fld>
            <a:endParaRPr/>
          </a:p>
        </p:txBody>
      </p:sp>
      <p:sp>
        <p:nvSpPr>
          <p:cNvPr id="7" name="Slide Number Placeholder 6"/>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xmlns="" val="14359466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Alternate Content with Caption">
    <p:spTree>
      <p:nvGrpSpPr>
        <p:cNvPr id="1" name=""/>
        <p:cNvGrpSpPr/>
        <p:nvPr/>
      </p:nvGrpSpPr>
      <p:grpSpPr>
        <a:xfrm>
          <a:off x="0" y="0"/>
          <a:ext cx="0" cy="0"/>
          <a:chOff x="0" y="0"/>
          <a:chExt cx="0" cy="0"/>
        </a:xfrm>
      </p:grpSpPr>
      <p:sp>
        <p:nvSpPr>
          <p:cNvPr id="8" name="Rectangle 7"/>
          <p:cNvSpPr/>
          <p:nvPr/>
        </p:nvSpPr>
        <p:spPr bwMode="ltGray">
          <a:xfrm>
            <a:off x="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60412" y="2362200"/>
            <a:ext cx="3200400" cy="1990725"/>
          </a:xfrm>
        </p:spPr>
        <p:txBody>
          <a:bodyPr anchor="b">
            <a:normAutofit/>
          </a:bodyPr>
          <a:lstStyle>
            <a:lvl1pPr>
              <a:defRPr sz="34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Content Placeholder 2"/>
          <p:cNvSpPr>
            <a:spLocks noGrp="1"/>
          </p:cNvSpPr>
          <p:nvPr>
            <p:ph idx="1"/>
          </p:nvPr>
        </p:nvSpPr>
        <p:spPr>
          <a:xfrm>
            <a:off x="5362892" y="685800"/>
            <a:ext cx="6370320"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5" name="Date Placeholder 4"/>
          <p:cNvSpPr>
            <a:spLocks noGrp="1"/>
          </p:cNvSpPr>
          <p:nvPr>
            <p:ph type="dt" sz="half" idx="10"/>
          </p:nvPr>
        </p:nvSpPr>
        <p:spPr/>
        <p:txBody>
          <a:bodyPr/>
          <a:lstStyle>
            <a:lvl1pPr>
              <a:defRPr>
                <a:solidFill>
                  <a:schemeClr val="tx2"/>
                </a:solidFill>
              </a:defRPr>
            </a:lvl1pPr>
          </a:lstStyle>
          <a:p>
            <a:fld id="{4A3DC464-E8E0-435A-8721-5808739BC53E}" type="datetime1">
              <a:rPr lang="en-US" smtClean="0"/>
              <a:pPr/>
              <a:t>7/4/2020</a:t>
            </a:fld>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xmlns="" val="37693078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userDrawn="1"/>
        </p:nvSpPr>
        <p:spPr bwMode="ltGray">
          <a:xfrm>
            <a:off x="731520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923214" y="2362200"/>
            <a:ext cx="3200400" cy="1993392"/>
          </a:xfrm>
        </p:spPr>
        <p:txBody>
          <a:bodyPr anchor="b">
            <a:normAutofit/>
          </a:bodyPr>
          <a:lstStyle>
            <a:lvl1pPr>
              <a:defRPr sz="3400" b="0">
                <a:solidFill>
                  <a:schemeClr val="bg1"/>
                </a:solidFill>
              </a:defRPr>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0" y="0"/>
            <a:ext cx="7315200" cy="6858000"/>
          </a:xfrm>
          <a:solidFill>
            <a:schemeClr val="bg2">
              <a:lumMod val="90000"/>
            </a:schemeClr>
          </a:solidFill>
        </p:spPr>
        <p:txBody>
          <a:bodyPr/>
          <a:lstStyle>
            <a:lvl1pPr marL="0" indent="0" algn="ctr">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7923214" y="4355592"/>
            <a:ext cx="3200400" cy="1644614"/>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7" name="Slide Number Placeholder 6"/>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xmlns="" val="13717346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xmlns="" val="333857220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838200" y="274638"/>
            <a:ext cx="7734300"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xmlns="" val="275155822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1587" y="6553200"/>
            <a:ext cx="12188826" cy="3048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2" name="Title Placeholder 1"/>
          <p:cNvSpPr>
            <a:spLocks noGrp="1"/>
          </p:cNvSpPr>
          <p:nvPr>
            <p:ph type="title"/>
          </p:nvPr>
        </p:nvSpPr>
        <p:spPr>
          <a:xfrm>
            <a:off x="1341120" y="467360"/>
            <a:ext cx="9509760" cy="1233424"/>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bg2"/>
                </a:solidFill>
              </a:defRPr>
            </a:lvl1pPr>
          </a:lstStyle>
          <a:p>
            <a:r>
              <a:rPr lang="en-US" smtClean="0"/>
              <a:t>Indocosmo Systems Pvt. Ltd. All Rights Reserved</a:t>
            </a:r>
            <a:endParaRPr lang="en-US" dirty="0"/>
          </a:p>
        </p:txBody>
      </p:sp>
      <p:sp>
        <p:nvSpPr>
          <p:cNvPr id="4" name="Date Placeholder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r">
              <a:defRPr sz="1100">
                <a:solidFill>
                  <a:schemeClr val="bg2"/>
                </a:solidFill>
              </a:defRPr>
            </a:lvl1pPr>
          </a:lstStyle>
          <a:p>
            <a:fld id="{A58171AB-CE22-4F77-A6B5-BB13C3E53249}" type="datetime1">
              <a:rPr lang="en-US" smtClean="0"/>
              <a:pPr/>
              <a:t>7/4/2020</a:t>
            </a:fld>
            <a:endParaRPr lang="en-US" dirty="0"/>
          </a:p>
        </p:txBody>
      </p:sp>
      <p:sp>
        <p:nvSpPr>
          <p:cNvPr id="6" name="Slide Number Placeholder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a:solidFill>
                  <a:schemeClr val="bg2"/>
                </a:solidFill>
              </a:defRPr>
            </a:lvl1pPr>
          </a:lstStyle>
          <a:p>
            <a:fld id="{CA8D9AD5-F248-4919-864A-CFD76CC027D6}" type="slidenum">
              <a:rPr lang="en-US" smtClean="0"/>
              <a:pPr/>
              <a:t>‹#›</a:t>
            </a:fld>
            <a:endParaRPr lang="en-US" dirty="0"/>
          </a:p>
        </p:txBody>
      </p:sp>
    </p:spTree>
    <p:extLst>
      <p:ext uri="{BB962C8B-B14F-4D97-AF65-F5344CB8AC3E}">
        <p14:creationId xmlns:p14="http://schemas.microsoft.com/office/powerpoint/2010/main" xmlns="" val="256376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2" r:id="rId4"/>
    <p:sldLayoutId id="2147483661" r:id="rId5"/>
    <p:sldLayoutId id="2147483653" r:id="rId6"/>
    <p:sldLayoutId id="2147483654" r:id="rId7"/>
    <p:sldLayoutId id="2147483655" r:id="rId8"/>
    <p:sldLayoutId id="2147483656" r:id="rId9"/>
    <p:sldLayoutId id="2147483663" r:id="rId10"/>
    <p:sldLayoutId id="2147483657" r:id="rId11"/>
    <p:sldLayoutId id="2147483658" r:id="rId12"/>
    <p:sldLayoutId id="2147483659" r:id="rId13"/>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hf hdr="0" dt="0"/>
  <p:txStyles>
    <p:titleStyle>
      <a:lvl1pPr marL="0" indent="0" algn="l" defTabSz="914400" rtl="0" eaLnBrk="1" latinLnBrk="0" hangingPunct="1">
        <a:lnSpc>
          <a:spcPct val="90000"/>
        </a:lnSpc>
        <a:spcBef>
          <a:spcPct val="0"/>
        </a:spcBef>
        <a:buFont typeface="Arial" pitchFamily="34" charset="0"/>
        <a:buNone/>
        <a:defRPr sz="3400" kern="1200">
          <a:solidFill>
            <a:schemeClr val="tx2">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2"/>
        </a:buClr>
        <a:buSzPct val="80000"/>
        <a:buFont typeface="Wingdings" pitchFamily="2" charset="2"/>
        <a:buChar char="§"/>
        <a:defRPr sz="2000" kern="1200">
          <a:solidFill>
            <a:schemeClr val="tx2"/>
          </a:solidFill>
          <a:latin typeface="+mn-lt"/>
          <a:ea typeface="+mn-ea"/>
          <a:cs typeface="+mn-cs"/>
        </a:defRPr>
      </a:lvl1pPr>
      <a:lvl2pPr marL="594360" indent="-228600" algn="l" defTabSz="914400" rtl="0" eaLnBrk="1" latinLnBrk="0" hangingPunct="1">
        <a:lnSpc>
          <a:spcPct val="90000"/>
        </a:lnSpc>
        <a:spcBef>
          <a:spcPts val="1000"/>
        </a:spcBef>
        <a:buClr>
          <a:schemeClr val="tx2"/>
        </a:buClr>
        <a:buSzPct val="80000"/>
        <a:buFont typeface="Wingdings" pitchFamily="2" charset="2"/>
        <a:buChar char="§"/>
        <a:defRPr sz="1800" kern="1200">
          <a:solidFill>
            <a:schemeClr val="tx2"/>
          </a:solidFill>
          <a:latin typeface="+mn-lt"/>
          <a:ea typeface="+mn-ea"/>
          <a:cs typeface="+mn-cs"/>
        </a:defRPr>
      </a:lvl2pPr>
      <a:lvl3pPr marL="914400" indent="-228600" algn="l" defTabSz="914400" rtl="0" eaLnBrk="1" latinLnBrk="0" hangingPunct="1">
        <a:lnSpc>
          <a:spcPct val="90000"/>
        </a:lnSpc>
        <a:spcBef>
          <a:spcPts val="800"/>
        </a:spcBef>
        <a:buClr>
          <a:schemeClr val="tx2"/>
        </a:buClr>
        <a:buSzPct val="80000"/>
        <a:buFont typeface="Wingdings" pitchFamily="2" charset="2"/>
        <a:buChar char="§"/>
        <a:defRPr sz="1600" kern="1200">
          <a:solidFill>
            <a:schemeClr val="tx2"/>
          </a:solidFill>
          <a:latin typeface="+mn-lt"/>
          <a:ea typeface="+mn-ea"/>
          <a:cs typeface="+mn-cs"/>
        </a:defRPr>
      </a:lvl3pPr>
      <a:lvl4pPr marL="1234440" indent="-228600" algn="l" defTabSz="914400" rtl="0" eaLnBrk="1" latinLnBrk="0" hangingPunct="1">
        <a:lnSpc>
          <a:spcPct val="90000"/>
        </a:lnSpc>
        <a:spcBef>
          <a:spcPts val="800"/>
        </a:spcBef>
        <a:buClr>
          <a:schemeClr val="tx2"/>
        </a:buClr>
        <a:buSzPct val="80000"/>
        <a:buFont typeface="Wingdings" pitchFamily="2" charset="2"/>
        <a:buChar char="§"/>
        <a:defRPr sz="1400" kern="1200">
          <a:solidFill>
            <a:schemeClr val="tx2"/>
          </a:solidFill>
          <a:latin typeface="+mn-lt"/>
          <a:ea typeface="+mn-ea"/>
          <a:cs typeface="+mn-cs"/>
        </a:defRPr>
      </a:lvl4pPr>
      <a:lvl5pPr marL="1554480" indent="-228600" algn="l" defTabSz="914400" rtl="0" eaLnBrk="1" latinLnBrk="0" hangingPunct="1">
        <a:lnSpc>
          <a:spcPct val="90000"/>
        </a:lnSpc>
        <a:spcBef>
          <a:spcPts val="800"/>
        </a:spcBef>
        <a:buClr>
          <a:schemeClr val="tx2"/>
        </a:buClr>
        <a:buSzPct val="80000"/>
        <a:buFont typeface="Wingdings" pitchFamily="2" charset="2"/>
        <a:buChar char="§"/>
        <a:defRPr sz="1400" kern="1200">
          <a:solidFill>
            <a:schemeClr val="tx2"/>
          </a:solidFill>
          <a:latin typeface="+mn-lt"/>
          <a:ea typeface="+mn-ea"/>
          <a:cs typeface="+mn-cs"/>
        </a:defRPr>
      </a:lvl5pPr>
      <a:lvl6pPr marL="1874520" indent="-228600" algn="l" defTabSz="914400" rtl="0" eaLnBrk="1" latinLnBrk="0" hangingPunct="1">
        <a:lnSpc>
          <a:spcPct val="90000"/>
        </a:lnSpc>
        <a:spcBef>
          <a:spcPts val="800"/>
        </a:spcBef>
        <a:buSzPct val="80000"/>
        <a:buFont typeface="Wingdings" pitchFamily="2" charset="2"/>
        <a:buChar char="§"/>
        <a:defRPr sz="1400" kern="1200">
          <a:solidFill>
            <a:schemeClr val="tx2"/>
          </a:solidFill>
          <a:latin typeface="+mn-lt"/>
          <a:ea typeface="+mn-ea"/>
          <a:cs typeface="+mn-cs"/>
        </a:defRPr>
      </a:lvl6pPr>
      <a:lvl7pPr marL="219456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7pPr>
      <a:lvl8pPr marL="251460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8pPr>
      <a:lvl9pPr marL="283464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360">
          <p15:clr>
            <a:srgbClr val="F26B43"/>
          </p15:clr>
        </p15:guide>
        <p15:guide id="2" pos="40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&lt;PROJECT NAME&gt;</a:t>
            </a:r>
            <a:endParaRPr lang="en-US" dirty="0"/>
          </a:p>
        </p:txBody>
      </p:sp>
      <p:sp>
        <p:nvSpPr>
          <p:cNvPr id="4" name="Subtitle 3"/>
          <p:cNvSpPr>
            <a:spLocks noGrp="1"/>
          </p:cNvSpPr>
          <p:nvPr>
            <p:ph type="subTitle" idx="1"/>
          </p:nvPr>
        </p:nvSpPr>
        <p:spPr>
          <a:xfrm>
            <a:off x="1522413" y="5943600"/>
            <a:ext cx="9144002" cy="533400"/>
          </a:xfrm>
        </p:spPr>
        <p:txBody>
          <a:bodyPr/>
          <a:lstStyle/>
          <a:p>
            <a:r>
              <a:rPr lang="en-US" dirty="0" smtClean="0"/>
              <a:t>Presented By: &lt;Name&gt;</a:t>
            </a:r>
            <a:endParaRPr lang="en-US" dirty="0"/>
          </a:p>
        </p:txBody>
      </p:sp>
      <p:sp>
        <p:nvSpPr>
          <p:cNvPr id="7" name="Rectangle 6"/>
          <p:cNvSpPr/>
          <p:nvPr/>
        </p:nvSpPr>
        <p:spPr>
          <a:xfrm>
            <a:off x="8763000" y="6488668"/>
            <a:ext cx="1039067" cy="369332"/>
          </a:xfrm>
          <a:prstGeom prst="rect">
            <a:avLst/>
          </a:prstGeom>
        </p:spPr>
        <p:txBody>
          <a:bodyPr wrap="none">
            <a:spAutoFit/>
          </a:bodyPr>
          <a:lstStyle/>
          <a:p>
            <a:r>
              <a:rPr lang="en-US" dirty="0" smtClean="0">
                <a:solidFill>
                  <a:schemeClr val="bg1"/>
                </a:solidFill>
              </a:rPr>
              <a:t>Issue #:2</a:t>
            </a:r>
            <a:endParaRPr lang="en-US" dirty="0">
              <a:solidFill>
                <a:schemeClr val="bg1"/>
              </a:solidFill>
            </a:endParaRPr>
          </a:p>
        </p:txBody>
      </p:sp>
      <p:sp>
        <p:nvSpPr>
          <p:cNvPr id="8" name="Rectangle 7"/>
          <p:cNvSpPr/>
          <p:nvPr/>
        </p:nvSpPr>
        <p:spPr>
          <a:xfrm>
            <a:off x="9789739" y="6488668"/>
            <a:ext cx="2402261" cy="369332"/>
          </a:xfrm>
          <a:prstGeom prst="rect">
            <a:avLst/>
          </a:prstGeom>
        </p:spPr>
        <p:txBody>
          <a:bodyPr wrap="none">
            <a:spAutoFit/>
          </a:bodyPr>
          <a:lstStyle/>
          <a:p>
            <a:r>
              <a:rPr lang="en-US" dirty="0" smtClean="0">
                <a:solidFill>
                  <a:schemeClr val="bg1"/>
                </a:solidFill>
              </a:rPr>
              <a:t>Issue date:01-Nov-2017</a:t>
            </a:r>
            <a:endParaRPr lang="en-US" dirty="0">
              <a:solidFill>
                <a:schemeClr val="bg1"/>
              </a:solidFill>
            </a:endParaRPr>
          </a:p>
        </p:txBody>
      </p:sp>
      <p:sp>
        <p:nvSpPr>
          <p:cNvPr id="9" name="Rectangle 8"/>
          <p:cNvSpPr/>
          <p:nvPr/>
        </p:nvSpPr>
        <p:spPr>
          <a:xfrm>
            <a:off x="0" y="6488668"/>
            <a:ext cx="1253869" cy="369332"/>
          </a:xfrm>
          <a:prstGeom prst="rect">
            <a:avLst/>
          </a:prstGeom>
        </p:spPr>
        <p:txBody>
          <a:bodyPr wrap="none">
            <a:spAutoFit/>
          </a:bodyPr>
          <a:lstStyle/>
          <a:p>
            <a:pPr lvl="0"/>
            <a:r>
              <a:rPr lang="en-US" dirty="0" smtClean="0">
                <a:solidFill>
                  <a:schemeClr val="bg1"/>
                </a:solidFill>
              </a:rPr>
              <a:t>ICS/FMT/PI</a:t>
            </a:r>
            <a:endParaRPr lang="en-US" dirty="0">
              <a:solidFill>
                <a:schemeClr val="bg1"/>
              </a:solidFill>
            </a:endParaRPr>
          </a:p>
        </p:txBody>
      </p:sp>
    </p:spTree>
    <p:extLst>
      <p:ext uri="{BB962C8B-B14F-4D97-AF65-F5344CB8AC3E}">
        <p14:creationId xmlns:p14="http://schemas.microsoft.com/office/powerpoint/2010/main" xmlns="" val="279880932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43000"/>
            <a:ext cx="9144000" cy="2667000"/>
          </a:xfrm>
        </p:spPr>
        <p:txBody>
          <a:bodyPr/>
          <a:lstStyle/>
          <a:p>
            <a:r>
              <a:rPr lang="en-US" dirty="0" smtClean="0"/>
              <a:t>&lt;Project Name&gt;</a:t>
            </a:r>
            <a:br>
              <a:rPr lang="en-US" dirty="0" smtClean="0"/>
            </a:br>
            <a:r>
              <a:rPr lang="en-US" dirty="0" smtClean="0"/>
              <a:t>(&lt;Project Code&gt;)</a:t>
            </a:r>
            <a:endParaRPr lang="en-US" dirty="0"/>
          </a:p>
        </p:txBody>
      </p:sp>
      <p:sp>
        <p:nvSpPr>
          <p:cNvPr id="3" name="Content Placeholder 2"/>
          <p:cNvSpPr>
            <a:spLocks noGrp="1"/>
          </p:cNvSpPr>
          <p:nvPr>
            <p:ph type="body" idx="1"/>
          </p:nvPr>
        </p:nvSpPr>
        <p:spPr/>
        <p:txBody>
          <a:bodyPr/>
          <a:lstStyle/>
          <a:p>
            <a:pPr lvl="0"/>
            <a:r>
              <a:rPr lang="en-US" dirty="0" smtClean="0"/>
              <a:t>&lt;Shorty Description of the project&gt;</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2</a:t>
            </a:fld>
            <a:endParaRPr lang="en-US"/>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a:p>
        </p:txBody>
      </p:sp>
      <p:graphicFrame>
        <p:nvGraphicFramePr>
          <p:cNvPr id="6" name="Table 5"/>
          <p:cNvGraphicFramePr>
            <a:graphicFrameLocks noGrp="1"/>
          </p:cNvGraphicFramePr>
          <p:nvPr>
            <p:extLst>
              <p:ext uri="{D42A27DB-BD31-4B8C-83A1-F6EECF244321}">
                <p14:modId xmlns:p14="http://schemas.microsoft.com/office/powerpoint/2010/main" xmlns="" val="2063306524"/>
              </p:ext>
            </p:extLst>
          </p:nvPr>
        </p:nvGraphicFramePr>
        <p:xfrm>
          <a:off x="457200" y="4495800"/>
          <a:ext cx="11277600" cy="1600200"/>
        </p:xfrm>
        <a:graphic>
          <a:graphicData uri="http://schemas.openxmlformats.org/drawingml/2006/table">
            <a:tbl>
              <a:tblPr/>
              <a:tblGrid>
                <a:gridCol w="2321755"/>
                <a:gridCol w="1685430"/>
                <a:gridCol w="1690161"/>
                <a:gridCol w="1895961"/>
                <a:gridCol w="1793062"/>
                <a:gridCol w="1891231"/>
              </a:tblGrid>
              <a:tr h="320040">
                <a:tc>
                  <a:txBody>
                    <a:bodyPr/>
                    <a:lstStyle/>
                    <a:p>
                      <a:pPr marL="0" marR="0">
                        <a:spcBef>
                          <a:spcPts val="0"/>
                        </a:spcBef>
                        <a:spcAft>
                          <a:spcPts val="0"/>
                        </a:spcAft>
                      </a:pPr>
                      <a:r>
                        <a:rPr lang="en-US" sz="1100" dirty="0">
                          <a:latin typeface="Calibri"/>
                          <a:ea typeface="ＭＳ 明朝"/>
                          <a:cs typeface="Times New Roman"/>
                        </a:rPr>
                        <a:t>Document ID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marL="0" marR="0">
                        <a:spcBef>
                          <a:spcPts val="0"/>
                        </a:spcBef>
                        <a:spcAft>
                          <a:spcPts val="0"/>
                        </a:spcAft>
                      </a:pPr>
                      <a:r>
                        <a:rPr lang="en-US" sz="1800" kern="1200" smtClean="0">
                          <a:solidFill>
                            <a:schemeClr val="tx1"/>
                          </a:solidFill>
                          <a:latin typeface="+mn-lt"/>
                          <a:ea typeface="+mn-ea"/>
                          <a:cs typeface="+mn-cs"/>
                        </a:rPr>
                        <a:t>ICS/&lt;FMT&gt;/PI</a:t>
                      </a:r>
                      <a:endParaRPr lang="en-US" sz="1100" dirty="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20040">
                <a:tc>
                  <a:txBody>
                    <a:bodyPr/>
                    <a:lstStyle/>
                    <a:p>
                      <a:pPr marL="0" marR="0">
                        <a:spcBef>
                          <a:spcPts val="0"/>
                        </a:spcBef>
                        <a:spcAft>
                          <a:spcPts val="0"/>
                        </a:spcAft>
                      </a:pPr>
                      <a:r>
                        <a:rPr lang="en-US" sz="1100">
                          <a:latin typeface="Calibri"/>
                          <a:ea typeface="ＭＳ 明朝"/>
                          <a:cs typeface="Times New Roman"/>
                        </a:rPr>
                        <a:t>Document Name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marL="0" marR="0">
                        <a:spcBef>
                          <a:spcPts val="0"/>
                        </a:spcBef>
                        <a:spcAft>
                          <a:spcPts val="0"/>
                        </a:spcAft>
                      </a:pPr>
                      <a:r>
                        <a:rPr lang="en-US" sz="1100" dirty="0" smtClean="0">
                          <a:latin typeface="Calibri"/>
                          <a:ea typeface="ＭＳ 明朝"/>
                          <a:cs typeface="Times New Roman"/>
                        </a:rPr>
                        <a:t>PROJECT INITIATION</a:t>
                      </a:r>
                      <a:endParaRPr lang="en-US" sz="1100" dirty="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20040">
                <a:tc>
                  <a:txBody>
                    <a:bodyPr/>
                    <a:lstStyle/>
                    <a:p>
                      <a:pPr marL="0" marR="0">
                        <a:spcBef>
                          <a:spcPts val="0"/>
                        </a:spcBef>
                        <a:spcAft>
                          <a:spcPts val="0"/>
                        </a:spcAft>
                      </a:pPr>
                      <a:r>
                        <a:rPr lang="en-US" sz="1100">
                          <a:latin typeface="Calibri"/>
                          <a:ea typeface="ＭＳ 明朝"/>
                          <a:cs typeface="Times New Roman"/>
                        </a:rPr>
                        <a:t>Latest Version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marL="0" marR="0">
                        <a:spcBef>
                          <a:spcPts val="0"/>
                        </a:spcBef>
                        <a:spcAft>
                          <a:spcPts val="0"/>
                        </a:spcAft>
                      </a:pPr>
                      <a:r>
                        <a:rPr lang="en-US" sz="1100" dirty="0" smtClean="0">
                          <a:latin typeface="Calibri"/>
                          <a:ea typeface="ＭＳ 明朝"/>
                          <a:cs typeface="Times New Roman"/>
                        </a:rPr>
                        <a:t>1.0</a:t>
                      </a:r>
                      <a:endParaRPr lang="en-US" sz="1100" dirty="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20040">
                <a:tc>
                  <a:txBody>
                    <a:bodyPr/>
                    <a:lstStyle/>
                    <a:p>
                      <a:pPr marL="0" marR="0">
                        <a:spcBef>
                          <a:spcPts val="0"/>
                        </a:spcBef>
                        <a:spcAft>
                          <a:spcPts val="0"/>
                        </a:spcAft>
                      </a:pPr>
                      <a:r>
                        <a:rPr lang="en-US" sz="1100" dirty="0">
                          <a:solidFill>
                            <a:srgbClr val="FFFFFF"/>
                          </a:solidFill>
                          <a:latin typeface="Calibri"/>
                          <a:ea typeface="ＭＳ 明朝"/>
                          <a:cs typeface="Times New Roman"/>
                        </a:rPr>
                        <a:t>Created By</a:t>
                      </a:r>
                      <a:endParaRPr lang="en-US" sz="1100" dirty="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365D"/>
                    </a:solidFill>
                  </a:tcPr>
                </a:tc>
                <a:tc>
                  <a:txBody>
                    <a:bodyPr/>
                    <a:lstStyle/>
                    <a:p>
                      <a:pPr marL="0" marR="0">
                        <a:spcBef>
                          <a:spcPts val="0"/>
                        </a:spcBef>
                        <a:spcAft>
                          <a:spcPts val="0"/>
                        </a:spcAft>
                      </a:pPr>
                      <a:r>
                        <a:rPr lang="en-US" sz="1100" dirty="0" smtClean="0">
                          <a:solidFill>
                            <a:srgbClr val="FFFFFF"/>
                          </a:solidFill>
                          <a:latin typeface="Calibri"/>
                          <a:ea typeface="ＭＳ 明朝"/>
                          <a:cs typeface="Times New Roman"/>
                        </a:rPr>
                        <a:t>Created Date</a:t>
                      </a:r>
                      <a:endParaRPr lang="en-US" sz="1100" dirty="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365D"/>
                    </a:solidFill>
                  </a:tcPr>
                </a:tc>
                <a:tc>
                  <a:txBody>
                    <a:bodyPr/>
                    <a:lstStyle/>
                    <a:p>
                      <a:pPr marL="0" marR="0">
                        <a:spcBef>
                          <a:spcPts val="0"/>
                        </a:spcBef>
                        <a:spcAft>
                          <a:spcPts val="0"/>
                        </a:spcAft>
                      </a:pPr>
                      <a:r>
                        <a:rPr lang="en-US" sz="1100">
                          <a:solidFill>
                            <a:srgbClr val="FFFFFF"/>
                          </a:solidFill>
                          <a:latin typeface="Calibri"/>
                          <a:ea typeface="ＭＳ 明朝"/>
                          <a:cs typeface="Times New Roman"/>
                        </a:rPr>
                        <a:t>Reviewed By</a:t>
                      </a:r>
                      <a:endParaRPr lang="en-US" sz="110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365D"/>
                    </a:solidFill>
                  </a:tcPr>
                </a:tc>
                <a:tc>
                  <a:txBody>
                    <a:bodyPr/>
                    <a:lstStyle/>
                    <a:p>
                      <a:pPr marL="0" marR="0">
                        <a:spcBef>
                          <a:spcPts val="0"/>
                        </a:spcBef>
                        <a:spcAft>
                          <a:spcPts val="0"/>
                        </a:spcAft>
                      </a:pPr>
                      <a:r>
                        <a:rPr lang="en-US" sz="1100">
                          <a:solidFill>
                            <a:srgbClr val="FFFFFF"/>
                          </a:solidFill>
                          <a:latin typeface="Calibri"/>
                          <a:ea typeface="ＭＳ 明朝"/>
                          <a:cs typeface="Times New Roman"/>
                        </a:rPr>
                        <a:t>Reviewed  Date</a:t>
                      </a:r>
                      <a:endParaRPr lang="en-US" sz="110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365D"/>
                    </a:solidFill>
                  </a:tcPr>
                </a:tc>
                <a:tc>
                  <a:txBody>
                    <a:bodyPr/>
                    <a:lstStyle/>
                    <a:p>
                      <a:pPr marL="0" marR="0">
                        <a:spcBef>
                          <a:spcPts val="0"/>
                        </a:spcBef>
                        <a:spcAft>
                          <a:spcPts val="0"/>
                        </a:spcAft>
                      </a:pPr>
                      <a:r>
                        <a:rPr lang="en-US" sz="1100">
                          <a:solidFill>
                            <a:srgbClr val="FFFFFF"/>
                          </a:solidFill>
                          <a:latin typeface="Calibri"/>
                          <a:ea typeface="ＭＳ 明朝"/>
                          <a:cs typeface="Times New Roman"/>
                        </a:rPr>
                        <a:t>Approved By</a:t>
                      </a:r>
                      <a:endParaRPr lang="en-US" sz="110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365D"/>
                    </a:solidFill>
                  </a:tcPr>
                </a:tc>
                <a:tc>
                  <a:txBody>
                    <a:bodyPr/>
                    <a:lstStyle/>
                    <a:p>
                      <a:pPr marL="0" marR="0">
                        <a:spcBef>
                          <a:spcPts val="0"/>
                        </a:spcBef>
                        <a:spcAft>
                          <a:spcPts val="0"/>
                        </a:spcAft>
                      </a:pPr>
                      <a:r>
                        <a:rPr lang="en-US" sz="1100">
                          <a:solidFill>
                            <a:srgbClr val="FFFFFF"/>
                          </a:solidFill>
                          <a:latin typeface="Calibri"/>
                          <a:ea typeface="ＭＳ 明朝"/>
                          <a:cs typeface="Times New Roman"/>
                        </a:rPr>
                        <a:t>Approved Date</a:t>
                      </a:r>
                      <a:endParaRPr lang="en-US" sz="110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365D"/>
                    </a:solidFill>
                  </a:tcPr>
                </a:tc>
              </a:tr>
              <a:tr h="320040">
                <a:tc>
                  <a:txBody>
                    <a:bodyPr/>
                    <a:lstStyle/>
                    <a:p>
                      <a:pPr marL="0" marR="0">
                        <a:spcBef>
                          <a:spcPts val="0"/>
                        </a:spcBef>
                        <a:spcAft>
                          <a:spcPts val="0"/>
                        </a:spcAft>
                      </a:pPr>
                      <a:r>
                        <a:rPr lang="en-US" sz="1100" dirty="0" smtClean="0">
                          <a:latin typeface="Calibri"/>
                          <a:ea typeface="ＭＳ 明朝"/>
                          <a:cs typeface="Times New Roman"/>
                        </a:rPr>
                        <a:t>Mohandas</a:t>
                      </a:r>
                      <a:endParaRPr lang="en-US" sz="1100" dirty="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smtClean="0">
                          <a:latin typeface="Calibri"/>
                          <a:ea typeface="ＭＳ 明朝"/>
                          <a:cs typeface="Times New Roman"/>
                        </a:rPr>
                        <a:t>1-12-2017</a:t>
                      </a:r>
                      <a:endParaRPr lang="en-US" sz="1100" dirty="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smtClean="0">
                          <a:latin typeface="Calibri"/>
                          <a:ea typeface="ＭＳ 明朝"/>
                          <a:cs typeface="Times New Roman"/>
                        </a:rPr>
                        <a:t>Davis Sebastian</a:t>
                      </a:r>
                      <a:endParaRPr lang="en-US" sz="1100" dirty="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smtClean="0">
                          <a:latin typeface="Calibri"/>
                          <a:ea typeface="ＭＳ 明朝"/>
                          <a:cs typeface="Times New Roman"/>
                        </a:rPr>
                        <a:t>10-12-2017</a:t>
                      </a:r>
                      <a:endParaRPr lang="en-US" sz="1100" dirty="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smtClean="0">
                          <a:latin typeface="Calibri"/>
                          <a:ea typeface="ＭＳ 明朝"/>
                          <a:cs typeface="Times New Roman"/>
                        </a:rPr>
                        <a:t>Davis Sebastian</a:t>
                      </a:r>
                      <a:endParaRPr lang="en-US" sz="1100" dirty="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smtClean="0">
                          <a:latin typeface="Calibri"/>
                          <a:ea typeface="ＭＳ 明朝"/>
                          <a:cs typeface="Times New Roman"/>
                        </a:rPr>
                        <a:t>10-12-2017</a:t>
                      </a:r>
                      <a:endParaRPr lang="en-US" sz="1100" dirty="0">
                        <a:latin typeface="Calibri"/>
                        <a:ea typeface="ＭＳ 明朝"/>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xmlns="" val="3332817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The Customer</a:t>
            </a:r>
            <a:endParaRPr lang="en-US" dirty="0"/>
          </a:p>
        </p:txBody>
      </p:sp>
      <p:sp>
        <p:nvSpPr>
          <p:cNvPr id="3" name="Content Placeholder 2"/>
          <p:cNvSpPr>
            <a:spLocks noGrp="1"/>
          </p:cNvSpPr>
          <p:nvPr>
            <p:ph idx="1"/>
          </p:nvPr>
        </p:nvSpPr>
        <p:spPr/>
        <p:txBody>
          <a:bodyPr/>
          <a:lstStyle/>
          <a:p>
            <a:r>
              <a:rPr lang="en-US" dirty="0" smtClean="0"/>
              <a:t>Refer the comments attached to this slide</a:t>
            </a:r>
          </a:p>
          <a:p>
            <a:endParaRPr lang="en-US" dirty="0" smtClean="0"/>
          </a:p>
        </p:txBody>
      </p:sp>
      <p:sp>
        <p:nvSpPr>
          <p:cNvPr id="4" name="Footer Placeholder 3"/>
          <p:cNvSpPr>
            <a:spLocks noGrp="1"/>
          </p:cNvSpPr>
          <p:nvPr>
            <p:ph type="ftr" sz="quarter" idx="11"/>
          </p:nvPr>
        </p:nvSpPr>
        <p:spPr/>
        <p:txBody>
          <a:bodyPr/>
          <a:lstStyle/>
          <a:p>
            <a:r>
              <a:rPr lang="en-US" smtClean="0"/>
              <a:t>Indocosmo Systems Pvt. Ltd. All Rights Reserved</a:t>
            </a:r>
            <a:endParaRPr lang="en-US" dirty="0"/>
          </a:p>
        </p:txBody>
      </p:sp>
      <p:sp>
        <p:nvSpPr>
          <p:cNvPr id="5" name="Slide Number Placeholder 4"/>
          <p:cNvSpPr>
            <a:spLocks noGrp="1"/>
          </p:cNvSpPr>
          <p:nvPr>
            <p:ph type="sldNum" sz="quarter" idx="12"/>
          </p:nvPr>
        </p:nvSpPr>
        <p:spPr/>
        <p:txBody>
          <a:bodyPr/>
          <a:lstStyle/>
          <a:p>
            <a:fld id="{CA8D9AD5-F248-4919-864A-CFD76CC027D6}" type="slidenum">
              <a:rPr lang="en-US" smtClean="0"/>
              <a:pPr/>
              <a:t>3</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The Project</a:t>
            </a:r>
            <a:endParaRPr lang="en-US" dirty="0"/>
          </a:p>
        </p:txBody>
      </p:sp>
      <p:sp>
        <p:nvSpPr>
          <p:cNvPr id="3" name="Content Placeholder 2"/>
          <p:cNvSpPr>
            <a:spLocks noGrp="1"/>
          </p:cNvSpPr>
          <p:nvPr>
            <p:ph idx="1"/>
          </p:nvPr>
        </p:nvSpPr>
        <p:spPr>
          <a:xfrm>
            <a:off x="1341120" y="1752600"/>
            <a:ext cx="9509760" cy="4276979"/>
          </a:xfrm>
        </p:spPr>
        <p:txBody>
          <a:bodyPr>
            <a:normAutofit fontScale="92500" lnSpcReduction="10000"/>
          </a:bodyPr>
          <a:lstStyle/>
          <a:p>
            <a:r>
              <a:rPr lang="en-US" dirty="0" smtClean="0"/>
              <a:t>Now the C-Works CAD system has issues with processing the latest versions of AutoCAD drawing files.</a:t>
            </a:r>
          </a:p>
          <a:p>
            <a:r>
              <a:rPr lang="en-US" dirty="0" smtClean="0"/>
              <a:t>As a solution for the above issue we are going to develop a system which converts the standard AutoCAD file format to a neutral data exchange format (CXF format) .</a:t>
            </a:r>
            <a:endParaRPr lang="en-US" dirty="0"/>
          </a:p>
          <a:p>
            <a:r>
              <a:rPr lang="en-US" dirty="0" smtClean="0"/>
              <a:t>Custom format should contain all information about the objects in the AutoCAD drawing files in a simple text format.</a:t>
            </a:r>
          </a:p>
          <a:p>
            <a:r>
              <a:rPr lang="en-US" dirty="0" smtClean="0"/>
              <a:t>The neutral format will be processed by the C-Works CAD system to process the drawing files.</a:t>
            </a:r>
          </a:p>
          <a:p>
            <a:r>
              <a:rPr lang="en-US" dirty="0" smtClean="0"/>
              <a:t>Our proposed project interacts with the following software</a:t>
            </a:r>
          </a:p>
          <a:p>
            <a:pPr lvl="1"/>
            <a:r>
              <a:rPr lang="en-US" dirty="0" smtClean="0"/>
              <a:t>AutoCAD System</a:t>
            </a:r>
          </a:p>
          <a:p>
            <a:pPr lvl="1"/>
            <a:r>
              <a:rPr lang="en-US" dirty="0" smtClean="0"/>
              <a:t>C-</a:t>
            </a:r>
            <a:r>
              <a:rPr lang="en-US" dirty="0" err="1" smtClean="0"/>
              <a:t>WorksCAD</a:t>
            </a:r>
            <a:r>
              <a:rPr lang="en-US" dirty="0" smtClean="0"/>
              <a:t> System</a:t>
            </a:r>
          </a:p>
          <a:p>
            <a:r>
              <a:rPr lang="en-US" dirty="0" smtClean="0"/>
              <a:t>Reverse conversion from CXF format to drawing files also need to be considered.</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4</a:t>
            </a:fld>
            <a:endParaRPr lang="en-US" dirty="0"/>
          </a:p>
        </p:txBody>
      </p:sp>
      <p:sp>
        <p:nvSpPr>
          <p:cNvPr id="5" name="Footer Placeholder 4"/>
          <p:cNvSpPr>
            <a:spLocks noGrp="1"/>
          </p:cNvSpPr>
          <p:nvPr>
            <p:ph type="ftr" sz="quarter" idx="11"/>
          </p:nvPr>
        </p:nvSpPr>
        <p:spPr/>
        <p:txBody>
          <a:bodyPr/>
          <a:lstStyle/>
          <a:p>
            <a:r>
              <a:rPr lang="en-US" dirty="0" smtClean="0"/>
              <a:t>Indocosmo Systems Pvt. Ltd. All Rights Reserved</a:t>
            </a:r>
            <a:endParaRPr lang="en-US" dirty="0"/>
          </a:p>
        </p:txBody>
      </p:sp>
    </p:spTree>
    <p:extLst>
      <p:ext uri="{BB962C8B-B14F-4D97-AF65-F5344CB8AC3E}">
        <p14:creationId xmlns:p14="http://schemas.microsoft.com/office/powerpoint/2010/main" xmlns="" val="57663962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Overview</a:t>
            </a:r>
            <a:endParaRPr lang="en-US" dirty="0"/>
          </a:p>
        </p:txBody>
      </p:sp>
      <p:sp>
        <p:nvSpPr>
          <p:cNvPr id="3" name="Content Placeholder 2"/>
          <p:cNvSpPr>
            <a:spLocks noGrp="1"/>
          </p:cNvSpPr>
          <p:nvPr>
            <p:ph idx="1"/>
          </p:nvPr>
        </p:nvSpPr>
        <p:spPr/>
        <p:txBody>
          <a:bodyPr>
            <a:normAutofit/>
          </a:bodyPr>
          <a:lstStyle/>
          <a:p>
            <a:r>
              <a:rPr lang="en-US" dirty="0" smtClean="0"/>
              <a:t>Start Date			:  </a:t>
            </a:r>
            <a:r>
              <a:rPr lang="en-US" dirty="0" err="1" smtClean="0"/>
              <a:t>dd-mmm-yyyy</a:t>
            </a:r>
            <a:endParaRPr lang="en-US" dirty="0" smtClean="0"/>
          </a:p>
          <a:p>
            <a:r>
              <a:rPr lang="en-US" dirty="0" smtClean="0"/>
              <a:t>End Date			: </a:t>
            </a:r>
            <a:r>
              <a:rPr lang="en-US" dirty="0" err="1" smtClean="0"/>
              <a:t>dd-mmm-yyyy</a:t>
            </a:r>
            <a:endParaRPr lang="en-US" dirty="0" smtClean="0"/>
          </a:p>
          <a:p>
            <a:r>
              <a:rPr lang="en-US" dirty="0" smtClean="0"/>
              <a:t>Total Estimated Effort		:  </a:t>
            </a:r>
            <a:r>
              <a:rPr lang="en-US" dirty="0" err="1" smtClean="0"/>
              <a:t>nn</a:t>
            </a:r>
            <a:r>
              <a:rPr lang="en-US" dirty="0" smtClean="0"/>
              <a:t> man days</a:t>
            </a:r>
          </a:p>
          <a:p>
            <a:r>
              <a:rPr lang="en-US" dirty="0" smtClean="0"/>
              <a:t>PM				:  Name</a:t>
            </a:r>
          </a:p>
          <a:p>
            <a:r>
              <a:rPr lang="en-US" dirty="0" smtClean="0"/>
              <a:t>PL 				:  Name</a:t>
            </a:r>
          </a:p>
          <a:p>
            <a:r>
              <a:rPr lang="en-US" dirty="0" smtClean="0"/>
              <a:t>Customer Contact		:  Name</a:t>
            </a:r>
          </a:p>
          <a:p>
            <a:r>
              <a:rPr lang="en-US" dirty="0" smtClean="0"/>
              <a:t>QC Manager			:  Name</a:t>
            </a:r>
          </a:p>
        </p:txBody>
      </p:sp>
      <p:sp>
        <p:nvSpPr>
          <p:cNvPr id="4" name="Slide Number Placeholder 3"/>
          <p:cNvSpPr>
            <a:spLocks noGrp="1"/>
          </p:cNvSpPr>
          <p:nvPr>
            <p:ph type="sldNum" sz="quarter" idx="12"/>
          </p:nvPr>
        </p:nvSpPr>
        <p:spPr/>
        <p:txBody>
          <a:bodyPr/>
          <a:lstStyle/>
          <a:p>
            <a:fld id="{CA8D9AD5-F248-4919-864A-CFD76CC027D6}" type="slidenum">
              <a:rPr lang="en-US" smtClean="0"/>
              <a:pPr/>
              <a:t>5</a:t>
            </a:fld>
            <a:endParaRPr lang="en-US" dirty="0"/>
          </a:p>
        </p:txBody>
      </p:sp>
      <p:sp>
        <p:nvSpPr>
          <p:cNvPr id="5" name="Footer Placeholder 4"/>
          <p:cNvSpPr>
            <a:spLocks noGrp="1"/>
          </p:cNvSpPr>
          <p:nvPr>
            <p:ph type="ftr" sz="quarter" idx="11"/>
          </p:nvPr>
        </p:nvSpPr>
        <p:spPr/>
        <p:txBody>
          <a:bodyPr/>
          <a:lstStyle/>
          <a:p>
            <a:r>
              <a:rPr lang="en-US" dirty="0" smtClean="0"/>
              <a:t>Indocosmo Systems Pvt. Ltd. All Rights Reserved</a:t>
            </a:r>
            <a:endParaRPr lang="en-US" dirty="0"/>
          </a:p>
        </p:txBody>
      </p:sp>
    </p:spTree>
    <p:extLst>
      <p:ext uri="{BB962C8B-B14F-4D97-AF65-F5344CB8AC3E}">
        <p14:creationId xmlns:p14="http://schemas.microsoft.com/office/powerpoint/2010/main" xmlns="" val="57663962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Objectives</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6</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aphicFrame>
        <p:nvGraphicFramePr>
          <p:cNvPr id="7" name="Table 6"/>
          <p:cNvGraphicFramePr>
            <a:graphicFrameLocks noGrp="1"/>
          </p:cNvGraphicFramePr>
          <p:nvPr/>
        </p:nvGraphicFramePr>
        <p:xfrm>
          <a:off x="1371600" y="1828800"/>
          <a:ext cx="8128000" cy="4297680"/>
        </p:xfrm>
        <a:graphic>
          <a:graphicData uri="http://schemas.openxmlformats.org/drawingml/2006/table">
            <a:tbl>
              <a:tblPr bandRow="1">
                <a:tableStyleId>{793D81CF-94F2-401A-BA57-92F5A7B2D0C5}</a:tableStyleId>
              </a:tblPr>
              <a:tblGrid>
                <a:gridCol w="2667000"/>
                <a:gridCol w="5461000"/>
              </a:tblGrid>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b="1" dirty="0" smtClean="0"/>
                        <a:t>Customer Requirements</a:t>
                      </a:r>
                      <a:endParaRPr lang="en-US" b="1" dirty="0"/>
                    </a:p>
                  </a:txBody>
                  <a:tcPr/>
                </a:tc>
                <a:tc>
                  <a:txBody>
                    <a:bodyPr/>
                    <a:lstStyle/>
                    <a:p>
                      <a:r>
                        <a:rPr lang="en-US" dirty="0" smtClean="0"/>
                        <a:t>Developing a windows desktop</a:t>
                      </a:r>
                      <a:r>
                        <a:rPr lang="en-US" baseline="0" dirty="0" smtClean="0"/>
                        <a:t> application for processing drawing files and convert into a neutral text format for further processing in the </a:t>
                      </a:r>
                      <a:r>
                        <a:rPr lang="en-US" baseline="0" dirty="0" err="1" smtClean="0"/>
                        <a:t>CWorks</a:t>
                      </a:r>
                      <a:r>
                        <a:rPr lang="en-US" baseline="0" dirty="0" smtClean="0"/>
                        <a:t> CAD System. </a:t>
                      </a:r>
                      <a:endParaRPr lang="en-US" dirty="0"/>
                    </a:p>
                  </a:txBody>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b="1" dirty="0" smtClean="0"/>
                        <a:t>Technical objectives</a:t>
                      </a:r>
                    </a:p>
                  </a:txBody>
                  <a:tcPr/>
                </a:tc>
                <a:tc>
                  <a:txBody>
                    <a:bodyPr/>
                    <a:lstStyle/>
                    <a:p>
                      <a:r>
                        <a:rPr lang="en-US" dirty="0" smtClean="0"/>
                        <a:t>Achieve</a:t>
                      </a:r>
                      <a:r>
                        <a:rPr lang="en-US" baseline="0" dirty="0" smtClean="0"/>
                        <a:t> hands on experience in working with AutoCAD system related projects and open a new domain expertise.</a:t>
                      </a:r>
                      <a:endParaRPr lang="en-US" dirty="0"/>
                    </a:p>
                  </a:txBody>
                  <a:tcPr/>
                </a:tc>
              </a:tr>
              <a:tr h="370840">
                <a:tc>
                  <a:txBody>
                    <a:bodyPr/>
                    <a:lstStyle/>
                    <a:p>
                      <a:r>
                        <a:rPr lang="en-US" b="1" dirty="0" smtClean="0"/>
                        <a:t>Schedule objective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project has to be commissioned before 31-March-2018</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Cost objectives</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Maximum allocated manpower for this project is  10 man months.</a:t>
                      </a:r>
                    </a:p>
                  </a:txBody>
                  <a:tcPr/>
                </a:tc>
              </a:tr>
              <a:tr h="370840">
                <a:tc>
                  <a:txBody>
                    <a:bodyPr/>
                    <a:lstStyle/>
                    <a:p>
                      <a:r>
                        <a:rPr lang="en-US" b="1" dirty="0" smtClean="0"/>
                        <a:t>Special objectives</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We would make this project as a stepping stone to enter into the CAD related domain , which has tremendous opportunities in Japan market.</a:t>
                      </a:r>
                    </a:p>
                  </a:txBody>
                  <a:tcPr/>
                </a:tc>
              </a:tr>
            </a:tbl>
          </a:graphicData>
        </a:graphic>
      </p:graphicFrame>
    </p:spTree>
    <p:extLst>
      <p:ext uri="{BB962C8B-B14F-4D97-AF65-F5344CB8AC3E}">
        <p14:creationId xmlns:p14="http://schemas.microsoft.com/office/powerpoint/2010/main" xmlns="" val="37658659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Success Factors</a:t>
            </a:r>
          </a:p>
        </p:txBody>
      </p:sp>
      <p:sp>
        <p:nvSpPr>
          <p:cNvPr id="3" name="Content Placeholder 2"/>
          <p:cNvSpPr>
            <a:spLocks noGrp="1"/>
          </p:cNvSpPr>
          <p:nvPr>
            <p:ph idx="1"/>
          </p:nvPr>
        </p:nvSpPr>
        <p:spPr/>
        <p:txBody>
          <a:bodyPr/>
          <a:lstStyle/>
          <a:p>
            <a:r>
              <a:rPr lang="en-US" dirty="0" smtClean="0"/>
              <a:t>System should be able to work with latest versions of AutoCAD files.</a:t>
            </a:r>
            <a:endParaRPr lang="en-US" dirty="0"/>
          </a:p>
          <a:p>
            <a:r>
              <a:rPr lang="en-US" dirty="0" smtClean="0"/>
              <a:t>The basic structure of CAD files should not be lost after conversion.</a:t>
            </a:r>
            <a:endParaRPr lang="en-US" dirty="0"/>
          </a:p>
          <a:p>
            <a:r>
              <a:rPr lang="en-US" dirty="0" smtClean="0"/>
              <a:t>System should be completed &amp; installed before the next financial year (2018).</a:t>
            </a:r>
          </a:p>
          <a:p>
            <a:r>
              <a:rPr lang="en-US" dirty="0" smtClean="0"/>
              <a:t>Delivered </a:t>
            </a:r>
            <a:r>
              <a:rPr lang="en-US" dirty="0"/>
              <a:t>on </a:t>
            </a:r>
            <a:r>
              <a:rPr lang="en-US" dirty="0" smtClean="0"/>
              <a:t>time with expected quality.</a:t>
            </a:r>
          </a:p>
          <a:p>
            <a:r>
              <a:rPr lang="en-US" dirty="0" smtClean="0"/>
              <a:t>Passing the UAT at one go by satisfying all the Acceptance Criteria .</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7</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xmlns="" val="15111453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p>
        </p:txBody>
      </p:sp>
      <p:sp>
        <p:nvSpPr>
          <p:cNvPr id="3" name="Content Placeholder 2"/>
          <p:cNvSpPr>
            <a:spLocks noGrp="1"/>
          </p:cNvSpPr>
          <p:nvPr>
            <p:ph idx="1"/>
          </p:nvPr>
        </p:nvSpPr>
        <p:spPr/>
        <p:txBody>
          <a:bodyPr>
            <a:normAutofit/>
          </a:bodyPr>
          <a:lstStyle/>
          <a:p>
            <a:r>
              <a:rPr lang="en-US" dirty="0" smtClean="0"/>
              <a:t>Tasks/activities</a:t>
            </a:r>
          </a:p>
          <a:p>
            <a:pPr>
              <a:buNone/>
            </a:pPr>
            <a:r>
              <a:rPr lang="en-US" dirty="0" smtClean="0"/>
              <a:t>		</a:t>
            </a:r>
            <a:r>
              <a:rPr lang="en-US" sz="1900" dirty="0" smtClean="0"/>
              <a:t>Research on AutoCAD file processing API’s</a:t>
            </a:r>
          </a:p>
          <a:p>
            <a:pPr>
              <a:buNone/>
            </a:pPr>
            <a:r>
              <a:rPr lang="en-US" sz="1900" dirty="0" smtClean="0"/>
              <a:t>		Create the design documents for approval</a:t>
            </a:r>
          </a:p>
          <a:p>
            <a:pPr>
              <a:buNone/>
            </a:pPr>
            <a:r>
              <a:rPr lang="en-US" sz="1900" dirty="0" smtClean="0"/>
              <a:t>		Processing &amp; Testing simple 2D objects</a:t>
            </a:r>
          </a:p>
          <a:p>
            <a:pPr>
              <a:buNone/>
            </a:pPr>
            <a:r>
              <a:rPr lang="en-US" sz="1900" dirty="0" smtClean="0"/>
              <a:t>		Processing &amp; Testing complex 2D objects</a:t>
            </a:r>
          </a:p>
          <a:p>
            <a:pPr>
              <a:buNone/>
            </a:pPr>
            <a:r>
              <a:rPr lang="en-US" sz="1900" dirty="0" smtClean="0"/>
              <a:t>		Processing &amp; Testing 3D objects</a:t>
            </a:r>
          </a:p>
          <a:p>
            <a:pPr>
              <a:buNone/>
            </a:pPr>
            <a:r>
              <a:rPr lang="en-US" sz="1900" dirty="0" smtClean="0"/>
              <a:t>		Overall testing for different versions of AutoCAD drawings</a:t>
            </a:r>
          </a:p>
          <a:p>
            <a:pPr>
              <a:buNone/>
            </a:pPr>
            <a:r>
              <a:rPr lang="en-US" sz="1900" dirty="0" smtClean="0"/>
              <a:t>		Deployment &amp; Release of the CXF Conversion system</a:t>
            </a:r>
          </a:p>
        </p:txBody>
      </p:sp>
      <p:sp>
        <p:nvSpPr>
          <p:cNvPr id="4" name="Slide Number Placeholder 3"/>
          <p:cNvSpPr>
            <a:spLocks noGrp="1"/>
          </p:cNvSpPr>
          <p:nvPr>
            <p:ph type="sldNum" sz="quarter" idx="12"/>
          </p:nvPr>
        </p:nvSpPr>
        <p:spPr/>
        <p:txBody>
          <a:bodyPr/>
          <a:lstStyle/>
          <a:p>
            <a:fld id="{CA8D9AD5-F248-4919-864A-CFD76CC027D6}" type="slidenum">
              <a:rPr lang="en-US" smtClean="0"/>
              <a:pPr/>
              <a:t>8</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xmlns="" val="36767937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p>
        </p:txBody>
      </p:sp>
      <p:sp>
        <p:nvSpPr>
          <p:cNvPr id="3" name="Content Placeholder 2"/>
          <p:cNvSpPr>
            <a:spLocks noGrp="1"/>
          </p:cNvSpPr>
          <p:nvPr>
            <p:ph idx="1"/>
          </p:nvPr>
        </p:nvSpPr>
        <p:spPr/>
        <p:txBody>
          <a:bodyPr>
            <a:normAutofit/>
          </a:bodyPr>
          <a:lstStyle/>
          <a:p>
            <a:r>
              <a:rPr lang="en-US" dirty="0" smtClean="0"/>
              <a:t>Procedures 		</a:t>
            </a:r>
          </a:p>
          <a:p>
            <a:pPr>
              <a:buNone/>
            </a:pPr>
            <a:r>
              <a:rPr lang="en-US" dirty="0" smtClean="0"/>
              <a:t>	       Research on the CAD file structure &amp; Open Design Alliance utilities.</a:t>
            </a:r>
          </a:p>
          <a:p>
            <a:pPr>
              <a:buNone/>
            </a:pPr>
            <a:r>
              <a:rPr lang="en-US" dirty="0" smtClean="0"/>
              <a:t>	       Preparation of the project documents based on the research.</a:t>
            </a:r>
          </a:p>
          <a:p>
            <a:pPr>
              <a:buNone/>
            </a:pPr>
            <a:r>
              <a:rPr lang="en-US" dirty="0" smtClean="0"/>
              <a:t>	      Communication with C-Works for final approval based on the project documents.</a:t>
            </a:r>
          </a:p>
          <a:p>
            <a:pPr>
              <a:buNone/>
            </a:pPr>
            <a:r>
              <a:rPr lang="en-US" dirty="0" smtClean="0"/>
              <a:t>	      Development of the CXF Conversion system.</a:t>
            </a:r>
          </a:p>
          <a:p>
            <a:pPr>
              <a:buNone/>
            </a:pPr>
            <a:r>
              <a:rPr lang="en-US" dirty="0" smtClean="0"/>
              <a:t>	      Execute functionality testing using different versions of AutoCAD files.</a:t>
            </a:r>
          </a:p>
          <a:p>
            <a:pPr>
              <a:buNone/>
            </a:pPr>
            <a:r>
              <a:rPr lang="en-US" dirty="0" smtClean="0"/>
              <a:t>	      Perform final verification in C-works environment.</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9</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xmlns="" val="36767937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Schedule and Milestones</a:t>
            </a:r>
          </a:p>
        </p:txBody>
      </p:sp>
      <p:sp>
        <p:nvSpPr>
          <p:cNvPr id="5" name="Slide Number Placeholder 4"/>
          <p:cNvSpPr>
            <a:spLocks noGrp="1"/>
          </p:cNvSpPr>
          <p:nvPr>
            <p:ph type="sldNum" sz="quarter" idx="12"/>
          </p:nvPr>
        </p:nvSpPr>
        <p:spPr/>
        <p:txBody>
          <a:bodyPr/>
          <a:lstStyle/>
          <a:p>
            <a:fld id="{CA8D9AD5-F248-4919-864A-CFD76CC027D6}" type="slidenum">
              <a:rPr lang="en-US" smtClean="0"/>
              <a:pPr/>
              <a:t>10</a:t>
            </a:fld>
            <a:endParaRPr lang="en-US" dirty="0"/>
          </a:p>
        </p:txBody>
      </p:sp>
      <p:sp>
        <p:nvSpPr>
          <p:cNvPr id="6" name="Footer Placeholder 5"/>
          <p:cNvSpPr>
            <a:spLocks noGrp="1"/>
          </p:cNvSpPr>
          <p:nvPr>
            <p:ph type="ftr" sz="quarter" idx="11"/>
          </p:nvPr>
        </p:nvSpPr>
        <p:spPr/>
        <p:txBody>
          <a:bodyPr/>
          <a:lstStyle/>
          <a:p>
            <a:r>
              <a:rPr lang="en-US" smtClean="0"/>
              <a:t>Indocosmo Systems Pvt. Ltd. All Rights Reserved</a:t>
            </a:r>
            <a:endParaRPr lang="en-US" dirty="0"/>
          </a:p>
        </p:txBody>
      </p:sp>
      <p:sp>
        <p:nvSpPr>
          <p:cNvPr id="7" name="Content Placeholder 6"/>
          <p:cNvSpPr>
            <a:spLocks noGrp="1"/>
          </p:cNvSpPr>
          <p:nvPr>
            <p:ph idx="1"/>
          </p:nvPr>
        </p:nvSpPr>
        <p:spPr/>
        <p:txBody>
          <a:bodyPr/>
          <a:lstStyle/>
          <a:p>
            <a:pPr>
              <a:buNone/>
            </a:pPr>
            <a:endParaRPr lang="en-US" dirty="0"/>
          </a:p>
        </p:txBody>
      </p:sp>
      <p:graphicFrame>
        <p:nvGraphicFramePr>
          <p:cNvPr id="8" name="Table 7"/>
          <p:cNvGraphicFramePr>
            <a:graphicFrameLocks noGrp="1"/>
          </p:cNvGraphicFramePr>
          <p:nvPr/>
        </p:nvGraphicFramePr>
        <p:xfrm>
          <a:off x="1447800" y="1905000"/>
          <a:ext cx="9448800" cy="3327400"/>
        </p:xfrm>
        <a:graphic>
          <a:graphicData uri="http://schemas.openxmlformats.org/drawingml/2006/table">
            <a:tbl>
              <a:tblPr firstRow="1" bandRow="1">
                <a:tableStyleId>{793D81CF-94F2-401A-BA57-92F5A7B2D0C5}</a:tableStyleId>
              </a:tblPr>
              <a:tblGrid>
                <a:gridCol w="3149600"/>
                <a:gridCol w="3149600"/>
                <a:gridCol w="3149600"/>
              </a:tblGrid>
              <a:tr h="370840">
                <a:tc>
                  <a:txBody>
                    <a:bodyPr/>
                    <a:lstStyle/>
                    <a:p>
                      <a:r>
                        <a:rPr lang="en-US" sz="1800" b="0" i="0" kern="1200" dirty="0" smtClean="0">
                          <a:solidFill>
                            <a:schemeClr val="lt1"/>
                          </a:solidFill>
                          <a:latin typeface="+mn-lt"/>
                          <a:ea typeface="+mn-ea"/>
                          <a:cs typeface="+mn-cs"/>
                        </a:rPr>
                        <a:t>Project Milestones</a:t>
                      </a:r>
                      <a:endParaRPr lang="en-US" dirty="0"/>
                    </a:p>
                  </a:txBody>
                  <a:tcPr/>
                </a:tc>
                <a:tc>
                  <a:txBody>
                    <a:bodyPr/>
                    <a:lstStyle/>
                    <a:p>
                      <a:r>
                        <a:rPr lang="en-US" sz="1800" b="0" i="0" kern="1200" dirty="0" smtClean="0">
                          <a:solidFill>
                            <a:schemeClr val="lt1"/>
                          </a:solidFill>
                          <a:latin typeface="+mn-lt"/>
                          <a:ea typeface="+mn-ea"/>
                          <a:cs typeface="+mn-cs"/>
                        </a:rPr>
                        <a:t>Deliverables</a:t>
                      </a:r>
                      <a:endParaRPr lang="en-US" dirty="0"/>
                    </a:p>
                  </a:txBody>
                  <a:tcPr/>
                </a:tc>
                <a:tc>
                  <a:txBody>
                    <a:bodyPr/>
                    <a:lstStyle/>
                    <a:p>
                      <a:r>
                        <a:rPr lang="en-US" sz="1800" b="0" i="0" kern="1200" dirty="0" smtClean="0">
                          <a:solidFill>
                            <a:schemeClr val="lt1"/>
                          </a:solidFill>
                          <a:latin typeface="+mn-lt"/>
                          <a:ea typeface="+mn-ea"/>
                          <a:cs typeface="+mn-cs"/>
                        </a:rPr>
                        <a:t>Schedule</a:t>
                      </a:r>
                      <a:endParaRPr lang="en-US" dirty="0"/>
                    </a:p>
                  </a:txBody>
                  <a:tcPr/>
                </a:tc>
              </a:tr>
              <a:tr h="370840">
                <a:tc>
                  <a:txBody>
                    <a:bodyPr/>
                    <a:lstStyle/>
                    <a:p>
                      <a:r>
                        <a:rPr lang="en-US" sz="1700" dirty="0" smtClean="0"/>
                        <a:t>Decide the </a:t>
                      </a:r>
                      <a:r>
                        <a:rPr lang="en-US" sz="1700" baseline="0" dirty="0" smtClean="0"/>
                        <a:t>SDK suitable for processing the AutoCAD files.</a:t>
                      </a:r>
                      <a:endParaRPr lang="en-US" sz="1700" dirty="0"/>
                    </a:p>
                  </a:txBody>
                  <a:tcPr/>
                </a:tc>
                <a:tc>
                  <a:txBody>
                    <a:bodyPr/>
                    <a:lstStyle/>
                    <a:p>
                      <a:r>
                        <a:rPr lang="en-US" sz="1700" dirty="0" smtClean="0"/>
                        <a:t>Inform the </a:t>
                      </a:r>
                      <a:r>
                        <a:rPr lang="en-US" sz="1700" baseline="0" dirty="0" smtClean="0"/>
                        <a:t> finding to the customer and get their consent.</a:t>
                      </a:r>
                      <a:endParaRPr lang="en-US" sz="1700" dirty="0"/>
                    </a:p>
                  </a:txBody>
                  <a:tcPr/>
                </a:tc>
                <a:tc>
                  <a:txBody>
                    <a:bodyPr/>
                    <a:lstStyle/>
                    <a:p>
                      <a:r>
                        <a:rPr lang="en-US" sz="1700" dirty="0" smtClean="0"/>
                        <a:t>27-10-2017</a:t>
                      </a:r>
                      <a:endParaRPr lang="en-US" sz="1700" dirty="0"/>
                    </a:p>
                  </a:txBody>
                  <a:tcPr/>
                </a:tc>
              </a:tr>
              <a:tr h="370840">
                <a:tc>
                  <a:txBody>
                    <a:bodyPr/>
                    <a:lstStyle/>
                    <a:p>
                      <a:r>
                        <a:rPr lang="en-US" sz="1700" dirty="0" smtClean="0"/>
                        <a:t>Create the system prototype for client approval.</a:t>
                      </a:r>
                      <a:endParaRPr lang="en-US" sz="1700" dirty="0"/>
                    </a:p>
                  </a:txBody>
                  <a:tcPr/>
                </a:tc>
                <a:tc>
                  <a:txBody>
                    <a:bodyPr/>
                    <a:lstStyle/>
                    <a:p>
                      <a:r>
                        <a:rPr lang="en-US" sz="1700" dirty="0" smtClean="0"/>
                        <a:t>System Prototype</a:t>
                      </a:r>
                      <a:endParaRPr lang="en-US" sz="1700" dirty="0"/>
                    </a:p>
                  </a:txBody>
                  <a:tcPr/>
                </a:tc>
                <a:tc>
                  <a:txBody>
                    <a:bodyPr/>
                    <a:lstStyle/>
                    <a:p>
                      <a:r>
                        <a:rPr lang="en-US" sz="1700" dirty="0" smtClean="0"/>
                        <a:t>03-11-2017</a:t>
                      </a:r>
                      <a:endParaRPr lang="en-US" sz="1700" dirty="0"/>
                    </a:p>
                  </a:txBody>
                  <a:tcPr/>
                </a:tc>
              </a:tr>
              <a:tr h="370840">
                <a:tc>
                  <a:txBody>
                    <a:bodyPr/>
                    <a:lstStyle/>
                    <a:p>
                      <a:r>
                        <a:rPr lang="en-US" sz="1700" dirty="0" smtClean="0"/>
                        <a:t>Design the documents for software development and implementation.</a:t>
                      </a:r>
                      <a:endParaRPr lang="en-US" sz="1700" dirty="0"/>
                    </a:p>
                  </a:txBody>
                  <a:tcPr/>
                </a:tc>
                <a:tc>
                  <a:txBody>
                    <a:bodyPr/>
                    <a:lstStyle/>
                    <a:p>
                      <a:r>
                        <a:rPr lang="en-US" sz="1700" dirty="0" smtClean="0"/>
                        <a:t>System specification &amp; design </a:t>
                      </a:r>
                      <a:r>
                        <a:rPr lang="en-US" sz="1700" baseline="0" dirty="0" smtClean="0"/>
                        <a:t>documents</a:t>
                      </a:r>
                      <a:endParaRPr lang="en-US" sz="1700" dirty="0"/>
                    </a:p>
                  </a:txBody>
                  <a:tcPr/>
                </a:tc>
                <a:tc>
                  <a:txBody>
                    <a:bodyPr/>
                    <a:lstStyle/>
                    <a:p>
                      <a:r>
                        <a:rPr lang="en-US" sz="1700" dirty="0" smtClean="0"/>
                        <a:t>15-11-2017</a:t>
                      </a:r>
                      <a:endParaRPr lang="en-US" sz="1700" dirty="0"/>
                    </a:p>
                  </a:txBody>
                  <a:tcPr/>
                </a:tc>
              </a:tr>
              <a:tr h="370840">
                <a:tc>
                  <a:txBody>
                    <a:bodyPr/>
                    <a:lstStyle/>
                    <a:p>
                      <a:r>
                        <a:rPr lang="en-US" sz="1700" baseline="0" dirty="0" smtClean="0"/>
                        <a:t>Develop the system to convert objects in AutoCAD drawing files to neutral CXF format.</a:t>
                      </a:r>
                      <a:endParaRPr lang="en-US" sz="1700" dirty="0"/>
                    </a:p>
                  </a:txBody>
                  <a:tcPr/>
                </a:tc>
                <a:tc>
                  <a:txBody>
                    <a:bodyPr/>
                    <a:lstStyle/>
                    <a:p>
                      <a:r>
                        <a:rPr lang="en-US" sz="1700" dirty="0" smtClean="0"/>
                        <a:t>Interim</a:t>
                      </a:r>
                      <a:r>
                        <a:rPr lang="en-US" sz="1700" baseline="0" dirty="0" smtClean="0"/>
                        <a:t>  progress releases.</a:t>
                      </a:r>
                      <a:endParaRPr lang="en-US" sz="17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700" dirty="0" smtClean="0"/>
                        <a:t>20-12-2018</a:t>
                      </a:r>
                    </a:p>
                  </a:txBody>
                  <a:tcPr/>
                </a:tc>
              </a:tr>
            </a:tbl>
          </a:graphicData>
        </a:graphic>
      </p:graphicFrame>
    </p:spTree>
    <p:extLst>
      <p:ext uri="{BB962C8B-B14F-4D97-AF65-F5344CB8AC3E}">
        <p14:creationId xmlns:p14="http://schemas.microsoft.com/office/powerpoint/2010/main" xmlns="" val="4147762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Schedule and Milestones</a:t>
            </a:r>
          </a:p>
        </p:txBody>
      </p:sp>
      <p:sp>
        <p:nvSpPr>
          <p:cNvPr id="5" name="Slide Number Placeholder 4"/>
          <p:cNvSpPr>
            <a:spLocks noGrp="1"/>
          </p:cNvSpPr>
          <p:nvPr>
            <p:ph type="sldNum" sz="quarter" idx="12"/>
          </p:nvPr>
        </p:nvSpPr>
        <p:spPr/>
        <p:txBody>
          <a:bodyPr/>
          <a:lstStyle/>
          <a:p>
            <a:fld id="{CA8D9AD5-F248-4919-864A-CFD76CC027D6}" type="slidenum">
              <a:rPr lang="en-US" smtClean="0"/>
              <a:pPr/>
              <a:t>11</a:t>
            </a:fld>
            <a:endParaRPr lang="en-US" dirty="0"/>
          </a:p>
        </p:txBody>
      </p:sp>
      <p:sp>
        <p:nvSpPr>
          <p:cNvPr id="6" name="Footer Placeholder 5"/>
          <p:cNvSpPr>
            <a:spLocks noGrp="1"/>
          </p:cNvSpPr>
          <p:nvPr>
            <p:ph type="ftr" sz="quarter" idx="11"/>
          </p:nvPr>
        </p:nvSpPr>
        <p:spPr/>
        <p:txBody>
          <a:bodyPr/>
          <a:lstStyle/>
          <a:p>
            <a:r>
              <a:rPr lang="en-US" smtClean="0"/>
              <a:t>Indocosmo Systems Pvt. Ltd. All Rights Reserved</a:t>
            </a:r>
            <a:endParaRPr lang="en-US" dirty="0"/>
          </a:p>
        </p:txBody>
      </p:sp>
      <p:sp>
        <p:nvSpPr>
          <p:cNvPr id="7" name="Content Placeholder 6"/>
          <p:cNvSpPr>
            <a:spLocks noGrp="1"/>
          </p:cNvSpPr>
          <p:nvPr>
            <p:ph idx="1"/>
          </p:nvPr>
        </p:nvSpPr>
        <p:spPr/>
        <p:txBody>
          <a:bodyPr/>
          <a:lstStyle/>
          <a:p>
            <a:pPr>
              <a:buNone/>
            </a:pPr>
            <a:endParaRPr lang="en-US" dirty="0"/>
          </a:p>
        </p:txBody>
      </p:sp>
      <p:graphicFrame>
        <p:nvGraphicFramePr>
          <p:cNvPr id="8" name="Table 7"/>
          <p:cNvGraphicFramePr>
            <a:graphicFrameLocks noGrp="1"/>
          </p:cNvGraphicFramePr>
          <p:nvPr/>
        </p:nvGraphicFramePr>
        <p:xfrm>
          <a:off x="1447800" y="1905000"/>
          <a:ext cx="9372600" cy="4114800"/>
        </p:xfrm>
        <a:graphic>
          <a:graphicData uri="http://schemas.openxmlformats.org/drawingml/2006/table">
            <a:tbl>
              <a:tblPr firstRow="1" bandRow="1">
                <a:tableStyleId>{793D81CF-94F2-401A-BA57-92F5A7B2D0C5}</a:tableStyleId>
              </a:tblPr>
              <a:tblGrid>
                <a:gridCol w="3124200"/>
                <a:gridCol w="3124200"/>
                <a:gridCol w="3124200"/>
              </a:tblGrid>
              <a:tr h="792289">
                <a:tc>
                  <a:txBody>
                    <a:bodyPr/>
                    <a:lstStyle/>
                    <a:p>
                      <a:r>
                        <a:rPr lang="en-US" sz="1800" b="0" i="0" kern="1200" dirty="0" smtClean="0">
                          <a:solidFill>
                            <a:schemeClr val="lt1"/>
                          </a:solidFill>
                          <a:latin typeface="+mn-lt"/>
                          <a:ea typeface="+mn-ea"/>
                          <a:cs typeface="+mn-cs"/>
                        </a:rPr>
                        <a:t>Project Milestones</a:t>
                      </a:r>
                      <a:endParaRPr lang="en-US" dirty="0"/>
                    </a:p>
                  </a:txBody>
                  <a:tcPr/>
                </a:tc>
                <a:tc>
                  <a:txBody>
                    <a:bodyPr/>
                    <a:lstStyle/>
                    <a:p>
                      <a:r>
                        <a:rPr lang="en-US" sz="1800" b="0" i="0" kern="1200" dirty="0" smtClean="0">
                          <a:solidFill>
                            <a:schemeClr val="lt1"/>
                          </a:solidFill>
                          <a:latin typeface="+mn-lt"/>
                          <a:ea typeface="+mn-ea"/>
                          <a:cs typeface="+mn-cs"/>
                        </a:rPr>
                        <a:t>Deliverables</a:t>
                      </a:r>
                      <a:endParaRPr lang="en-US" dirty="0"/>
                    </a:p>
                  </a:txBody>
                  <a:tcPr/>
                </a:tc>
                <a:tc>
                  <a:txBody>
                    <a:bodyPr/>
                    <a:lstStyle/>
                    <a:p>
                      <a:r>
                        <a:rPr lang="en-US" sz="1800" b="0" i="0" kern="1200" dirty="0" smtClean="0">
                          <a:solidFill>
                            <a:schemeClr val="lt1"/>
                          </a:solidFill>
                          <a:latin typeface="+mn-lt"/>
                          <a:ea typeface="+mn-ea"/>
                          <a:cs typeface="+mn-cs"/>
                        </a:rPr>
                        <a:t>Schedule</a:t>
                      </a:r>
                      <a:endParaRPr lang="en-US" dirty="0"/>
                    </a:p>
                  </a:txBody>
                  <a:tcPr/>
                </a:tc>
              </a:tr>
              <a:tr h="1227828">
                <a:tc>
                  <a:txBody>
                    <a:bodyPr/>
                    <a:lstStyle/>
                    <a:p>
                      <a:r>
                        <a:rPr lang="en-US" sz="1700" baseline="0" dirty="0" smtClean="0"/>
                        <a:t>Develop the system  to convert neutral CXF format to AutoCAD drawing files.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700" dirty="0" smtClean="0"/>
                        <a:t>Interim</a:t>
                      </a:r>
                      <a:r>
                        <a:rPr lang="en-US" sz="1700" baseline="0" dirty="0" smtClean="0"/>
                        <a:t>  progress releases.</a:t>
                      </a:r>
                      <a:endParaRPr lang="en-US" sz="1700" dirty="0" smtClean="0"/>
                    </a:p>
                    <a:p>
                      <a:endParaRPr lang="en-US" sz="17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700" dirty="0" smtClean="0"/>
                        <a:t>01-02-2018</a:t>
                      </a:r>
                    </a:p>
                  </a:txBody>
                  <a:tcPr/>
                </a:tc>
              </a:tr>
              <a:tr h="130239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700" baseline="0" dirty="0" smtClean="0"/>
                        <a:t>Finish testing and fixing the issues found</a:t>
                      </a:r>
                      <a:endParaRPr lang="en-US" sz="1700" dirty="0" smtClean="0"/>
                    </a:p>
                  </a:txBody>
                  <a:tcPr/>
                </a:tc>
                <a:tc>
                  <a:txBody>
                    <a:bodyPr/>
                    <a:lstStyle/>
                    <a:p>
                      <a:r>
                        <a:rPr lang="en-US" sz="1700" dirty="0" smtClean="0"/>
                        <a:t>Deliver the system for UAT</a:t>
                      </a:r>
                      <a:endParaRPr lang="en-US" sz="1700" dirty="0"/>
                    </a:p>
                  </a:txBody>
                  <a:tcPr/>
                </a:tc>
                <a:tc>
                  <a:txBody>
                    <a:bodyPr/>
                    <a:lstStyle/>
                    <a:p>
                      <a:r>
                        <a:rPr lang="en-US" sz="1700" dirty="0" smtClean="0"/>
                        <a:t>15-02-2018</a:t>
                      </a:r>
                      <a:endParaRPr lang="en-US" sz="1700" dirty="0"/>
                    </a:p>
                  </a:txBody>
                  <a:tcPr/>
                </a:tc>
              </a:tr>
              <a:tr h="792289">
                <a:tc>
                  <a:txBody>
                    <a:bodyPr/>
                    <a:lstStyle/>
                    <a:p>
                      <a:r>
                        <a:rPr lang="en-US" sz="1700" dirty="0" smtClean="0"/>
                        <a:t>Finish UAT and sign off.</a:t>
                      </a:r>
                      <a:endParaRPr lang="en-US" sz="1700" dirty="0"/>
                    </a:p>
                  </a:txBody>
                  <a:tcPr/>
                </a:tc>
                <a:tc>
                  <a:txBody>
                    <a:bodyPr/>
                    <a:lstStyle/>
                    <a:p>
                      <a:endParaRPr lang="en-US" sz="1700" dirty="0"/>
                    </a:p>
                  </a:txBody>
                  <a:tcPr/>
                </a:tc>
                <a:tc>
                  <a:txBody>
                    <a:bodyPr/>
                    <a:lstStyle/>
                    <a:p>
                      <a:r>
                        <a:rPr lang="en-US" sz="1700" dirty="0" smtClean="0"/>
                        <a:t>28-02-2018</a:t>
                      </a:r>
                      <a:endParaRPr lang="en-US" sz="1700" dirty="0"/>
                    </a:p>
                  </a:txBody>
                  <a:tcPr/>
                </a:tc>
              </a:tr>
            </a:tbl>
          </a:graphicData>
        </a:graphic>
      </p:graphicFrame>
    </p:spTree>
    <p:extLst>
      <p:ext uri="{BB962C8B-B14F-4D97-AF65-F5344CB8AC3E}">
        <p14:creationId xmlns:p14="http://schemas.microsoft.com/office/powerpoint/2010/main" xmlns="" val="4147762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graphicFrame>
        <p:nvGraphicFramePr>
          <p:cNvPr id="6" name="Content Placeholder 5" descr="Organization chart showing one Project Manager box at the top, one Administrative Assistant box on the second level below the first and four Member Role boxes on the third bottom level"/>
          <p:cNvGraphicFramePr>
            <a:graphicFrameLocks noGrp="1"/>
          </p:cNvGraphicFramePr>
          <p:nvPr>
            <p:ph idx="1"/>
            <p:extLst>
              <p:ext uri="{D42A27DB-BD31-4B8C-83A1-F6EECF244321}">
                <p14:modId xmlns:p14="http://schemas.microsoft.com/office/powerpoint/2010/main" xmlns="" val="505611118"/>
              </p:ext>
            </p:extLst>
          </p:nvPr>
        </p:nvGraphicFramePr>
        <p:xfrm>
          <a:off x="1341438" y="1901825"/>
          <a:ext cx="9509125" cy="4127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CA8D9AD5-F248-4919-864A-CFD76CC027D6}" type="slidenum">
              <a:rPr lang="en-US" smtClean="0"/>
              <a:pPr/>
              <a:t>12</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
        <p:nvSpPr>
          <p:cNvPr id="7" name="Rectangle 6"/>
          <p:cNvSpPr/>
          <p:nvPr/>
        </p:nvSpPr>
        <p:spPr>
          <a:xfrm>
            <a:off x="1295400" y="2057400"/>
            <a:ext cx="26670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solidFill>
                  <a:srgbClr val="000000"/>
                </a:solidFill>
              </a:rPr>
              <a:t>Development</a:t>
            </a:r>
            <a:endParaRPr lang="en-US" sz="2400" dirty="0">
              <a:solidFill>
                <a:srgbClr val="000000"/>
              </a:solidFill>
            </a:endParaRPr>
          </a:p>
        </p:txBody>
      </p:sp>
    </p:spTree>
    <p:extLst>
      <p:ext uri="{BB962C8B-B14F-4D97-AF65-F5344CB8AC3E}">
        <p14:creationId xmlns:p14="http://schemas.microsoft.com/office/powerpoint/2010/main" xmlns="" val="55931543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graphicFrame>
        <p:nvGraphicFramePr>
          <p:cNvPr id="6" name="Content Placeholder 5" descr="Organization chart showing one Project Manager box at the top, one Administrative Assistant box on the second level below the first and four Member Role boxes on the third bottom level"/>
          <p:cNvGraphicFramePr>
            <a:graphicFrameLocks noGrp="1"/>
          </p:cNvGraphicFramePr>
          <p:nvPr>
            <p:ph idx="1"/>
            <p:extLst>
              <p:ext uri="{D42A27DB-BD31-4B8C-83A1-F6EECF244321}">
                <p14:modId xmlns:p14="http://schemas.microsoft.com/office/powerpoint/2010/main" xmlns="" val="505611118"/>
              </p:ext>
            </p:extLst>
          </p:nvPr>
        </p:nvGraphicFramePr>
        <p:xfrm>
          <a:off x="1341438" y="1901825"/>
          <a:ext cx="9509125" cy="4127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CA8D9AD5-F248-4919-864A-CFD76CC027D6}" type="slidenum">
              <a:rPr lang="en-US" smtClean="0"/>
              <a:pPr/>
              <a:t>13</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
        <p:nvSpPr>
          <p:cNvPr id="7" name="Rectangle 6"/>
          <p:cNvSpPr/>
          <p:nvPr/>
        </p:nvSpPr>
        <p:spPr>
          <a:xfrm>
            <a:off x="1524000" y="2057400"/>
            <a:ext cx="26670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solidFill>
                  <a:srgbClr val="000000"/>
                </a:solidFill>
              </a:rPr>
              <a:t>QC</a:t>
            </a:r>
            <a:endParaRPr lang="en-US" sz="2400" dirty="0">
              <a:solidFill>
                <a:srgbClr val="000000"/>
              </a:solidFill>
            </a:endParaRPr>
          </a:p>
        </p:txBody>
      </p:sp>
    </p:spTree>
    <p:extLst>
      <p:ext uri="{BB962C8B-B14F-4D97-AF65-F5344CB8AC3E}">
        <p14:creationId xmlns:p14="http://schemas.microsoft.com/office/powerpoint/2010/main" xmlns="" val="55931543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sp>
        <p:nvSpPr>
          <p:cNvPr id="4" name="Slide Number Placeholder 3"/>
          <p:cNvSpPr>
            <a:spLocks noGrp="1"/>
          </p:cNvSpPr>
          <p:nvPr>
            <p:ph type="sldNum" sz="quarter" idx="12"/>
          </p:nvPr>
        </p:nvSpPr>
        <p:spPr/>
        <p:txBody>
          <a:bodyPr/>
          <a:lstStyle/>
          <a:p>
            <a:fld id="{CA8D9AD5-F248-4919-864A-CFD76CC027D6}" type="slidenum">
              <a:rPr lang="en-US" smtClean="0"/>
              <a:pPr/>
              <a:t>14</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aphicFrame>
        <p:nvGraphicFramePr>
          <p:cNvPr id="9" name="Table 8"/>
          <p:cNvGraphicFramePr>
            <a:graphicFrameLocks noGrp="1"/>
          </p:cNvGraphicFramePr>
          <p:nvPr/>
        </p:nvGraphicFramePr>
        <p:xfrm>
          <a:off x="1447800" y="1905000"/>
          <a:ext cx="8128000" cy="4211320"/>
        </p:xfrm>
        <a:graphic>
          <a:graphicData uri="http://schemas.openxmlformats.org/drawingml/2006/table">
            <a:tbl>
              <a:tblPr firstRow="1" bandRow="1">
                <a:tableStyleId>{793D81CF-94F2-401A-BA57-92F5A7B2D0C5}</a:tableStyleId>
              </a:tblPr>
              <a:tblGrid>
                <a:gridCol w="4064000"/>
                <a:gridCol w="4064000"/>
              </a:tblGrid>
              <a:tr h="370840">
                <a:tc>
                  <a:txBody>
                    <a:bodyPr/>
                    <a:lstStyle/>
                    <a:p>
                      <a:r>
                        <a:rPr lang="en-US" dirty="0" smtClean="0"/>
                        <a:t>Roles</a:t>
                      </a:r>
                      <a:endParaRPr lang="en-US" dirty="0"/>
                    </a:p>
                  </a:txBody>
                  <a:tcPr/>
                </a:tc>
                <a:tc>
                  <a:txBody>
                    <a:bodyPr/>
                    <a:lstStyle/>
                    <a:p>
                      <a:r>
                        <a:rPr lang="en-US" dirty="0" smtClean="0"/>
                        <a:t>Responsibilities</a:t>
                      </a:r>
                      <a:endParaRPr lang="en-US" dirty="0"/>
                    </a:p>
                  </a:txBody>
                  <a:tcPr/>
                </a:tc>
              </a:tr>
              <a:tr h="370840">
                <a:tc>
                  <a:txBody>
                    <a:bodyPr/>
                    <a:lstStyle/>
                    <a:p>
                      <a:r>
                        <a:rPr lang="en-US" dirty="0" smtClean="0"/>
                        <a:t>Project Manager</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Planning and Defining Scope.</a:t>
                      </a:r>
                    </a:p>
                    <a:p>
                      <a:pPr marL="342900" indent="-342900">
                        <a:buFont typeface="+mj-lt"/>
                        <a:buAutoNum type="arabicPeriod"/>
                      </a:pPr>
                      <a:r>
                        <a:rPr lang="en-US" sz="1800" b="0" i="0" kern="1200" dirty="0" smtClean="0">
                          <a:solidFill>
                            <a:schemeClr val="dk1"/>
                          </a:solidFill>
                          <a:latin typeface="+mn-lt"/>
                          <a:ea typeface="+mn-ea"/>
                          <a:cs typeface="+mn-cs"/>
                        </a:rPr>
                        <a:t>Activity Planning and Sequencing.</a:t>
                      </a:r>
                    </a:p>
                    <a:p>
                      <a:pPr marL="342900" indent="-342900">
                        <a:buFont typeface="+mj-lt"/>
                        <a:buAutoNum type="arabicPeriod"/>
                      </a:pPr>
                      <a:r>
                        <a:rPr lang="en-US" sz="1800" b="0" i="0" kern="1200" dirty="0" smtClean="0">
                          <a:solidFill>
                            <a:schemeClr val="dk1"/>
                          </a:solidFill>
                          <a:latin typeface="+mn-lt"/>
                          <a:ea typeface="+mn-ea"/>
                          <a:cs typeface="+mn-cs"/>
                        </a:rPr>
                        <a:t>Resource Planning.</a:t>
                      </a:r>
                    </a:p>
                    <a:p>
                      <a:pPr marL="342900" indent="-342900">
                        <a:buFont typeface="+mj-lt"/>
                        <a:buAutoNum type="arabicPeriod"/>
                      </a:pPr>
                      <a:r>
                        <a:rPr lang="en-US" sz="1800" b="0" i="0" kern="1200" dirty="0" smtClean="0">
                          <a:solidFill>
                            <a:schemeClr val="dk1"/>
                          </a:solidFill>
                          <a:latin typeface="+mn-lt"/>
                          <a:ea typeface="+mn-ea"/>
                          <a:cs typeface="+mn-cs"/>
                        </a:rPr>
                        <a:t>Cost Estimating.</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dk1"/>
                          </a:solidFill>
                          <a:latin typeface="+mn-lt"/>
                          <a:ea typeface="+mn-ea"/>
                          <a:cs typeface="+mn-cs"/>
                        </a:rPr>
                        <a:t>Budget Planning.</a:t>
                      </a:r>
                    </a:p>
                  </a:txBody>
                  <a:tcPr/>
                </a:tc>
              </a:tr>
              <a:tr h="370840">
                <a:tc>
                  <a:txBody>
                    <a:bodyPr/>
                    <a:lstStyle/>
                    <a:p>
                      <a:r>
                        <a:rPr lang="en-US" dirty="0" smtClean="0"/>
                        <a:t>Project Leader</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Developing Schedules.</a:t>
                      </a:r>
                    </a:p>
                    <a:p>
                      <a:pPr marL="342900" indent="-342900">
                        <a:buFont typeface="+mj-lt"/>
                        <a:buAutoNum type="arabicPeriod"/>
                      </a:pPr>
                      <a:r>
                        <a:rPr lang="en-US" sz="1800" b="0" i="0" kern="1200" dirty="0" smtClean="0">
                          <a:solidFill>
                            <a:schemeClr val="dk1"/>
                          </a:solidFill>
                          <a:latin typeface="+mn-lt"/>
                          <a:ea typeface="+mn-ea"/>
                          <a:cs typeface="+mn-cs"/>
                        </a:rPr>
                        <a:t>Time Estimating.</a:t>
                      </a:r>
                    </a:p>
                    <a:p>
                      <a:pPr marL="342900" indent="-342900">
                        <a:buFont typeface="+mj-lt"/>
                        <a:buAutoNum type="arabicPeriod"/>
                      </a:pPr>
                      <a:r>
                        <a:rPr lang="en-US" sz="1800" b="0" i="0" kern="1200" dirty="0" smtClean="0">
                          <a:solidFill>
                            <a:schemeClr val="dk1"/>
                          </a:solidFill>
                          <a:latin typeface="+mn-lt"/>
                          <a:ea typeface="+mn-ea"/>
                          <a:cs typeface="+mn-cs"/>
                        </a:rPr>
                        <a:t>Documentation.</a:t>
                      </a:r>
                    </a:p>
                    <a:p>
                      <a:pPr marL="342900" indent="-342900">
                        <a:buFont typeface="+mj-lt"/>
                        <a:buAutoNum type="arabicPeriod"/>
                      </a:pPr>
                      <a:r>
                        <a:rPr lang="en-US" sz="1800" b="0" i="0" kern="1200" dirty="0" smtClean="0">
                          <a:solidFill>
                            <a:schemeClr val="dk1"/>
                          </a:solidFill>
                          <a:latin typeface="+mn-lt"/>
                          <a:ea typeface="+mn-ea"/>
                          <a:cs typeface="+mn-cs"/>
                        </a:rPr>
                        <a:t>Risk Analysis.</a:t>
                      </a:r>
                    </a:p>
                    <a:p>
                      <a:pPr marL="342900" indent="-342900">
                        <a:buFont typeface="+mj-lt"/>
                        <a:buAutoNum type="arabicPeriod"/>
                      </a:pPr>
                      <a:r>
                        <a:rPr lang="en-US" sz="1800" b="0" i="0" kern="1200" dirty="0" smtClean="0">
                          <a:solidFill>
                            <a:schemeClr val="dk1"/>
                          </a:solidFill>
                          <a:latin typeface="+mn-lt"/>
                          <a:ea typeface="+mn-ea"/>
                          <a:cs typeface="+mn-cs"/>
                        </a:rPr>
                        <a:t>Monitoring &amp; Reporting progress</a:t>
                      </a:r>
                    </a:p>
                  </a:txBody>
                  <a:tcPr/>
                </a:tc>
              </a:tr>
              <a:tr h="370840">
                <a:tc>
                  <a:txBody>
                    <a:bodyPr/>
                    <a:lstStyle/>
                    <a:p>
                      <a:r>
                        <a:rPr lang="en-US" dirty="0" smtClean="0"/>
                        <a:t>Senior Developer</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System Design &amp; Development</a:t>
                      </a:r>
                      <a:r>
                        <a:rPr lang="en-US" sz="1800" b="0" i="0" kern="1200" baseline="0" dirty="0" smtClean="0">
                          <a:solidFill>
                            <a:schemeClr val="dk1"/>
                          </a:solidFill>
                          <a:latin typeface="+mn-lt"/>
                          <a:ea typeface="+mn-ea"/>
                          <a:cs typeface="+mn-cs"/>
                        </a:rPr>
                        <a:t> </a:t>
                      </a:r>
                    </a:p>
                    <a:p>
                      <a:pPr marL="342900" indent="-342900">
                        <a:buFont typeface="+mj-lt"/>
                        <a:buAutoNum type="arabicPeriod"/>
                      </a:pPr>
                      <a:r>
                        <a:rPr lang="en-US" sz="1800" b="0" i="0" kern="1200" dirty="0" smtClean="0">
                          <a:solidFill>
                            <a:schemeClr val="dk1"/>
                          </a:solidFill>
                          <a:latin typeface="+mn-lt"/>
                          <a:ea typeface="+mn-ea"/>
                          <a:cs typeface="+mn-cs"/>
                        </a:rPr>
                        <a:t>Research and evaluate suitable libraries. </a:t>
                      </a:r>
                    </a:p>
                  </a:txBody>
                  <a:tcPr/>
                </a:tc>
              </a:tr>
            </a:tbl>
          </a:graphicData>
        </a:graphic>
      </p:graphicFrame>
    </p:spTree>
    <p:extLst>
      <p:ext uri="{BB962C8B-B14F-4D97-AF65-F5344CB8AC3E}">
        <p14:creationId xmlns:p14="http://schemas.microsoft.com/office/powerpoint/2010/main" xmlns="" val="55931543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sp>
        <p:nvSpPr>
          <p:cNvPr id="4" name="Slide Number Placeholder 3"/>
          <p:cNvSpPr>
            <a:spLocks noGrp="1"/>
          </p:cNvSpPr>
          <p:nvPr>
            <p:ph type="sldNum" sz="quarter" idx="12"/>
          </p:nvPr>
        </p:nvSpPr>
        <p:spPr/>
        <p:txBody>
          <a:bodyPr/>
          <a:lstStyle/>
          <a:p>
            <a:fld id="{CA8D9AD5-F248-4919-864A-CFD76CC027D6}" type="slidenum">
              <a:rPr lang="en-US" smtClean="0"/>
              <a:pPr/>
              <a:t>15</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aphicFrame>
        <p:nvGraphicFramePr>
          <p:cNvPr id="9" name="Table 8"/>
          <p:cNvGraphicFramePr>
            <a:graphicFrameLocks noGrp="1"/>
          </p:cNvGraphicFramePr>
          <p:nvPr/>
        </p:nvGraphicFramePr>
        <p:xfrm>
          <a:off x="1447800" y="1905000"/>
          <a:ext cx="8128000" cy="3296920"/>
        </p:xfrm>
        <a:graphic>
          <a:graphicData uri="http://schemas.openxmlformats.org/drawingml/2006/table">
            <a:tbl>
              <a:tblPr firstRow="1" bandRow="1">
                <a:tableStyleId>{793D81CF-94F2-401A-BA57-92F5A7B2D0C5}</a:tableStyleId>
              </a:tblPr>
              <a:tblGrid>
                <a:gridCol w="4064000"/>
                <a:gridCol w="4064000"/>
              </a:tblGrid>
              <a:tr h="370840">
                <a:tc>
                  <a:txBody>
                    <a:bodyPr/>
                    <a:lstStyle/>
                    <a:p>
                      <a:r>
                        <a:rPr lang="en-US" dirty="0" smtClean="0"/>
                        <a:t>Roles</a:t>
                      </a:r>
                      <a:endParaRPr lang="en-US" dirty="0"/>
                    </a:p>
                  </a:txBody>
                  <a:tcPr/>
                </a:tc>
                <a:tc>
                  <a:txBody>
                    <a:bodyPr/>
                    <a:lstStyle/>
                    <a:p>
                      <a:r>
                        <a:rPr lang="en-US" dirty="0" smtClean="0"/>
                        <a:t>Responsibilities</a:t>
                      </a:r>
                      <a:endParaRPr lang="en-US" dirty="0"/>
                    </a:p>
                  </a:txBody>
                  <a:tcPr/>
                </a:tc>
              </a:tr>
              <a:tr h="370840">
                <a:tc>
                  <a:txBody>
                    <a:bodyPr/>
                    <a:lstStyle/>
                    <a:p>
                      <a:r>
                        <a:rPr lang="en-US" dirty="0" smtClean="0"/>
                        <a:t>Senior Developer</a:t>
                      </a:r>
                      <a:endParaRPr lang="en-US" dirty="0"/>
                    </a:p>
                  </a:txBody>
                  <a:tcPr/>
                </a:tc>
                <a:tc>
                  <a:txBody>
                    <a:bodyPr/>
                    <a:lstStyle/>
                    <a:p>
                      <a:pPr marL="342900" indent="-342900">
                        <a:buFont typeface="+mj-lt"/>
                        <a:buAutoNum type="arabicPeriod" startAt="3"/>
                      </a:pPr>
                      <a:r>
                        <a:rPr lang="en-US" sz="1800" b="0" i="0" kern="1200" dirty="0" smtClean="0">
                          <a:solidFill>
                            <a:schemeClr val="dk1"/>
                          </a:solidFill>
                          <a:latin typeface="+mn-lt"/>
                          <a:ea typeface="+mn-ea"/>
                          <a:cs typeface="+mn-cs"/>
                        </a:rPr>
                        <a:t>Design &amp; develop testing procedures and activities.</a:t>
                      </a:r>
                    </a:p>
                    <a:p>
                      <a:pPr marL="342900" indent="-342900">
                        <a:buFont typeface="+mj-lt"/>
                        <a:buAutoNum type="arabicPeriod" startAt="3"/>
                      </a:pPr>
                      <a:r>
                        <a:rPr lang="en-US" sz="1800" b="0" i="0" kern="1200" dirty="0" smtClean="0">
                          <a:solidFill>
                            <a:schemeClr val="dk1"/>
                          </a:solidFill>
                          <a:latin typeface="+mn-lt"/>
                          <a:ea typeface="+mn-ea"/>
                          <a:cs typeface="+mn-cs"/>
                        </a:rPr>
                        <a:t>Implement best practices, standards and procedures.</a:t>
                      </a:r>
                    </a:p>
                    <a:p>
                      <a:pPr marL="342900" indent="-342900">
                        <a:buFont typeface="+mj-lt"/>
                        <a:buAutoNum type="arabicPeriod" startAt="3"/>
                      </a:pPr>
                      <a:r>
                        <a:rPr lang="en-US" sz="1800" b="0" i="0" kern="1200" dirty="0" smtClean="0">
                          <a:solidFill>
                            <a:schemeClr val="dk1"/>
                          </a:solidFill>
                          <a:latin typeface="+mn-lt"/>
                          <a:ea typeface="+mn-ea"/>
                          <a:cs typeface="+mn-cs"/>
                        </a:rPr>
                        <a:t>Ensure compliance with the documented software processes</a:t>
                      </a:r>
                    </a:p>
                  </a:txBody>
                  <a:tcPr/>
                </a:tc>
              </a:tr>
              <a:tr h="370840">
                <a:tc>
                  <a:txBody>
                    <a:bodyPr/>
                    <a:lstStyle/>
                    <a:p>
                      <a:r>
                        <a:rPr lang="en-US" dirty="0" smtClean="0"/>
                        <a:t>Communicative Person</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Clarification of doubts regarding the project</a:t>
                      </a:r>
                      <a:r>
                        <a:rPr lang="en-US" sz="1800" b="0" i="0" kern="1200" baseline="0" dirty="0" smtClean="0">
                          <a:solidFill>
                            <a:schemeClr val="dk1"/>
                          </a:solidFill>
                          <a:latin typeface="+mn-lt"/>
                          <a:ea typeface="+mn-ea"/>
                          <a:cs typeface="+mn-cs"/>
                        </a:rPr>
                        <a:t> with client.</a:t>
                      </a:r>
                    </a:p>
                    <a:p>
                      <a:pPr marL="342900" indent="-342900">
                        <a:buFont typeface="+mj-lt"/>
                        <a:buAutoNum type="arabicPeriod"/>
                      </a:pPr>
                      <a:r>
                        <a:rPr lang="en-US" sz="1800" b="0" i="0" kern="1200" baseline="0" dirty="0" smtClean="0">
                          <a:solidFill>
                            <a:schemeClr val="dk1"/>
                          </a:solidFill>
                          <a:latin typeface="+mn-lt"/>
                          <a:ea typeface="+mn-ea"/>
                          <a:cs typeface="+mn-cs"/>
                        </a:rPr>
                        <a:t>Conversion of mails from client and explain to the team.</a:t>
                      </a:r>
                      <a:endParaRPr lang="en-US" sz="1800" b="0" i="0" kern="1200" dirty="0" smtClean="0">
                        <a:solidFill>
                          <a:schemeClr val="dk1"/>
                        </a:solidFill>
                        <a:latin typeface="+mn-lt"/>
                        <a:ea typeface="+mn-ea"/>
                        <a:cs typeface="+mn-cs"/>
                      </a:endParaRPr>
                    </a:p>
                  </a:txBody>
                  <a:tcPr/>
                </a:tc>
              </a:tr>
            </a:tbl>
          </a:graphicData>
        </a:graphic>
      </p:graphicFrame>
    </p:spTree>
    <p:extLst>
      <p:ext uri="{BB962C8B-B14F-4D97-AF65-F5344CB8AC3E}">
        <p14:creationId xmlns:p14="http://schemas.microsoft.com/office/powerpoint/2010/main" xmlns="" val="55931543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sp>
        <p:nvSpPr>
          <p:cNvPr id="4" name="Slide Number Placeholder 3"/>
          <p:cNvSpPr>
            <a:spLocks noGrp="1"/>
          </p:cNvSpPr>
          <p:nvPr>
            <p:ph type="sldNum" sz="quarter" idx="12"/>
          </p:nvPr>
        </p:nvSpPr>
        <p:spPr/>
        <p:txBody>
          <a:bodyPr/>
          <a:lstStyle/>
          <a:p>
            <a:fld id="{CA8D9AD5-F248-4919-864A-CFD76CC027D6}" type="slidenum">
              <a:rPr lang="en-US" smtClean="0"/>
              <a:pPr/>
              <a:t>16</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aphicFrame>
        <p:nvGraphicFramePr>
          <p:cNvPr id="9" name="Table 8"/>
          <p:cNvGraphicFramePr>
            <a:graphicFrameLocks noGrp="1"/>
          </p:cNvGraphicFramePr>
          <p:nvPr/>
        </p:nvGraphicFramePr>
        <p:xfrm>
          <a:off x="1447800" y="1905000"/>
          <a:ext cx="8128000" cy="4394200"/>
        </p:xfrm>
        <a:graphic>
          <a:graphicData uri="http://schemas.openxmlformats.org/drawingml/2006/table">
            <a:tbl>
              <a:tblPr firstRow="1" bandRow="1">
                <a:tableStyleId>{793D81CF-94F2-401A-BA57-92F5A7B2D0C5}</a:tableStyleId>
              </a:tblPr>
              <a:tblGrid>
                <a:gridCol w="4064000"/>
                <a:gridCol w="4064000"/>
              </a:tblGrid>
              <a:tr h="370840">
                <a:tc>
                  <a:txBody>
                    <a:bodyPr/>
                    <a:lstStyle/>
                    <a:p>
                      <a:r>
                        <a:rPr lang="en-US" dirty="0" smtClean="0"/>
                        <a:t>Roles</a:t>
                      </a:r>
                      <a:endParaRPr lang="en-US" dirty="0"/>
                    </a:p>
                  </a:txBody>
                  <a:tcPr/>
                </a:tc>
                <a:tc>
                  <a:txBody>
                    <a:bodyPr/>
                    <a:lstStyle/>
                    <a:p>
                      <a:r>
                        <a:rPr lang="en-US" dirty="0" smtClean="0"/>
                        <a:t>Responsibilities</a:t>
                      </a:r>
                      <a:endParaRPr lang="en-US" dirty="0"/>
                    </a:p>
                  </a:txBody>
                  <a:tcPr/>
                </a:tc>
              </a:tr>
              <a:tr h="370840">
                <a:tc>
                  <a:txBody>
                    <a:bodyPr/>
                    <a:lstStyle/>
                    <a:p>
                      <a:pPr lvl="0"/>
                      <a:r>
                        <a:rPr lang="en-US" sz="1800" dirty="0" smtClean="0"/>
                        <a:t>QC Manager</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Ensure the CXF conversion system meet acceptable quality standards</a:t>
                      </a:r>
                      <a:r>
                        <a:rPr lang="en-US" sz="1800" b="0" i="0" kern="1200" baseline="0" dirty="0" smtClean="0">
                          <a:solidFill>
                            <a:schemeClr val="dk1"/>
                          </a:solidFill>
                          <a:latin typeface="+mn-lt"/>
                          <a:ea typeface="+mn-ea"/>
                          <a:cs typeface="+mn-cs"/>
                        </a:rPr>
                        <a:t>.</a:t>
                      </a:r>
                    </a:p>
                    <a:p>
                      <a:pPr marL="342900" indent="-342900">
                        <a:buFont typeface="+mj-lt"/>
                        <a:buAutoNum type="arabicPeriod"/>
                      </a:pPr>
                      <a:r>
                        <a:rPr lang="en-US" sz="1800" b="0" i="0" kern="1200" baseline="0" dirty="0" smtClean="0">
                          <a:solidFill>
                            <a:schemeClr val="dk1"/>
                          </a:solidFill>
                          <a:latin typeface="+mn-lt"/>
                          <a:ea typeface="+mn-ea"/>
                          <a:cs typeface="+mn-cs"/>
                        </a:rPr>
                        <a:t>Coordinate team member efforts.</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dk1"/>
                          </a:solidFill>
                          <a:latin typeface="+mn-lt"/>
                          <a:ea typeface="+mn-ea"/>
                          <a:cs typeface="+mn-cs"/>
                        </a:rPr>
                        <a:t>Defining the scope of testing within the context of each release/delivery.</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dk1"/>
                          </a:solidFill>
                          <a:latin typeface="+mn-lt"/>
                          <a:ea typeface="+mn-ea"/>
                          <a:cs typeface="+mn-cs"/>
                        </a:rPr>
                        <a:t>Planning, deploying and managing the testing effort for any given engagement/release.</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baseline="0" dirty="0" smtClean="0">
                          <a:solidFill>
                            <a:schemeClr val="dk1"/>
                          </a:solidFill>
                          <a:latin typeface="+mn-lt"/>
                          <a:ea typeface="+mn-ea"/>
                          <a:cs typeface="+mn-cs"/>
                        </a:rPr>
                        <a:t>Deciding the testing tools &amp; processes.</a:t>
                      </a:r>
                    </a:p>
                  </a:txBody>
                  <a:tcPr/>
                </a:tc>
              </a:tr>
              <a:tr h="370840">
                <a:tc>
                  <a:txBody>
                    <a:bodyPr/>
                    <a:lstStyle/>
                    <a:p>
                      <a:r>
                        <a:rPr lang="en-US" dirty="0" smtClean="0"/>
                        <a:t>Testing Person</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Setting up the testing environment</a:t>
                      </a:r>
                    </a:p>
                    <a:p>
                      <a:pPr marL="342900" indent="-342900">
                        <a:buFont typeface="+mj-lt"/>
                        <a:buAutoNum type="arabicPeriod"/>
                      </a:pPr>
                      <a:r>
                        <a:rPr lang="en-US" sz="1800" b="0" i="0" kern="1200" dirty="0" smtClean="0">
                          <a:solidFill>
                            <a:schemeClr val="dk1"/>
                          </a:solidFill>
                          <a:latin typeface="+mn-lt"/>
                          <a:ea typeface="+mn-ea"/>
                          <a:cs typeface="+mn-cs"/>
                        </a:rPr>
                        <a:t>Execute and log the test results, evaluate the results and document issues found.</a:t>
                      </a:r>
                    </a:p>
                  </a:txBody>
                  <a:tcPr/>
                </a:tc>
              </a:tr>
            </a:tbl>
          </a:graphicData>
        </a:graphic>
      </p:graphicFrame>
    </p:spTree>
    <p:extLst>
      <p:ext uri="{BB962C8B-B14F-4D97-AF65-F5344CB8AC3E}">
        <p14:creationId xmlns:p14="http://schemas.microsoft.com/office/powerpoint/2010/main" xmlns="" val="55931543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Assumptions </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17</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
        <p:nvSpPr>
          <p:cNvPr id="7" name="Content Placeholder 6"/>
          <p:cNvSpPr>
            <a:spLocks noGrp="1"/>
          </p:cNvSpPr>
          <p:nvPr>
            <p:ph idx="1"/>
          </p:nvPr>
        </p:nvSpPr>
        <p:spPr/>
        <p:txBody>
          <a:bodyPr/>
          <a:lstStyle/>
          <a:p>
            <a:r>
              <a:rPr lang="en-US" dirty="0" smtClean="0"/>
              <a:t>Current issues are related to processing the latest versions of AutoCAD files in </a:t>
            </a:r>
            <a:r>
              <a:rPr lang="en-US" dirty="0" err="1" smtClean="0"/>
              <a:t>CWorks</a:t>
            </a:r>
            <a:r>
              <a:rPr lang="en-US" dirty="0" smtClean="0"/>
              <a:t> CAD System because of the incompatibility of the DXF format for 3D objects.</a:t>
            </a:r>
          </a:p>
          <a:p>
            <a:r>
              <a:rPr lang="en-US" dirty="0" smtClean="0"/>
              <a:t>Proposed system need not support  versions of AutoCAD earlier than AutoCAD 2000.</a:t>
            </a:r>
          </a:p>
          <a:p>
            <a:r>
              <a:rPr lang="en-US" dirty="0" err="1" smtClean="0"/>
              <a:t>Teigha</a:t>
            </a:r>
            <a:r>
              <a:rPr lang="en-US" dirty="0" smtClean="0"/>
              <a:t> libraries are bug free as it is being maintained by a huge group of professional programmers and also it is a paid service.</a:t>
            </a:r>
          </a:p>
          <a:p>
            <a:r>
              <a:rPr lang="en-US" dirty="0" err="1" smtClean="0"/>
              <a:t>CWorks</a:t>
            </a:r>
            <a:r>
              <a:rPr lang="en-US" dirty="0" smtClean="0"/>
              <a:t> CAD output will be the original drawing with added scaffolding structure.</a:t>
            </a:r>
          </a:p>
          <a:p>
            <a:endParaRPr lang="en-US" dirty="0"/>
          </a:p>
        </p:txBody>
      </p:sp>
    </p:spTree>
    <p:extLst>
      <p:ext uri="{BB962C8B-B14F-4D97-AF65-F5344CB8AC3E}">
        <p14:creationId xmlns:p14="http://schemas.microsoft.com/office/powerpoint/2010/main" xmlns="" val="40918453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Risk Management Plan</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xmlns="" val="302890314"/>
              </p:ext>
            </p:extLst>
          </p:nvPr>
        </p:nvGraphicFramePr>
        <p:xfrm>
          <a:off x="1341438" y="1901825"/>
          <a:ext cx="9509125" cy="2820035"/>
        </p:xfrm>
        <a:graphic>
          <a:graphicData uri="http://schemas.openxmlformats.org/drawingml/2006/table">
            <a:tbl>
              <a:tblPr firstRow="1" bandRow="1">
                <a:tableStyleId>{793D81CF-94F2-401A-BA57-92F5A7B2D0C5}</a:tableStyleId>
              </a:tblPr>
              <a:tblGrid>
                <a:gridCol w="2392362">
                  <a:extLst>
                    <a:ext uri="{9D8B030D-6E8A-4147-A177-3AD203B41FA5}">
                      <a16:colId xmlns="" xmlns:a16="http://schemas.microsoft.com/office/drawing/2014/main" val="20000"/>
                    </a:ext>
                  </a:extLst>
                </a:gridCol>
                <a:gridCol w="1295400">
                  <a:extLst>
                    <a:ext uri="{9D8B030D-6E8A-4147-A177-3AD203B41FA5}">
                      <a16:colId xmlns="" xmlns:a16="http://schemas.microsoft.com/office/drawing/2014/main" val="20001"/>
                    </a:ext>
                  </a:extLst>
                </a:gridCol>
                <a:gridCol w="1905000">
                  <a:extLst>
                    <a:ext uri="{9D8B030D-6E8A-4147-A177-3AD203B41FA5}">
                      <a16:colId xmlns="" xmlns:a16="http://schemas.microsoft.com/office/drawing/2014/main" val="20002"/>
                    </a:ext>
                  </a:extLst>
                </a:gridCol>
                <a:gridCol w="1143000">
                  <a:extLst>
                    <a:ext uri="{9D8B030D-6E8A-4147-A177-3AD203B41FA5}">
                      <a16:colId xmlns="" xmlns:a16="http://schemas.microsoft.com/office/drawing/2014/main" val="20003"/>
                    </a:ext>
                  </a:extLst>
                </a:gridCol>
                <a:gridCol w="2773363">
                  <a:extLst>
                    <a:ext uri="{9D8B030D-6E8A-4147-A177-3AD203B41FA5}">
                      <a16:colId xmlns="" xmlns:a16="http://schemas.microsoft.com/office/drawing/2014/main" val="20004"/>
                    </a:ext>
                  </a:extLst>
                </a:gridCol>
              </a:tblGrid>
              <a:tr h="777875">
                <a:tc>
                  <a:txBody>
                    <a:bodyPr/>
                    <a:lstStyle/>
                    <a:p>
                      <a:pPr algn="l"/>
                      <a:r>
                        <a:rPr lang="en-US" dirty="0"/>
                        <a:t>Risk</a:t>
                      </a:r>
                    </a:p>
                  </a:txBody>
                  <a:tcPr anchor="ctr"/>
                </a:tc>
                <a:tc>
                  <a:txBody>
                    <a:bodyPr/>
                    <a:lstStyle/>
                    <a:p>
                      <a:pPr algn="ctr"/>
                      <a:r>
                        <a:rPr lang="en-US" dirty="0"/>
                        <a:t>Probability</a:t>
                      </a:r>
                    </a:p>
                  </a:txBody>
                  <a:tcPr anchor="ctr"/>
                </a:tc>
                <a:tc>
                  <a:txBody>
                    <a:bodyPr/>
                    <a:lstStyle/>
                    <a:p>
                      <a:pPr algn="ctr"/>
                      <a:r>
                        <a:rPr lang="en-US" dirty="0"/>
                        <a:t>Impact</a:t>
                      </a:r>
                    </a:p>
                  </a:txBody>
                  <a:tcPr anchor="ctr"/>
                </a:tc>
                <a:tc>
                  <a:txBody>
                    <a:bodyPr/>
                    <a:lstStyle/>
                    <a:p>
                      <a:pPr algn="ctr"/>
                      <a:r>
                        <a:rPr lang="en-US" dirty="0"/>
                        <a:t>Owner</a:t>
                      </a:r>
                    </a:p>
                  </a:txBody>
                  <a:tcPr anchor="ctr"/>
                </a:tc>
                <a:tc>
                  <a:txBody>
                    <a:bodyPr/>
                    <a:lstStyle/>
                    <a:p>
                      <a:pPr algn="ctr"/>
                      <a:r>
                        <a:rPr lang="en-US" dirty="0"/>
                        <a:t>Mitigation</a:t>
                      </a:r>
                      <a:r>
                        <a:rPr lang="en-US" baseline="0" dirty="0"/>
                        <a:t> Plan</a:t>
                      </a:r>
                      <a:endParaRPr lang="en-US" dirty="0"/>
                    </a:p>
                  </a:txBody>
                  <a:tcPr anchor="ctr"/>
                </a:tc>
                <a:extLst>
                  <a:ext uri="{0D108BD9-81ED-4DB2-BD59-A6C34878D82A}">
                    <a16:rowId xmlns="" xmlns:a16="http://schemas.microsoft.com/office/drawing/2014/main" val="10000"/>
                  </a:ext>
                </a:extLst>
              </a:tr>
              <a:tr h="777875">
                <a:tc>
                  <a:txBody>
                    <a:bodyPr/>
                    <a:lstStyle/>
                    <a:p>
                      <a:pPr algn="l"/>
                      <a:r>
                        <a:rPr lang="en-US" sz="1600" dirty="0" smtClean="0"/>
                        <a:t>Working on new domain</a:t>
                      </a:r>
                      <a:endParaRPr lang="en-US" sz="1600" dirty="0"/>
                    </a:p>
                  </a:txBody>
                  <a:tcPr anchor="ctr"/>
                </a:tc>
                <a:tc>
                  <a:txBody>
                    <a:bodyPr/>
                    <a:lstStyle/>
                    <a:p>
                      <a:pPr algn="ctr"/>
                      <a:r>
                        <a:rPr lang="en-US" sz="1600" dirty="0" smtClean="0"/>
                        <a:t>High</a:t>
                      </a:r>
                      <a:endParaRPr lang="en-US" sz="1600" dirty="0"/>
                    </a:p>
                  </a:txBody>
                  <a:tcPr anchor="ctr"/>
                </a:tc>
                <a:tc>
                  <a:txBody>
                    <a:bodyPr/>
                    <a:lstStyle/>
                    <a:p>
                      <a:pPr marL="342900" indent="-342900" algn="l">
                        <a:buAutoNum type="arabicPeriod"/>
                      </a:pPr>
                      <a:r>
                        <a:rPr lang="en-US" sz="1600" dirty="0" smtClean="0"/>
                        <a:t>Schedule Slippage</a:t>
                      </a:r>
                    </a:p>
                    <a:p>
                      <a:pPr marL="342900" indent="-342900" algn="l">
                        <a:buAutoNum type="arabicPeriod"/>
                      </a:pPr>
                      <a:r>
                        <a:rPr lang="en-US" sz="1600" dirty="0" smtClean="0"/>
                        <a:t> Increase Effort/ Cost.</a:t>
                      </a:r>
                    </a:p>
                    <a:p>
                      <a:pPr marL="342900" indent="-342900" algn="l">
                        <a:buAutoNum type="arabicPeriod"/>
                      </a:pPr>
                      <a:r>
                        <a:rPr lang="en-US" sz="1600" dirty="0" smtClean="0"/>
                        <a:t>Poor quality of deliverables.</a:t>
                      </a:r>
                      <a:endParaRPr lang="en-US" sz="1600" dirty="0"/>
                    </a:p>
                  </a:txBody>
                  <a:tcPr anchor="ctr"/>
                </a:tc>
                <a:tc>
                  <a:txBody>
                    <a:bodyPr/>
                    <a:lstStyle/>
                    <a:p>
                      <a:pPr algn="ctr"/>
                      <a:r>
                        <a:rPr lang="en-US" sz="1600" dirty="0" smtClean="0"/>
                        <a:t>Project Leader</a:t>
                      </a:r>
                      <a:endParaRPr lang="en-US" sz="1600" dirty="0"/>
                    </a:p>
                  </a:txBody>
                  <a:tcPr anchor="ctr"/>
                </a:tc>
                <a:tc>
                  <a:txBody>
                    <a:bodyPr/>
                    <a:lstStyle/>
                    <a:p>
                      <a:pPr marL="342900" indent="-342900" algn="l">
                        <a:buAutoNum type="arabicPeriod"/>
                      </a:pPr>
                      <a:r>
                        <a:rPr lang="en-US" sz="1600" dirty="0" smtClean="0"/>
                        <a:t>Consider phased delivery.</a:t>
                      </a:r>
                    </a:p>
                    <a:p>
                      <a:pPr marL="342900" indent="-342900" algn="l">
                        <a:buAutoNum type="arabicPeriod"/>
                      </a:pPr>
                      <a:r>
                        <a:rPr lang="en-US" sz="1600" dirty="0" smtClean="0"/>
                        <a:t>Begin</a:t>
                      </a:r>
                      <a:r>
                        <a:rPr lang="en-US" sz="1600" baseline="0" dirty="0" smtClean="0"/>
                        <a:t> with the delivery of critical modules.</a:t>
                      </a:r>
                    </a:p>
                    <a:p>
                      <a:pPr marL="342900" indent="-342900" algn="l">
                        <a:buAutoNum type="arabicPeriod"/>
                      </a:pPr>
                      <a:r>
                        <a:rPr lang="en-US" sz="1600" dirty="0" smtClean="0"/>
                        <a:t>Include time in the schedule</a:t>
                      </a:r>
                      <a:r>
                        <a:rPr lang="en-US" sz="1600" baseline="0" dirty="0" smtClean="0"/>
                        <a:t> for learning curve.</a:t>
                      </a:r>
                    </a:p>
                    <a:p>
                      <a:pPr marL="342900" indent="-342900" algn="l">
                        <a:buAutoNum type="arabicPeriod"/>
                      </a:pPr>
                      <a:r>
                        <a:rPr lang="en-US" sz="1600" baseline="0" dirty="0" smtClean="0"/>
                        <a:t>Develop a Proof-Of-Concept application.</a:t>
                      </a:r>
                      <a:endParaRPr lang="en-US" sz="1600" dirty="0"/>
                    </a:p>
                  </a:txBody>
                  <a:tcPr anchor="ctr"/>
                </a:tc>
                <a:extLst>
                  <a:ext uri="{0D108BD9-81ED-4DB2-BD59-A6C34878D82A}">
                    <a16:rowId xmlns=""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fld id="{CA8D9AD5-F248-4919-864A-CFD76CC027D6}" type="slidenum">
              <a:rPr lang="en-US" smtClean="0"/>
              <a:pPr/>
              <a:t>18</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xmlns="" val="40918453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Management and Performance Measures</a:t>
            </a:r>
          </a:p>
        </p:txBody>
      </p:sp>
      <p:sp>
        <p:nvSpPr>
          <p:cNvPr id="3" name="Content Placeholder 2"/>
          <p:cNvSpPr>
            <a:spLocks noGrp="1"/>
          </p:cNvSpPr>
          <p:nvPr>
            <p:ph idx="1"/>
          </p:nvPr>
        </p:nvSpPr>
        <p:spPr/>
        <p:txBody>
          <a:bodyPr>
            <a:normAutofit/>
          </a:bodyPr>
          <a:lstStyle/>
          <a:p>
            <a:r>
              <a:rPr lang="en-US" dirty="0" smtClean="0"/>
              <a:t>Accuracy of information of the objects in AutoCAD drawing files . </a:t>
            </a:r>
          </a:p>
          <a:p>
            <a:r>
              <a:rPr lang="en-US" dirty="0" smtClean="0"/>
              <a:t>System should support conversion of all versions of AutoCAD drawing files.</a:t>
            </a:r>
          </a:p>
          <a:p>
            <a:r>
              <a:rPr lang="en-US" dirty="0" smtClean="0"/>
              <a:t>Quality and Accuracy testing on completion of each development phase.</a:t>
            </a:r>
          </a:p>
          <a:p>
            <a:r>
              <a:rPr lang="en-US" dirty="0" smtClean="0"/>
              <a:t>Overall testing on completion of system functionalities.</a:t>
            </a:r>
          </a:p>
          <a:p>
            <a:r>
              <a:rPr lang="en-US" dirty="0" smtClean="0"/>
              <a:t>Processing &amp; Testing the AutoCAD file versions.</a:t>
            </a:r>
            <a:endParaRPr lang="en-US" dirty="0"/>
          </a:p>
          <a:p>
            <a:r>
              <a:rPr lang="en-US" dirty="0" smtClean="0"/>
              <a:t>Ensure the quality of deliveries in each development phase through client interaction. </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19</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xmlns="" val="158554289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Status Monitoring &amp; Reporting</a:t>
            </a:r>
            <a:endParaRPr lang="en-US" dirty="0"/>
          </a:p>
        </p:txBody>
      </p:sp>
      <p:sp>
        <p:nvSpPr>
          <p:cNvPr id="3" name="Content Placeholder 2"/>
          <p:cNvSpPr>
            <a:spLocks noGrp="1"/>
          </p:cNvSpPr>
          <p:nvPr>
            <p:ph idx="1"/>
          </p:nvPr>
        </p:nvSpPr>
        <p:spPr/>
        <p:txBody>
          <a:bodyPr>
            <a:normAutofit/>
          </a:bodyPr>
          <a:lstStyle/>
          <a:p>
            <a:r>
              <a:rPr lang="en-US" dirty="0" smtClean="0"/>
              <a:t>Programmers must report the progress to the PL everyday</a:t>
            </a:r>
          </a:p>
          <a:p>
            <a:r>
              <a:rPr lang="en-US" dirty="0" smtClean="0"/>
              <a:t>PL to report the project progress  status to PM every day</a:t>
            </a:r>
          </a:p>
          <a:p>
            <a:r>
              <a:rPr lang="en-US" dirty="0" smtClean="0"/>
              <a:t>QC member to report the status to QC Manager every day</a:t>
            </a:r>
          </a:p>
          <a:p>
            <a:r>
              <a:rPr lang="en-US" dirty="0" smtClean="0"/>
              <a:t>QC Manager to report the progress to PM every day</a:t>
            </a:r>
          </a:p>
          <a:p>
            <a:r>
              <a:rPr lang="en-US" dirty="0" smtClean="0"/>
              <a:t>PM to  report the project progress  status to CEO every week.</a:t>
            </a:r>
          </a:p>
          <a:p>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20</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xmlns="" val="158554289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And Technologies</a:t>
            </a:r>
            <a:endParaRPr lang="en-US" dirty="0"/>
          </a:p>
        </p:txBody>
      </p:sp>
      <p:sp>
        <p:nvSpPr>
          <p:cNvPr id="3" name="Content Placeholder 2"/>
          <p:cNvSpPr>
            <a:spLocks noGrp="1"/>
          </p:cNvSpPr>
          <p:nvPr>
            <p:ph idx="1"/>
          </p:nvPr>
        </p:nvSpPr>
        <p:spPr/>
        <p:txBody>
          <a:bodyPr/>
          <a:lstStyle/>
          <a:p>
            <a:r>
              <a:rPr lang="en-US" dirty="0" smtClean="0"/>
              <a:t>C#.NET</a:t>
            </a:r>
          </a:p>
          <a:p>
            <a:r>
              <a:rPr lang="en-US" dirty="0" err="1" smtClean="0"/>
              <a:t>Teigha</a:t>
            </a:r>
            <a:r>
              <a:rPr lang="en-US" dirty="0" smtClean="0"/>
              <a:t> CAD processing libraries</a:t>
            </a:r>
            <a:endParaRPr lang="en-US" dirty="0"/>
          </a:p>
        </p:txBody>
      </p:sp>
      <p:sp>
        <p:nvSpPr>
          <p:cNvPr id="4" name="Footer Placeholder 3"/>
          <p:cNvSpPr>
            <a:spLocks noGrp="1"/>
          </p:cNvSpPr>
          <p:nvPr>
            <p:ph type="ftr" sz="quarter" idx="11"/>
          </p:nvPr>
        </p:nvSpPr>
        <p:spPr/>
        <p:txBody>
          <a:bodyPr/>
          <a:lstStyle/>
          <a:p>
            <a:r>
              <a:rPr lang="en-US" smtClean="0"/>
              <a:t>Indocosmo Systems Pvt. Ltd. All Rights Reserved</a:t>
            </a:r>
            <a:endParaRPr lang="en-US" dirty="0"/>
          </a:p>
        </p:txBody>
      </p:sp>
      <p:sp>
        <p:nvSpPr>
          <p:cNvPr id="5" name="Slide Number Placeholder 4"/>
          <p:cNvSpPr>
            <a:spLocks noGrp="1"/>
          </p:cNvSpPr>
          <p:nvPr>
            <p:ph type="sldNum" sz="quarter" idx="12"/>
          </p:nvPr>
        </p:nvSpPr>
        <p:spPr/>
        <p:txBody>
          <a:bodyPr/>
          <a:lstStyle/>
          <a:p>
            <a:fld id="{CA8D9AD5-F248-4919-864A-CFD76CC027D6}" type="slidenum">
              <a:rPr lang="en-US" smtClean="0"/>
              <a:pPr/>
              <a:t>21</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667000"/>
            <a:ext cx="9509760" cy="1014984"/>
          </a:xfrm>
        </p:spPr>
        <p:txBody>
          <a:bodyPr/>
          <a:lstStyle/>
          <a:p>
            <a:pPr algn="ctr"/>
            <a:r>
              <a:rPr lang="en-US" dirty="0" smtClean="0"/>
              <a:t>Any Questions?</a:t>
            </a:r>
            <a:endParaRPr lang="en-US" dirty="0"/>
          </a:p>
        </p:txBody>
      </p:sp>
      <p:sp>
        <p:nvSpPr>
          <p:cNvPr id="4" name="Footer Placeholder 3"/>
          <p:cNvSpPr>
            <a:spLocks noGrp="1"/>
          </p:cNvSpPr>
          <p:nvPr>
            <p:ph type="ftr" sz="quarter" idx="11"/>
          </p:nvPr>
        </p:nvSpPr>
        <p:spPr/>
        <p:txBody>
          <a:bodyPr/>
          <a:lstStyle/>
          <a:p>
            <a:r>
              <a:rPr lang="en-US" smtClean="0"/>
              <a:t>Indocosmo Systems Pvt. Ltd. All Rights Reserved</a:t>
            </a:r>
            <a:endParaRPr lang="en-US" dirty="0"/>
          </a:p>
        </p:txBody>
      </p:sp>
      <p:sp>
        <p:nvSpPr>
          <p:cNvPr id="5" name="Slide Number Placeholder 4"/>
          <p:cNvSpPr>
            <a:spLocks noGrp="1"/>
          </p:cNvSpPr>
          <p:nvPr>
            <p:ph type="sldNum" sz="quarter" idx="12"/>
          </p:nvPr>
        </p:nvSpPr>
        <p:spPr/>
        <p:txBody>
          <a:bodyPr/>
          <a:lstStyle/>
          <a:p>
            <a:fld id="{CA8D9AD5-F248-4919-864A-CFD76CC027D6}" type="slidenum">
              <a:rPr lang="en-US" smtClean="0"/>
              <a:pPr/>
              <a:t>22</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490216"/>
            <a:ext cx="9509760" cy="1014984"/>
          </a:xfrm>
        </p:spPr>
        <p:txBody>
          <a:bodyPr/>
          <a:lstStyle/>
          <a:p>
            <a:pPr algn="ctr"/>
            <a:r>
              <a:rPr lang="en-US" dirty="0" smtClean="0"/>
              <a:t>Thank You All</a:t>
            </a:r>
            <a:endParaRPr lang="en-US" dirty="0"/>
          </a:p>
        </p:txBody>
      </p:sp>
      <p:sp>
        <p:nvSpPr>
          <p:cNvPr id="4" name="Footer Placeholder 3"/>
          <p:cNvSpPr>
            <a:spLocks noGrp="1"/>
          </p:cNvSpPr>
          <p:nvPr>
            <p:ph type="ftr" sz="quarter" idx="11"/>
          </p:nvPr>
        </p:nvSpPr>
        <p:spPr/>
        <p:txBody>
          <a:bodyPr/>
          <a:lstStyle/>
          <a:p>
            <a:r>
              <a:rPr lang="en-US" smtClean="0"/>
              <a:t>Indocosmo Systems Pvt. Ltd. All Rights Reserved</a:t>
            </a:r>
            <a:endParaRPr lang="en-US" dirty="0"/>
          </a:p>
        </p:txBody>
      </p:sp>
      <p:sp>
        <p:nvSpPr>
          <p:cNvPr id="5" name="Slide Number Placeholder 4"/>
          <p:cNvSpPr>
            <a:spLocks noGrp="1"/>
          </p:cNvSpPr>
          <p:nvPr>
            <p:ph type="sldNum" sz="quarter" idx="12"/>
          </p:nvPr>
        </p:nvSpPr>
        <p:spPr/>
        <p:txBody>
          <a:bodyPr/>
          <a:lstStyle/>
          <a:p>
            <a:fld id="{CA8D9AD5-F248-4919-864A-CFD76CC027D6}" type="slidenum">
              <a:rPr lang="en-US" smtClean="0"/>
              <a:pPr/>
              <a:t>23</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theme/theme1.xml><?xml version="1.0" encoding="utf-8"?>
<a:theme xmlns:a="http://schemas.openxmlformats.org/drawingml/2006/main" name="project-initiation">
  <a:themeElements>
    <a:clrScheme name="Banded_Design_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a:gsLst>
            <a:gs pos="0">
              <a:schemeClr val="phClr">
                <a:lumMod val="0"/>
                <a:lumOff val="100000"/>
              </a:schemeClr>
            </a:gs>
            <a:gs pos="72000">
              <a:schemeClr val="phClr"/>
            </a:gs>
            <a:gs pos="100000">
              <a:schemeClr val="phClr">
                <a:lumMod val="90000"/>
              </a:schemeClr>
            </a:gs>
          </a:gsLst>
          <a:lin ang="5400000" scaled="1"/>
        </a:gradFill>
        <a:gradFill flip="none" rotWithShape="1">
          <a:gsLst>
            <a:gs pos="32000">
              <a:schemeClr val="phClr"/>
            </a:gs>
            <a:gs pos="100000">
              <a:schemeClr val="phClr">
                <a:lumMod val="75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xmlns="" name="TF03417271.potx" id="{FAD70E18-2F21-4BAE-983F-13051C6D1C17}" vid="{4B4DF9DC-15EC-4671-A52A-56A08B977F11}"/>
    </a:ext>
  </a:extLst>
</a:theme>
</file>

<file path=ppt/theme/theme2.xml><?xml version="1.0" encoding="utf-8"?>
<a:theme xmlns:a="http://schemas.openxmlformats.org/drawingml/2006/main" name="Office Them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project-initiation</Template>
  <TotalTime>577</TotalTime>
  <Words>1620</Words>
  <Application>Microsoft Office PowerPoint</Application>
  <PresentationFormat>Custom</PresentationFormat>
  <Paragraphs>293</Paragraphs>
  <Slides>23</Slides>
  <Notes>19</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project-initiation</vt:lpstr>
      <vt:lpstr>&lt;PROJECT NAME&gt;</vt:lpstr>
      <vt:lpstr>&lt;Project Name&gt; (&lt;Project Code&gt;)</vt:lpstr>
      <vt:lpstr>About  The Customer</vt:lpstr>
      <vt:lpstr>About The Project</vt:lpstr>
      <vt:lpstr>Project Overview</vt:lpstr>
      <vt:lpstr>Project Objectives</vt:lpstr>
      <vt:lpstr>Success Factors</vt:lpstr>
      <vt:lpstr>Implementation</vt:lpstr>
      <vt:lpstr>Implementation</vt:lpstr>
      <vt:lpstr>Project Schedule and Milestones</vt:lpstr>
      <vt:lpstr>Project Schedule and Milestones</vt:lpstr>
      <vt:lpstr>Project Team Roles and Responsibilities</vt:lpstr>
      <vt:lpstr>Project Team Roles and Responsibilities</vt:lpstr>
      <vt:lpstr>Project Team Roles and Responsibilities</vt:lpstr>
      <vt:lpstr>Project Team Roles and Responsibilities</vt:lpstr>
      <vt:lpstr>Project Team Roles and Responsibilities</vt:lpstr>
      <vt:lpstr>Assumptions </vt:lpstr>
      <vt:lpstr>Risk Management Plan</vt:lpstr>
      <vt:lpstr>Quality Management and Performance Measures</vt:lpstr>
      <vt:lpstr>Project Status Monitoring &amp; Reporting</vt:lpstr>
      <vt:lpstr>Tools And Technologies</vt:lpstr>
      <vt:lpstr>Any Questions?</vt:lpstr>
      <vt:lpstr>Thank You All</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Initiation</dc:title>
  <dc:creator>Suresh</dc:creator>
  <cp:lastModifiedBy>indocosmo</cp:lastModifiedBy>
  <cp:revision>294</cp:revision>
  <dcterms:created xsi:type="dcterms:W3CDTF">2017-11-01T05:54:35Z</dcterms:created>
  <dcterms:modified xsi:type="dcterms:W3CDTF">2020-07-04T17:24:26Z</dcterms:modified>
</cp:coreProperties>
</file>