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2" roundtripDataSignature="AMtx7mgu7Zj9m5pJTcd/27CKQ3LqqgZb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FA1BC9-6A22-4A0A-B51F-F9D16CEE6A94}">
  <a:tblStyle styleId="{06FA1BC9-6A22-4A0A-B51F-F9D16CEE6A94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5B9BD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5B9BD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5B9BD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ad3aed8c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ad3aed8c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ce6d180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ce6d180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28625"/>
            <a:ext cx="7620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2291925" y="4345375"/>
            <a:ext cx="17499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Device Layer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201850" y="4345375"/>
            <a:ext cx="42462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IOT Devices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291925" y="3440075"/>
            <a:ext cx="17499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Transport Layer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201850" y="3440075"/>
            <a:ext cx="42462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TCP/IP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291925" y="1601800"/>
            <a:ext cx="17499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Processing Layer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201850" y="1601800"/>
            <a:ext cx="42462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STORE AND ANALYSIS DATA. CLOUD COMPUTING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291925" y="683050"/>
            <a:ext cx="17499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Application Layer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201850" y="683050"/>
            <a:ext cx="42462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9850" y="184600"/>
            <a:ext cx="5116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IOT Architecture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201850" y="2516200"/>
            <a:ext cx="42462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SERVER SOCKET APPLICATION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2291925" y="2516200"/>
            <a:ext cx="1749900" cy="6042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chemeClr val="accen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Aggregation Layer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3"/>
          <p:cNvGraphicFramePr/>
          <p:nvPr/>
        </p:nvGraphicFramePr>
        <p:xfrm>
          <a:off x="157152" y="139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{06FA1BC9-6A22-4A0A-B51F-F9D16CEE6A94}</a:tableStyleId>
              </a:tblPr>
              <a:tblGrid>
                <a:gridCol w="2188875"/>
                <a:gridCol w="2188875"/>
              </a:tblGrid>
              <a:tr h="3889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Standard Version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Gateway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Max Device with One Gateway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15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Raw data packet size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13 byte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Temperature Stream interval (std)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15 min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Humidity Stream interval (std)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15 min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581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Device / Day (Temperature Stream Data 15 minute interval)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96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4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Device/ Day (Humidity Stream Data 15 minute interval)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96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4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Temperature Data Gateway/Day(15 device)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1440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4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Humidity Data Gateway/Day(15 device)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1440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48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Gateway  Alive Ping alert every minute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1440 {Updating last alive time in gateway table)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1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Total Packet sending from Gateway /Day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4320 Packets(56160 byte)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5" name="Google Shape;75;p3"/>
          <p:cNvGraphicFramePr/>
          <p:nvPr/>
        </p:nvGraphicFramePr>
        <p:xfrm>
          <a:off x="4674550" y="1423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{06FA1BC9-6A22-4A0A-B51F-F9D16CEE6A94}</a:tableStyleId>
              </a:tblPr>
              <a:tblGrid>
                <a:gridCol w="2188875"/>
                <a:gridCol w="2188875"/>
              </a:tblGrid>
              <a:tr h="3774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/>
                        <a:t>Advanced version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5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Gateway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5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Max Device with One Gateway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15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5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Raw data packet size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13 byte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0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Temperature Stream interval (adv)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5 min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35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Humidity Stream interval (adv)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5 min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Device / Day (Temperature Stream Data 5 minute interval)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288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Device/ Day (Humidity Stream Data 5 minute interval)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288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Temperature Data Gateway/Day(15 device)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4320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0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Humidity Data Gateway/Day(15 device)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4320 records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11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Gateway  Alive Ping alert every minute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1440 {Updating last alive time in gateway table)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  <a:tr h="40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Total Packet sending from Gateway/Day 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/>
                        <a:t> 10080 Packets(131,040 byte)</a:t>
                      </a:r>
                      <a:endParaRPr sz="10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ad3aed8c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654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ace6d18017_0_0"/>
          <p:cNvSpPr txBox="1"/>
          <p:nvPr/>
        </p:nvSpPr>
        <p:spPr>
          <a:xfrm>
            <a:off x="159850" y="184600"/>
            <a:ext cx="51168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Database Replication</a:t>
            </a:r>
            <a:endParaRPr b="1" sz="24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86" name="Google Shape;86;gace6d1801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50" y="786275"/>
            <a:ext cx="8203350" cy="41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